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거래량</c:v>
                </c:pt>
              </c:strCache>
            </c:strRef>
          </c:tx>
          <c:spPr/>
          <c:dPt>
            <c:idx val="0"/>
            <c:spPr>
              <a:solidFill>
                <a:srgbClr val="086B9B"/>
              </a:solidFill>
              <a:ln>
                <a:solidFill/>
              </a:ln>
            </c:spPr>
          </c:dPt>
          <c:dPt>
            <c:idx val="1"/>
            <c:spPr>
              <a:solidFill>
                <a:srgbClr val="086B9B"/>
              </a:solidFill>
              <a:ln>
                <a:solidFill/>
              </a:ln>
            </c:spPr>
          </c:dPt>
          <c:dPt>
            <c:idx val="2"/>
            <c:spPr>
              <a:solidFill>
                <a:srgbClr val="086B9B"/>
              </a:solidFill>
              <a:ln>
                <a:solidFill/>
              </a:ln>
            </c:spPr>
          </c:dPt>
          <c:dPt>
            <c:idx val="3"/>
            <c:spPr>
              <a:solidFill>
                <a:srgbClr val="086B9B"/>
              </a:solidFill>
              <a:ln>
                <a:solidFill/>
              </a:ln>
            </c:spPr>
          </c:dPt>
          <c:dPt>
            <c:idx val="4"/>
            <c:spPr>
              <a:solidFill>
                <a:srgbClr val="A9CEDB"/>
              </a:solidFill>
              <a:ln>
                <a:solidFill/>
              </a:ln>
            </c:spPr>
          </c:dPt>
          <c:dPt>
            <c:idx val="5"/>
            <c:spPr>
              <a:solidFill>
                <a:srgbClr val="A9CEDB"/>
              </a:solidFill>
              <a:ln>
                <a:solidFill/>
              </a:ln>
            </c:spPr>
          </c:dPt>
          <c:cat>
            <c:strRef>
              <c:f>Sheet1!$A$2:$A$7</c:f>
              <c:strCache>
                <c:ptCount val="6"/>
                <c:pt idx="0">
                  <c:v>04월</c:v>
                </c:pt>
                <c:pt idx="1">
                  <c:v>05월</c:v>
                </c:pt>
                <c:pt idx="2">
                  <c:v>06월</c:v>
                </c:pt>
                <c:pt idx="3">
                  <c:v>07월</c:v>
                </c:pt>
                <c:pt idx="4">
                  <c:v>08월</c:v>
                </c:pt>
                <c:pt idx="5">
                  <c:v>09월</c:v>
                </c:pt>
              </c:strCache>
            </c:strRef>
          </c:cat>
          <c:val>
            <c:numRef>
              <c:f>Sheet1!$B$2:$B$7</c:f>
              <c:numCache>
                <c:formatCode>General</c:formatCode>
                <c:ptCount val="6"/>
                <c:pt idx="0">
                  <c:v>26642</c:v>
                </c:pt>
                <c:pt idx="1">
                  <c:v>27171</c:v>
                </c:pt>
                <c:pt idx="2">
                  <c:v>23822</c:v>
                </c:pt>
                <c:pt idx="3">
                  <c:v>21729</c:v>
                </c:pt>
                <c:pt idx="4">
                  <c:v>16163</c:v>
                </c:pt>
                <c:pt idx="5">
                  <c:v>13414</c:v>
                </c:pt>
              </c:numCache>
            </c:numRef>
          </c:val>
        </c:ser>
        <c:dLbls>
          <c:numFmt formatCode="#,##0" sourceLinked="0"/>
          <c:txPr>
            <a:bodyPr/>
            <a:lstStyle/>
            <a:p>
              <a:pPr>
                <a:defRPr sz="1100">
                  <a:latin typeface="맑은 고딕"/>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DD8CF"/>
            </a:solidFill>
          </a:ln>
        </c:spPr>
        <c:txPr>
          <a:bodyPr/>
          <a:lstStyle/>
          <a:p>
            <a:pPr>
              <a:defRPr sz="1200">
                <a:solidFill/>
                <a:latin typeface="맑은 고딕"/>
              </a:defRPr>
            </a:pPr>
          </a:p>
        </c:txPr>
        <c:crossAx val="-2113994440"/>
        <c:crosses val="autoZero"/>
        <c:auto val="1"/>
        <c:lblAlgn val="ctr"/>
        <c:lblOffset val="100"/>
        <c:noMultiLvlLbl val="0"/>
      </c:catAx>
      <c:valAx>
        <c:axId val="-2113994440"/>
        <c:scaling/>
        <c:delete/>
        <c:axPos val="l"/>
        <c:majorTickMark val="out"/>
        <c:minorTickMark val="none"/>
        <c:tickLblPos val="nextTo"/>
        <c:spPr>
          <a:ln>
            <a:solidFill/>
          </a:ln>
        </c:spPr>
        <c:txPr>
          <a:bodyPr/>
          <a:lstStyle/>
          <a:p>
            <a:pPr>
              <a:defRPr>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중요도</c:v>
                </c:pt>
              </c:strCache>
            </c:strRef>
          </c:tx>
          <c:spPr/>
          <c:dPt>
            <c:idx val="0"/>
            <c:spPr>
              <a:solidFill>
                <a:srgbClr val="A9CEDB"/>
              </a:solidFill>
              <a:ln>
                <a:solidFill/>
              </a:ln>
            </c:spPr>
          </c:dPt>
          <c:dPt>
            <c:idx val="1"/>
            <c:spPr>
              <a:solidFill>
                <a:srgbClr val="A9CEDB"/>
              </a:solidFill>
              <a:ln>
                <a:solidFill/>
              </a:ln>
            </c:spPr>
          </c:dPt>
          <c:dPt>
            <c:idx val="2"/>
            <c:spPr>
              <a:solidFill>
                <a:srgbClr val="A9CEDB"/>
              </a:solidFill>
              <a:ln>
                <a:solidFill/>
              </a:ln>
            </c:spPr>
          </c:dPt>
          <c:dPt>
            <c:idx val="3"/>
            <c:spPr>
              <a:solidFill>
                <a:srgbClr val="086B9B"/>
              </a:solidFill>
              <a:ln>
                <a:solidFill/>
              </a:ln>
            </c:spPr>
          </c:dPt>
          <c:cat>
            <c:strRef>
              <c:f>Sheet1!$A$2:$A$5</c:f>
              <c:strCache>
                <c:ptCount val="4"/>
                <c:pt idx="0">
                  <c:v>층</c:v>
                </c:pt>
                <c:pt idx="1">
                  <c:v>건물 연식</c:v>
                </c:pt>
                <c:pt idx="2">
                  <c:v>전용면적</c:v>
                </c:pt>
                <c:pt idx="3">
                  <c:v>지역(시·군·구)</c:v>
                </c:pt>
              </c:strCache>
            </c:strRef>
          </c:cat>
          <c:val>
            <c:numRef>
              <c:f>Sheet1!$B$2:$B$5</c:f>
              <c:numCache>
                <c:formatCode>General</c:formatCode>
                <c:ptCount val="4"/>
                <c:pt idx="0">
                  <c:v>0.012</c:v>
                </c:pt>
                <c:pt idx="1">
                  <c:v>0.097</c:v>
                </c:pt>
                <c:pt idx="2">
                  <c:v>0.259</c:v>
                </c:pt>
                <c:pt idx="3">
                  <c:v>0.631</c:v>
                </c:pt>
              </c:numCache>
            </c:numRef>
          </c:val>
        </c:ser>
        <c:dLbls>
          <c:numFmt formatCode="0%" sourceLinked="0"/>
          <c:txPr>
            <a:bodyPr/>
            <a:lstStyle/>
            <a:p>
              <a:pPr>
                <a:defRPr sz="1200">
                  <a:latin typeface="맑은 고딕"/>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DD8CF"/>
            </a:solidFill>
          </a:ln>
        </c:spPr>
        <c:txPr>
          <a:bodyPr/>
          <a:lstStyle/>
          <a:p>
            <a:pPr>
              <a:defRPr sz="1300">
                <a:solidFill/>
                <a:latin typeface="맑은 고딕"/>
              </a:defRPr>
            </a:pPr>
          </a:p>
        </c:txPr>
        <c:crossAx val="-2113994440"/>
        <c:crosses val="autoZero"/>
        <c:auto val="1"/>
        <c:lblAlgn val="ctr"/>
        <c:lblOffset val="100"/>
        <c:noMultiLvlLbl val="0"/>
      </c:catAx>
      <c:valAx>
        <c:axId val="-2113994440"/>
        <c:scaling>
          <c:max val="0.8"/>
        </c:scaling>
        <c:delete/>
        <c:axPos val="b"/>
        <c:majorTickMark val="out"/>
        <c:minorTickMark val="none"/>
        <c:tickLblPos val="nextTo"/>
        <c:spPr>
          <a:ln>
            <a:solidFill/>
          </a:ln>
        </c:spPr>
        <c:txPr>
          <a:bodyPr/>
          <a:lstStyle/>
          <a:p>
            <a:pPr>
              <a:defRPr>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안녕하십니까. 빅데이터 분석 &amp; 자동화 시스템 구축 과정 최종 프로젝트 발표를 시작하겠습니다. 저희 팀은 국토교통부 실거래 빅데이터를 AI가 학습해 내 예산과 조건에 맞는 아파트 단지를 찾아 주는 부동산 플랫폼 '홈픽'을 만들었습니다. 저는 조장 길길동이고, 박미금, 김서연, 홍길동 훈련생과 함께 발표하겠습니다.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발표는 여섯 부분으로 진행합니다. 프로젝트 개요와 시스템 설계를 제가 먼저 소개하고, 빅데이터 수집과 AI 분석은 박미금 훈련생, 자동화와 백엔드는 홍길동 훈련생, 화면 시연은 김서연 훈련생이 맡았습니다. 마지막으로 배포, 트러블슈팅, 성과와 향후 계획으로 마무리하겠습니다.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저희 팀은 네 명입니다. 저는 조장으로 일정 관리와 요구사항 정의, 전체 아키텍처 설계를 맡았습니다. 박미금 훈련생은 공공데이터 크롤러와 전처리, AI 모델링을, 홍길동 훈련생은 회원 인증 백엔드와 GitHub Actions 자동화, 배포를, 김서연 훈련생은 화면 설계와 프론트엔드, 데이터 시각화를 담당했습니다. 과정에서 배운 데이터 수집부터 분석, 서비스화, 자동화까지 전 단계를 한 프로젝트에 담는 것을 목표로 역할을 나눴습니다.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프로젝트를 시작한 이유는 세 가지 문제 때문입니다. 첫째, 부동산 플랫폼의 매물 가격은 호가라서 실제 거래 가격과 다릅니다. 둘째, 국토교통부 실거래 데이터는 공개되어 있지만 지역과 월별로 쪼개져 있어 일반인이 활용하기 어렵습니다. 셋째, 같은 조건에서도 이 가격이 적정한지 판단할 기준이 없습니다. 그래서 저희는 공공 실거래 빅데이터를 자동으로 모으고 AI로 학습해, 적정가와 실제 거래 기록을 근거로 단지를 추천하는 서비스를 기획했습니다.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목표는 과정 이름 그대로 빅데이터 수집, 분석, 서비스, 시각화, 자동화의 다섯 단계를 하나의 흐름으로 연결하는 것입니다. 수도권 83개 시군구의 6개월 실거래를 수집하고, RandomForest와 KMeans로 학습한 뒤, 사용자의 예산과 조건에 맞춰 단지를 추천합니다. 분석 결과는 Plotly 그래프로 시각화하고, 이 모든 과정을 버튼 한 번으로 다시 실행할 수 있게 자동화했습니다. 그 외에 휴대폰 인증 회원가입, 소셜 로그인, 게시판, 두 곳의 자동 배포도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1:30]</a:t>
            </a:r>
          </a:p>
          <a:p/>
          <a:p>
            <a:r>
              <a:t>전체 아키텍처입니다. 사용자는 Render와 AWS EC2 두 곳의 운영 서버로 접속합니다. 두 서버는 같은 GitHub 저장소의 같은 코드를 각각 배포합니다. EC2는 nginx와 Let's Encrypt로 HTTPS를 적용하고 그 뒤에서 Docker로 Spring Boot를 실행합니다. 회원 정보는 TiDB Cloud, 휴대폰 인증은 Firebase, 소셜 로그인은 카카오·네이버·구글 OAuth2를 사용합니다. 핵심은 오른쪽 GitHub입니다. AI 학습은 서버가 아니라 GitHub Actions에서 한 번만 실행되고, 결과 JSON 하나를 두 서버가 함께 씁니다. 그래서 데이터만 바뀔 때는 서버를 재배포하지 않아도 최신 결과가 바로 반영됩니다.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0:30]</a:t>
            </a:r>
          </a:p>
          <a:p/>
          <a:p>
            <a:r>
              <a:t>기술 스택입니다. 백엔드는 Java 21과 Spring Boot 4, 프론트는 Thymeleaf와 Bootstrap, 데이터와 AI는 과정에서 배운 Python, pandas, scikit-learn, Plotly를 사용했습니다. DB는 TiDB Cloud, 자동화와 배포는 GitHub Actions, Docker, Render, AWS EC2로 구성했습니다.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1:15]</a:t>
            </a:r>
          </a:p>
          <a:p/>
          <a:p>
            <a:r>
              <a:t>데이터 수집을 맡은 박미금입니다. 국토교통부 아파트 매매 실거래가 API로 수도권 83개 시군구, 최근 6개월, 총 498번 요청해서 약 12만 9천 건의 실거래, 1만 8천여 개 단지 데이터를 모았습니다. 법정동 코드는 행안부 공식 코드로 검증했고 인천과 화성의 행정구역 개편도 반영했습니다. 처음에는 요청을 하나씩 순서대로 보냈는데, API가 느린 날에는 28분이 넘게 걸렸습니다. 그래서 8건을 동시에 보내는 병렬 방식과 짧은 재시도로 바꿔 크롤링 시간을 27초로 줄였습니다.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1:00]</a:t>
            </a:r>
          </a:p>
          <a:p/>
          <a:p>
            <a:r>
              <a:t>수집한 원본은 금액에 쉼표가 들어 있는 등 바로 쓸 수 없어서 네 단계로 전처리했습니다. 숫자 변환과 정제, 극단값과 해제된 거래 제거, 평당가와 건물 연식 같은 파생 변수 생성, 그리고 실거래 자료에는 방 수가 없어서 전용면적으로 방 수를 추정했습니다. 오른쪽은 EDA 결과 중 월별 거래량입니다. 5월에 거래가 가장 많았고 중위 거래가는 하락 추세였습니다. 최근 두 달이 낮은 건 신고 기한 때문에 아직 덜 집계된 것이라 연한 색으로 구분했습니다.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1:15]</a:t>
            </a:r>
          </a:p>
          <a:p/>
          <a:p>
            <a:r>
              <a:t>첫 번째 AI 모델은 RandomForest 회귀입니다. 면적, 층, 건물 연식, 지역을 입력으로 넣어 단지의 적정 거래가를 예측합니다. 결정계수 R²는 0.938로 가격 변동의 약 94%를 설명하고, 평균 오차는 약 7,333만 원입니다. 이 적정가를 실제 거래가로 나눈 값을 저평가 점수로 정의해서, 1보다 크면 적정가보다 싸게 거래된 단지로 판단합니다. 오른쪽 특성 중요도를 보면 지역이 63%, 면적이 26%로 가격을 대부분 결정하고, 층은 1%로 거의 영향이 없다는 것을 데이터로 확인할 수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박미금 · 1:00]</a:t>
            </a:r>
          </a:p>
          <a:p/>
          <a:p>
            <a:r>
              <a:t>두 번째 모델은 KMeans 군집입니다. 가격, 면적, 연식이 비슷한 단지끼리 자동으로 묶은 뒤, 군집 중심값을 보고 '구축·대형·고가'처럼 사람이 이해하기 쉬운 이름을 붙였습니다. 추천은 먼저 희망 지역, 예산 이하, 방 수로 후보를 거르고, 조건 근접도 50%, 저평가 점수 35%, 최근 거래 15%를 합친 점수로 순위를 매깁니다. 즉 내 조건에 맞으면서 적정가보다 싸게, 최근에 거래된 단지가 위로 올라옵니다.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1:30]</a:t>
            </a:r>
          </a:p>
          <a:p/>
          <a:p>
            <a:r>
              <a:t>백엔드와 자동화를 맡은 홍길동입니다. 이 프로젝트의 가장 큰 특징은 원클릭 재학습입니다. 로그인한 사용자가 버튼을 누르면 Spring 서버가 GitHub Actions 워크플로를 실행하고, Actions가 크롤링, 전처리, AI 학습, 결과 커밋까지 자동으로 수행합니다. 실제로 측정해 보니 크롤링 27초, 학습 70초로 전체 약 2분 30초면 끝납니다. 결과는 Render와 EC2에 동시에 반영됩니다. 화면에서는 5초마다 진행 단계를 보여 주고, 실패하면 어느 단계에서 왜 실패했는지 출력합니다. 로그인 사용자만 실행할 수 있고, 중복 실행 방지와 시간 제한 같은 안전장치도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1:15]</a:t>
            </a:r>
          </a:p>
          <a:p/>
          <a:p>
            <a:r>
              <a:t>회원 기능입니다. 회원가입은 약관 동의, 기본 정보, 휴대폰 인증, 계정 생성의 4단계로 나눴고, 휴대폰 인증은 Firebase SMS를 사용합니다. 비밀번호는 BCrypt로 해시해서 저장하고, Firebase 본인인증을 통과해야만 가입할 수 있습니다. 입력값은 화면과 서버에서 같은 규칙으로 두 번 검증합니다. 소셜 로그인은 카카오, 네이버, 구글 세 곳을 지원하고, 처음 로그인하면 자동으로 회원가입이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0:45]</a:t>
            </a:r>
          </a:p>
          <a:p/>
          <a:p>
            <a:r>
              <a:t>DB는 TiDB Cloud에 회원과 Q&amp;A 두 테이블을 두었습니다. 회원 테이블은 아이디와 소셜 로그인 식별값에 유니크 제약을 걸어 중복 가입을 막습니다. API는 회원가입, 로그인, 소셜 로그인, 그리고 AI 데이터 조회, 재학습 상태, 재학습 실행으로 구성했고, 재학습 실행은 로그인한 사용자만 호출할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1:15]</a:t>
            </a:r>
          </a:p>
          <a:p/>
          <a:p>
            <a:r>
              <a:t>프론트엔드를 맡은 김서연입니다. AI 실거래 단지 추천 화면입니다. 가장 먼저 이 데이터가 판매 중인 매물이 아니라 거래가 끝난 기록이라는 점을 안내합니다. 조건 입력 바에 예산, 방 수, 지역을 넣고 추천을 받으면, 아래 분석 리포트의 추천 단지 탭에 점수 순위와 AI 근거 문장이 나옵니다. 시장 인사이트 탭에서는 수도권, 서울, 인천, 경기별로 시장 요약과 월별 추이, 가격 결정 요인, 시군구 순위를 볼 수 있습니다. 그래프는 박미금 훈련생이 Python Plotly로 만든 결과를 그대로 받아 plotly.js로 그려서, 분석 결과와 화면이 항상 일치합니다. (시간이 허락하면 실제 사이트에서 '서울 마포구, 10억, 3방'으로 시연)</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0:45]</a:t>
            </a:r>
          </a:p>
          <a:p/>
          <a:p>
            <a:r>
              <a:t>회원가입은 단계별로 화면을 나눠 한 번에 한 가지만 입력하도록 했고, 입력이 올바를 때만 다음 버튼이 활성화됩니다. 로그인 화면에는 아이디 로그인과 카카오, 네이버, 구글 소셜 로그인을 각 브랜드 색으로 배치했습니다. Q&amp;A 게시판은 DB의 게시글을 최신순으로 보여 줍니다. 모든 화면은 Bootstrap으로 PC와 모바일에 맞게 반응형으로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홍길동 · 1:00]</a:t>
            </a:r>
          </a:p>
          <a:p/>
          <a:p>
            <a:r>
              <a:t>배포도 자동화했습니다. main 브랜치에 push하면 Render는 Dockerfile로 자동 배포하고, EC2는 GitHub Actions가 빌드와 테스트를 먼저 통과시킨 뒤, Secrets로 환경변수 파일을 만들어 SSH로 EC2에 올리고 Docker 컨테이너를 교체합니다. 마지막으로 앱이 실제로 응답하는지 확인하고, 실패하면 컨테이너 로그를 Actions에 출력합니다. 덕분에 코드만 올리면 두 서버에 같은 버전이 자동으로 배포됩니다.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김서연 · 1:30]</a:t>
            </a:r>
          </a:p>
          <a:p/>
          <a:p>
            <a:r>
              <a:t>개발하면서 겪은 주요 문제와 해결 과정입니다. 첫째, 재학습 중 크롤링이 27분 넘게 끝나지 않았는데, 원인은 느린 API에 498건을 순서대로 보낸 것이었고 병렬 요청으로 27초까지 줄였습니다. 둘째, 진행 표시가 이전 단계로 되돌아가는 문제는 GitHub 상태 정보가 순간적으로 어긋나는 것이 원인이라 가장 많이 진행된 단계를 기억하도록 고쳤습니다. 셋째, CI 테스트가 소셜 로그인 키가 없어서 실패해 테스트에서만 더미 값을 넣었습니다. 넷째, EC2 배포 실패는 처음에 보안 그룹을 의심했지만 실제로는 인스턴스 재시작으로 IP가 바뀐 것이었고, 도메인을 쓰도록 바꿔 해결했습니다. 추측이 아니라 직접 확인해서 원인을 찾는 것이 중요하다는 것을 배웠습니다. 모든 과정은 docs 폴더에 기록해 공유했습니다.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1:00]</a:t>
            </a:r>
          </a:p>
          <a:p/>
          <a:p>
            <a:r>
              <a:t>프로젝트 성과를 정리하겠습니다. 수도권 12만 9천 건의 실거래를 학습해 R² 0.938의 적정가 모델을 만들었고, 크롤링 시간을 28분 이상에서 27초로 98% 넘게 줄여 재학습 전체가 약 2분 30초에 끝나며, 두 서버에 자동 배포해 실제로 운영하고 있습니다. 무엇보다 과정에서 배운 수집, 분석, 서비스, 시각화, 자동화를 하나의 파이프라인으로 연결했다는 점이 가장 큰 성과입니다. 앞으로는 전월세와 전국 데이터로 확장하고, 시계열 예측과 모델 비교로 정확도를 높이며, 스케줄러로 매일 자동 재학습하도록 발전시키고 싶습니다.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길길동 · 0:30]</a:t>
            </a:r>
          </a:p>
          <a:p/>
          <a:p>
            <a:r>
              <a:t>이상으로 홈픽 발표를 마치겠습니다. 1000시간 동안 함께해 주신 강사님과 동료 훈련생 여러분께 감사드립니다. 화면 하단의 주소로 접속하시면 직접 사용해 보실 수 있습니다.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4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863840" y="0"/>
            <a:ext cx="4327855" cy="6858000"/>
          </a:xfrm>
          <a:prstGeom prst="rect">
            <a:avLst/>
          </a:prstGeom>
          <a:solidFill>
            <a:srgbClr val="1D4C62"/>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863840" y="0"/>
            <a:ext cx="109728" cy="6858000"/>
          </a:xfrm>
          <a:prstGeom prst="rect">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051560"/>
            <a:ext cx="6858000" cy="365760"/>
          </a:xfrm>
          <a:prstGeom prst="rect">
            <a:avLst/>
          </a:prstGeom>
          <a:noFill/>
        </p:spPr>
        <p:txBody>
          <a:bodyPr wrap="square" anchor="t" lIns="45720" rIns="45720">
            <a:spAutoFit/>
          </a:bodyPr>
          <a:lstStyle/>
          <a:p>
            <a:pPr algn="l">
              <a:lnSpc>
                <a:spcPct val="115000"/>
              </a:lnSpc>
            </a:pPr>
            <a:r>
              <a:rPr sz="1400" b="1">
                <a:solidFill>
                  <a:srgbClr val="B9D9EA"/>
                </a:solidFill>
                <a:latin typeface="맑은 고딕"/>
                <a:ea typeface="맑은 고딕"/>
                <a:cs typeface="맑은 고딕"/>
              </a:rPr>
              <a:t>빅데이터 분석 &amp; 자동화 시스템 구축 과정 (1000시간)  ·  최종 프로젝트 발표</a:t>
            </a:r>
          </a:p>
        </p:txBody>
      </p:sp>
      <p:sp>
        <p:nvSpPr>
          <p:cNvPr id="6" name="TextBox 5"/>
          <p:cNvSpPr txBox="1"/>
          <p:nvPr/>
        </p:nvSpPr>
        <p:spPr>
          <a:xfrm>
            <a:off x="822960" y="1600200"/>
            <a:ext cx="6949440" cy="1097280"/>
          </a:xfrm>
          <a:prstGeom prst="rect">
            <a:avLst/>
          </a:prstGeom>
          <a:noFill/>
        </p:spPr>
        <p:txBody>
          <a:bodyPr wrap="square" anchor="t" lIns="45720" rIns="45720">
            <a:spAutoFit/>
          </a:bodyPr>
          <a:lstStyle/>
          <a:p>
            <a:pPr algn="l">
              <a:lnSpc>
                <a:spcPct val="115000"/>
              </a:lnSpc>
            </a:pPr>
            <a:r>
              <a:rPr sz="6600" b="1">
                <a:solidFill>
                  <a:srgbClr val="FFFFFF"/>
                </a:solidFill>
                <a:latin typeface="맑은 고딕"/>
                <a:ea typeface="맑은 고딕"/>
                <a:cs typeface="맑은 고딕"/>
              </a:rPr>
              <a:t>HOMEPICK</a:t>
            </a:r>
          </a:p>
        </p:txBody>
      </p:sp>
      <p:sp>
        <p:nvSpPr>
          <p:cNvPr id="7" name="TextBox 6"/>
          <p:cNvSpPr txBox="1"/>
          <p:nvPr/>
        </p:nvSpPr>
        <p:spPr>
          <a:xfrm>
            <a:off x="822960" y="2606040"/>
            <a:ext cx="6949440" cy="548640"/>
          </a:xfrm>
          <a:prstGeom prst="rect">
            <a:avLst/>
          </a:prstGeom>
          <a:noFill/>
        </p:spPr>
        <p:txBody>
          <a:bodyPr wrap="square" anchor="t" lIns="45720" rIns="45720">
            <a:spAutoFit/>
          </a:bodyPr>
          <a:lstStyle/>
          <a:p>
            <a:pPr algn="l">
              <a:lnSpc>
                <a:spcPct val="115000"/>
              </a:lnSpc>
            </a:pPr>
            <a:r>
              <a:rPr sz="2200" b="0">
                <a:solidFill>
                  <a:srgbClr val="DAEAF0"/>
                </a:solidFill>
                <a:latin typeface="맑은 고딕"/>
                <a:ea typeface="맑은 고딕"/>
                <a:cs typeface="맑은 고딕"/>
              </a:rPr>
              <a:t>공간을 공간답게 — 홈픽</a:t>
            </a:r>
          </a:p>
        </p:txBody>
      </p:sp>
      <p:sp>
        <p:nvSpPr>
          <p:cNvPr id="8" name="Rectangle 7"/>
          <p:cNvSpPr/>
          <p:nvPr/>
        </p:nvSpPr>
        <p:spPr>
          <a:xfrm>
            <a:off x="822960" y="3337560"/>
            <a:ext cx="1005840" cy="54864"/>
          </a:xfrm>
          <a:prstGeom prst="rect">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3566160"/>
            <a:ext cx="6766560" cy="1097280"/>
          </a:xfrm>
          <a:prstGeom prst="rect">
            <a:avLst/>
          </a:prstGeom>
          <a:noFill/>
        </p:spPr>
        <p:txBody>
          <a:bodyPr wrap="square" anchor="t" lIns="45720" rIns="45720">
            <a:spAutoFit/>
          </a:bodyPr>
          <a:lstStyle/>
          <a:p>
            <a:pPr algn="l">
              <a:lnSpc>
                <a:spcPct val="130000"/>
              </a:lnSpc>
            </a:pPr>
            <a:r>
              <a:rPr sz="1700" b="1">
                <a:solidFill>
                  <a:srgbClr val="FFFFFF"/>
                </a:solidFill>
                <a:latin typeface="맑은 고딕"/>
                <a:ea typeface="맑은 고딕"/>
                <a:cs typeface="맑은 고딕"/>
              </a:rPr>
              <a:t>국토교통부 실거래 빅데이터를 AI가 학습해</a:t>
            </a:r>
          </a:p>
          <a:p>
            <a:pPr algn="l">
              <a:lnSpc>
                <a:spcPct val="130000"/>
              </a:lnSpc>
            </a:pPr>
            <a:r>
              <a:rPr sz="1700" b="1">
                <a:solidFill>
                  <a:srgbClr val="FFFFFF"/>
                </a:solidFill>
                <a:latin typeface="맑은 고딕"/>
                <a:ea typeface="맑은 고딕"/>
                <a:cs typeface="맑은 고딕"/>
              </a:rPr>
              <a:t>내 예산과 조건에 맞는 아파트 단지를 찾아 주는 부동산 플랫폼</a:t>
            </a:r>
          </a:p>
        </p:txBody>
      </p:sp>
      <p:sp>
        <p:nvSpPr>
          <p:cNvPr id="10" name="TextBox 9"/>
          <p:cNvSpPr txBox="1"/>
          <p:nvPr/>
        </p:nvSpPr>
        <p:spPr>
          <a:xfrm>
            <a:off x="822960" y="5074920"/>
            <a:ext cx="6858000" cy="365760"/>
          </a:xfrm>
          <a:prstGeom prst="rect">
            <a:avLst/>
          </a:prstGeom>
          <a:noFill/>
        </p:spPr>
        <p:txBody>
          <a:bodyPr wrap="square" anchor="t" lIns="45720" rIns="45720">
            <a:spAutoFit/>
          </a:bodyPr>
          <a:lstStyle/>
          <a:p>
            <a:pPr algn="l">
              <a:lnSpc>
                <a:spcPct val="115000"/>
              </a:lnSpc>
            </a:pPr>
            <a:r>
              <a:rPr sz="1200" b="1">
                <a:solidFill>
                  <a:srgbClr val="B9D9EA"/>
                </a:solidFill>
                <a:latin typeface="맑은 고딕"/>
                <a:ea typeface="맑은 고딕"/>
                <a:cs typeface="맑은 고딕"/>
              </a:rPr>
              <a:t>팀원</a:t>
            </a:r>
          </a:p>
        </p:txBody>
      </p:sp>
      <p:sp>
        <p:nvSpPr>
          <p:cNvPr id="11" name="TextBox 10"/>
          <p:cNvSpPr txBox="1"/>
          <p:nvPr/>
        </p:nvSpPr>
        <p:spPr>
          <a:xfrm>
            <a:off x="822960" y="5349240"/>
            <a:ext cx="6858000" cy="457200"/>
          </a:xfrm>
          <a:prstGeom prst="rect">
            <a:avLst/>
          </a:prstGeom>
          <a:noFill/>
        </p:spPr>
        <p:txBody>
          <a:bodyPr wrap="square" anchor="t" lIns="45720" rIns="45720">
            <a:spAutoFit/>
          </a:bodyPr>
          <a:lstStyle/>
          <a:p>
            <a:pPr algn="l">
              <a:lnSpc>
                <a:spcPct val="115000"/>
              </a:lnSpc>
            </a:pPr>
            <a:r>
              <a:rPr sz="1700" b="1">
                <a:solidFill>
                  <a:srgbClr val="FFFFFF"/>
                </a:solidFill>
                <a:latin typeface="맑은 고딕"/>
                <a:ea typeface="맑은 고딕"/>
                <a:cs typeface="맑은 고딕"/>
              </a:rPr>
              <a:t>길길동 </a:t>
            </a:r>
            <a:r>
              <a:rPr sz="1300" b="0">
                <a:solidFill>
                  <a:srgbClr val="DAEAF0"/>
                </a:solidFill>
                <a:latin typeface="맑은 고딕"/>
                <a:ea typeface="맑은 고딕"/>
                <a:cs typeface="맑은 고딕"/>
              </a:rPr>
              <a:t>(조장)</a:t>
            </a:r>
            <a:r>
              <a:rPr sz="1700" b="1">
                <a:solidFill>
                  <a:srgbClr val="FFFFFF"/>
                </a:solidFill>
                <a:latin typeface="맑은 고딕"/>
                <a:ea typeface="맑은 고딕"/>
                <a:cs typeface="맑은 고딕"/>
              </a:rPr>
              <a:t>   ·   박미금   ·   김서연   ·   홍길동</a:t>
            </a:r>
          </a:p>
        </p:txBody>
      </p:sp>
      <p:sp>
        <p:nvSpPr>
          <p:cNvPr id="12" name="TextBox 11"/>
          <p:cNvSpPr txBox="1"/>
          <p:nvPr/>
        </p:nvSpPr>
        <p:spPr>
          <a:xfrm>
            <a:off x="822960" y="5989320"/>
            <a:ext cx="6858000" cy="320040"/>
          </a:xfrm>
          <a:prstGeom prst="rect">
            <a:avLst/>
          </a:prstGeom>
          <a:noFill/>
        </p:spPr>
        <p:txBody>
          <a:bodyPr wrap="square" anchor="t" lIns="45720" rIns="45720">
            <a:spAutoFit/>
          </a:bodyPr>
          <a:lstStyle/>
          <a:p>
            <a:pPr algn="l">
              <a:lnSpc>
                <a:spcPct val="115000"/>
              </a:lnSpc>
            </a:pPr>
            <a:r>
              <a:rPr sz="1200" b="0">
                <a:solidFill>
                  <a:srgbClr val="B9D9EA"/>
                </a:solidFill>
                <a:latin typeface="맑은 고딕"/>
                <a:ea typeface="맑은 고딕"/>
                <a:cs typeface="맑은 고딕"/>
              </a:rPr>
              <a:t>2026. 10  |  homepick.onrender.com  ·  homepickkr.duckdns.org</a:t>
            </a:r>
          </a:p>
        </p:txBody>
      </p:sp>
      <p:cxnSp>
        <p:nvCxnSpPr>
          <p:cNvPr id="30" name="Connector 29"/>
          <p:cNvCxnSpPr/>
          <p:nvPr/>
        </p:nvCxnSpPr>
        <p:spPr>
          <a:xfrm>
            <a:off x="8311896" y="4602480"/>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311896" y="5144008"/>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311896" y="5685536"/>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700516" y="1161288"/>
            <a:ext cx="0" cy="5239512"/>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189720" y="365760"/>
            <a:ext cx="0" cy="6035040"/>
          </a:xfrm>
          <a:prstGeom prst="line">
            <a:avLst/>
          </a:prstGeom>
          <a:ln w="6350">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259568" y="365760"/>
            <a:ext cx="0" cy="6035040"/>
          </a:xfrm>
          <a:prstGeom prst="line">
            <a:avLst/>
          </a:prstGeom>
          <a:ln w="6350">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189720" y="365760"/>
            <a:ext cx="1069848" cy="0"/>
          </a:xfrm>
          <a:prstGeom prst="line">
            <a:avLst/>
          </a:prstGeom>
          <a:ln w="6350">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36024" y="786384"/>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336024" y="1330452"/>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336024" y="1874519"/>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336024" y="2418587"/>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336024" y="2962656"/>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336024" y="3506724"/>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336024" y="4050791"/>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336024" y="4594859"/>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336024" y="5138928"/>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336024" y="5682996"/>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724644" y="594360"/>
            <a:ext cx="0" cy="580644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222992" y="1225296"/>
            <a:ext cx="0" cy="5175504"/>
          </a:xfrm>
          <a:prstGeom prst="line">
            <a:avLst/>
          </a:prstGeom>
          <a:ln w="6350">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393424" y="1225296"/>
            <a:ext cx="0" cy="5175504"/>
          </a:xfrm>
          <a:prstGeom prst="line">
            <a:avLst/>
          </a:prstGeom>
          <a:ln w="6350">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222992" y="1225296"/>
            <a:ext cx="1170432" cy="0"/>
          </a:xfrm>
          <a:prstGeom prst="line">
            <a:avLst/>
          </a:prstGeom>
          <a:ln w="6350">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369296" y="1645920"/>
            <a:ext cx="877824"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369296" y="2218563"/>
            <a:ext cx="877824"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369296" y="2791206"/>
            <a:ext cx="877824"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369296" y="3363849"/>
            <a:ext cx="877824"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369296" y="3936491"/>
            <a:ext cx="877824"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369296" y="4509134"/>
            <a:ext cx="877824"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369296" y="5081778"/>
            <a:ext cx="877824"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369296" y="5654421"/>
            <a:ext cx="877824"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808208" y="1453896"/>
            <a:ext cx="0" cy="4946904"/>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412480" y="114300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128,941</a:t>
            </a:r>
          </a:p>
        </p:txBody>
      </p:sp>
      <p:sp>
        <p:nvSpPr>
          <p:cNvPr id="14" name="TextBox 13"/>
          <p:cNvSpPr txBox="1"/>
          <p:nvPr/>
        </p:nvSpPr>
        <p:spPr>
          <a:xfrm>
            <a:off x="8412480" y="1764792"/>
            <a:ext cx="3474720" cy="365760"/>
          </a:xfrm>
          <a:prstGeom prst="rect">
            <a:avLst/>
          </a:prstGeom>
          <a:noFill/>
        </p:spPr>
        <p:txBody>
          <a:bodyPr wrap="square" anchor="t" lIns="45720" rIns="45720">
            <a:spAutoFit/>
          </a:bodyPr>
          <a:lstStyle/>
          <a:p>
            <a:pPr algn="l">
              <a:lnSpc>
                <a:spcPct val="115000"/>
              </a:lnSpc>
            </a:pPr>
            <a:r>
              <a:rPr sz="1400" b="0">
                <a:solidFill>
                  <a:srgbClr val="DAEAF0"/>
                </a:solidFill>
                <a:latin typeface="맑은 고딕"/>
                <a:ea typeface="맑은 고딕"/>
                <a:cs typeface="맑은 고딕"/>
              </a:rPr>
              <a:t>건 실거래 학습</a:t>
            </a:r>
          </a:p>
        </p:txBody>
      </p:sp>
      <p:sp>
        <p:nvSpPr>
          <p:cNvPr id="15" name="TextBox 14"/>
          <p:cNvSpPr txBox="1"/>
          <p:nvPr/>
        </p:nvSpPr>
        <p:spPr>
          <a:xfrm>
            <a:off x="8412480" y="237744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R² 0.938</a:t>
            </a:r>
          </a:p>
        </p:txBody>
      </p:sp>
      <p:sp>
        <p:nvSpPr>
          <p:cNvPr id="16" name="TextBox 15"/>
          <p:cNvSpPr txBox="1"/>
          <p:nvPr/>
        </p:nvSpPr>
        <p:spPr>
          <a:xfrm>
            <a:off x="8412480" y="2999232"/>
            <a:ext cx="3474720" cy="365760"/>
          </a:xfrm>
          <a:prstGeom prst="rect">
            <a:avLst/>
          </a:prstGeom>
          <a:noFill/>
        </p:spPr>
        <p:txBody>
          <a:bodyPr wrap="square" anchor="t" lIns="45720" rIns="45720">
            <a:spAutoFit/>
          </a:bodyPr>
          <a:lstStyle/>
          <a:p>
            <a:pPr algn="l">
              <a:lnSpc>
                <a:spcPct val="115000"/>
              </a:lnSpc>
            </a:pPr>
            <a:r>
              <a:rPr sz="1400" b="0">
                <a:solidFill>
                  <a:srgbClr val="DAEAF0"/>
                </a:solidFill>
                <a:latin typeface="맑은 고딕"/>
                <a:ea typeface="맑은 고딕"/>
                <a:cs typeface="맑은 고딕"/>
              </a:rPr>
              <a:t>AI 적정가 예측력</a:t>
            </a:r>
          </a:p>
        </p:txBody>
      </p:sp>
      <p:sp>
        <p:nvSpPr>
          <p:cNvPr id="17" name="TextBox 16"/>
          <p:cNvSpPr txBox="1"/>
          <p:nvPr/>
        </p:nvSpPr>
        <p:spPr>
          <a:xfrm>
            <a:off x="8412480" y="361188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2분 30초</a:t>
            </a:r>
          </a:p>
        </p:txBody>
      </p:sp>
      <p:sp>
        <p:nvSpPr>
          <p:cNvPr id="18" name="TextBox 17"/>
          <p:cNvSpPr txBox="1"/>
          <p:nvPr/>
        </p:nvSpPr>
        <p:spPr>
          <a:xfrm>
            <a:off x="8412480" y="4233672"/>
            <a:ext cx="3474720" cy="365760"/>
          </a:xfrm>
          <a:prstGeom prst="rect">
            <a:avLst/>
          </a:prstGeom>
          <a:noFill/>
        </p:spPr>
        <p:txBody>
          <a:bodyPr wrap="square" anchor="t" lIns="45720" rIns="45720">
            <a:spAutoFit/>
          </a:bodyPr>
          <a:lstStyle/>
          <a:p>
            <a:pPr algn="l">
              <a:lnSpc>
                <a:spcPct val="115000"/>
              </a:lnSpc>
            </a:pPr>
            <a:r>
              <a:rPr sz="1400" b="0">
                <a:solidFill>
                  <a:srgbClr val="DAEAF0"/>
                </a:solidFill>
                <a:latin typeface="맑은 고딕"/>
                <a:ea typeface="맑은 고딕"/>
                <a:cs typeface="맑은 고딕"/>
              </a:rPr>
              <a:t>원클릭 재학습</a:t>
            </a:r>
          </a:p>
        </p:txBody>
      </p:sp>
      <p:sp>
        <p:nvSpPr>
          <p:cNvPr id="19" name="TextBox 18"/>
          <p:cNvSpPr txBox="1"/>
          <p:nvPr/>
        </p:nvSpPr>
        <p:spPr>
          <a:xfrm>
            <a:off x="8412480" y="4846320"/>
            <a:ext cx="3474720" cy="640080"/>
          </a:xfrm>
          <a:prstGeom prst="rect">
            <a:avLst/>
          </a:prstGeom>
          <a:noFill/>
        </p:spPr>
        <p:txBody>
          <a:bodyPr wrap="square" anchor="t" lIns="45720" rIns="45720">
            <a:spAutoFit/>
          </a:bodyPr>
          <a:lstStyle/>
          <a:p>
            <a:pPr algn="l">
              <a:lnSpc>
                <a:spcPct val="115000"/>
              </a:lnSpc>
            </a:pPr>
            <a:r>
              <a:rPr sz="3400" b="1">
                <a:solidFill>
                  <a:srgbClr val="FFFFFF"/>
                </a:solidFill>
                <a:latin typeface="맑은 고딕"/>
                <a:ea typeface="맑은 고딕"/>
                <a:cs typeface="맑은 고딕"/>
              </a:rPr>
              <a:t>2곳</a:t>
            </a:r>
          </a:p>
        </p:txBody>
      </p:sp>
      <p:sp>
        <p:nvSpPr>
          <p:cNvPr id="20" name="TextBox 19"/>
          <p:cNvSpPr txBox="1"/>
          <p:nvPr/>
        </p:nvSpPr>
        <p:spPr>
          <a:xfrm>
            <a:off x="8412480" y="5468112"/>
            <a:ext cx="3474720" cy="365760"/>
          </a:xfrm>
          <a:prstGeom prst="rect">
            <a:avLst/>
          </a:prstGeom>
          <a:noFill/>
        </p:spPr>
        <p:txBody>
          <a:bodyPr wrap="square" anchor="t" lIns="45720" rIns="45720">
            <a:spAutoFit/>
          </a:bodyPr>
          <a:lstStyle/>
          <a:p>
            <a:pPr algn="l">
              <a:lnSpc>
                <a:spcPct val="115000"/>
              </a:lnSpc>
            </a:pPr>
            <a:r>
              <a:rPr sz="1400" b="0">
                <a:solidFill>
                  <a:srgbClr val="DAEAF0"/>
                </a:solidFill>
                <a:latin typeface="맑은 고딕"/>
                <a:ea typeface="맑은 고딕"/>
                <a:cs typeface="맑은 고딕"/>
              </a:rPr>
              <a:t>자동 배포 서버</a:t>
            </a:r>
          </a:p>
        </p:txBody>
      </p:sp>
      <p:cxnSp>
        <p:nvCxnSpPr>
          <p:cNvPr id="21" name="Connector 20"/>
          <p:cNvCxnSpPr/>
          <p:nvPr/>
        </p:nvCxnSpPr>
        <p:spPr>
          <a:xfrm>
            <a:off x="8165592" y="932688"/>
            <a:ext cx="0" cy="5468112"/>
          </a:xfrm>
          <a:prstGeom prst="line">
            <a:avLst/>
          </a:prstGeom>
          <a:ln w="6350">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235440" y="932688"/>
            <a:ext cx="0" cy="5468112"/>
          </a:xfrm>
          <a:prstGeom prst="line">
            <a:avLst/>
          </a:prstGeom>
          <a:ln w="6350">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165592" y="932688"/>
            <a:ext cx="1069848" cy="0"/>
          </a:xfrm>
          <a:prstGeom prst="line">
            <a:avLst/>
          </a:prstGeom>
          <a:ln w="6350">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311896" y="1353312"/>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311896" y="1894839"/>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311896" y="2436368"/>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311896" y="2977896"/>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311896" y="3519424"/>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11896" y="4060951"/>
            <a:ext cx="777240" cy="0"/>
          </a:xfrm>
          <a:prstGeom prst="line">
            <a:avLst/>
          </a:prstGeom>
          <a:ln w="5715">
            <a:solidFill>
              <a:srgbClr val="7395A1"/>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push dir="l"/>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CONTENTS</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발표 순서</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2 / 20</a:t>
            </a:r>
          </a:p>
        </p:txBody>
      </p:sp>
      <p:sp>
        <p:nvSpPr>
          <p:cNvPr id="11" name="Rounded Rectangle 10"/>
          <p:cNvSpPr/>
          <p:nvPr/>
        </p:nvSpPr>
        <p:spPr>
          <a:xfrm>
            <a:off x="548640" y="1600200"/>
            <a:ext cx="5486400" cy="132588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59" y="1828800"/>
            <a:ext cx="1005840" cy="822960"/>
          </a:xfrm>
          <a:prstGeom prst="rect">
            <a:avLst/>
          </a:prstGeom>
          <a:noFill/>
        </p:spPr>
        <p:txBody>
          <a:bodyPr wrap="square" anchor="t" lIns="45720" rIns="45720">
            <a:spAutoFit/>
          </a:bodyPr>
          <a:lstStyle/>
          <a:p>
            <a:pPr algn="l">
              <a:lnSpc>
                <a:spcPct val="115000"/>
              </a:lnSpc>
            </a:pPr>
            <a:r>
              <a:rPr sz="3600" b="1">
                <a:solidFill>
                  <a:srgbClr val="086B9B"/>
                </a:solidFill>
                <a:latin typeface="맑은 고딕"/>
                <a:ea typeface="맑은 고딕"/>
                <a:cs typeface="맑은 고딕"/>
              </a:rPr>
              <a:t>01</a:t>
            </a:r>
          </a:p>
        </p:txBody>
      </p:sp>
      <p:sp>
        <p:nvSpPr>
          <p:cNvPr id="13" name="TextBox 12"/>
          <p:cNvSpPr txBox="1"/>
          <p:nvPr/>
        </p:nvSpPr>
        <p:spPr>
          <a:xfrm>
            <a:off x="1874519" y="1856232"/>
            <a:ext cx="4023360" cy="457200"/>
          </a:xfrm>
          <a:prstGeom prst="rect">
            <a:avLst/>
          </a:prstGeom>
          <a:noFill/>
        </p:spPr>
        <p:txBody>
          <a:bodyPr wrap="square" anchor="t" lIns="45720" rIns="45720">
            <a:spAutoFit/>
          </a:bodyPr>
          <a:lstStyle/>
          <a:p>
            <a:pPr algn="l">
              <a:lnSpc>
                <a:spcPct val="115000"/>
              </a:lnSpc>
            </a:pPr>
            <a:r>
              <a:rPr sz="2000" b="1">
                <a:solidFill>
                  <a:srgbClr val="173649"/>
                </a:solidFill>
                <a:latin typeface="맑은 고딕"/>
                <a:ea typeface="맑은 고딕"/>
                <a:cs typeface="맑은 고딕"/>
              </a:rPr>
              <a:t>프로젝트 개요</a:t>
            </a:r>
          </a:p>
        </p:txBody>
      </p:sp>
      <p:sp>
        <p:nvSpPr>
          <p:cNvPr id="14" name="TextBox 13"/>
          <p:cNvSpPr txBox="1"/>
          <p:nvPr/>
        </p:nvSpPr>
        <p:spPr>
          <a:xfrm>
            <a:off x="1874519" y="2258568"/>
            <a:ext cx="4023360" cy="320040"/>
          </a:xfrm>
          <a:prstGeom prst="rect">
            <a:avLst/>
          </a:prstGeom>
          <a:noFill/>
        </p:spPr>
        <p:txBody>
          <a:bodyPr wrap="square" anchor="t" lIns="45720" rIns="45720">
            <a:spAutoFit/>
          </a:bodyPr>
          <a:lstStyle/>
          <a:p>
            <a:pPr algn="l">
              <a:lnSpc>
                <a:spcPct val="115000"/>
              </a:lnSpc>
            </a:pPr>
            <a:r>
              <a:rPr sz="1250" b="0">
                <a:solidFill>
                  <a:srgbClr val="60717B"/>
                </a:solidFill>
                <a:latin typeface="맑은 고딕"/>
                <a:ea typeface="맑은 고딕"/>
                <a:cs typeface="맑은 고딕"/>
              </a:rPr>
              <a:t>팀 소개 · 추진 배경 · 목표</a:t>
            </a:r>
          </a:p>
        </p:txBody>
      </p:sp>
      <p:sp>
        <p:nvSpPr>
          <p:cNvPr id="15" name="TextBox 14"/>
          <p:cNvSpPr txBox="1"/>
          <p:nvPr/>
        </p:nvSpPr>
        <p:spPr>
          <a:xfrm>
            <a:off x="1874519" y="2514600"/>
            <a:ext cx="4023360" cy="320040"/>
          </a:xfrm>
          <a:prstGeom prst="rect">
            <a:avLst/>
          </a:prstGeom>
          <a:noFill/>
        </p:spPr>
        <p:txBody>
          <a:bodyPr wrap="square" anchor="t" lIns="45720" rIns="45720">
            <a:spAutoFit/>
          </a:bodyPr>
          <a:lstStyle/>
          <a:p>
            <a:pPr algn="l">
              <a:lnSpc>
                <a:spcPct val="115000"/>
              </a:lnSpc>
            </a:pPr>
            <a:r>
              <a:rPr sz="1150" b="1">
                <a:solidFill>
                  <a:srgbClr val="BD7148"/>
                </a:solidFill>
                <a:latin typeface="맑은 고딕"/>
                <a:ea typeface="맑은 고딕"/>
                <a:cs typeface="맑은 고딕"/>
              </a:rPr>
              <a:t>발표 길길동</a:t>
            </a:r>
          </a:p>
        </p:txBody>
      </p:sp>
      <p:sp>
        <p:nvSpPr>
          <p:cNvPr id="16" name="Rounded Rectangle 15"/>
          <p:cNvSpPr/>
          <p:nvPr/>
        </p:nvSpPr>
        <p:spPr>
          <a:xfrm>
            <a:off x="6172200" y="1600200"/>
            <a:ext cx="5486400" cy="132588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46520" y="1828800"/>
            <a:ext cx="1005840" cy="822960"/>
          </a:xfrm>
          <a:prstGeom prst="rect">
            <a:avLst/>
          </a:prstGeom>
          <a:noFill/>
        </p:spPr>
        <p:txBody>
          <a:bodyPr wrap="square" anchor="t" lIns="45720" rIns="45720">
            <a:spAutoFit/>
          </a:bodyPr>
          <a:lstStyle/>
          <a:p>
            <a:pPr algn="l">
              <a:lnSpc>
                <a:spcPct val="115000"/>
              </a:lnSpc>
            </a:pPr>
            <a:r>
              <a:rPr sz="3600" b="1">
                <a:solidFill>
                  <a:srgbClr val="086B9B"/>
                </a:solidFill>
                <a:latin typeface="맑은 고딕"/>
                <a:ea typeface="맑은 고딕"/>
                <a:cs typeface="맑은 고딕"/>
              </a:rPr>
              <a:t>02</a:t>
            </a:r>
          </a:p>
        </p:txBody>
      </p:sp>
      <p:sp>
        <p:nvSpPr>
          <p:cNvPr id="18" name="TextBox 17"/>
          <p:cNvSpPr txBox="1"/>
          <p:nvPr/>
        </p:nvSpPr>
        <p:spPr>
          <a:xfrm>
            <a:off x="7498079" y="1856232"/>
            <a:ext cx="4023360" cy="457200"/>
          </a:xfrm>
          <a:prstGeom prst="rect">
            <a:avLst/>
          </a:prstGeom>
          <a:noFill/>
        </p:spPr>
        <p:txBody>
          <a:bodyPr wrap="square" anchor="t" lIns="45720" rIns="45720">
            <a:spAutoFit/>
          </a:bodyPr>
          <a:lstStyle/>
          <a:p>
            <a:pPr algn="l">
              <a:lnSpc>
                <a:spcPct val="115000"/>
              </a:lnSpc>
            </a:pPr>
            <a:r>
              <a:rPr sz="2000" b="1">
                <a:solidFill>
                  <a:srgbClr val="173649"/>
                </a:solidFill>
                <a:latin typeface="맑은 고딕"/>
                <a:ea typeface="맑은 고딕"/>
                <a:cs typeface="맑은 고딕"/>
              </a:rPr>
              <a:t>시스템 설계</a:t>
            </a:r>
          </a:p>
        </p:txBody>
      </p:sp>
      <p:sp>
        <p:nvSpPr>
          <p:cNvPr id="19" name="TextBox 18"/>
          <p:cNvSpPr txBox="1"/>
          <p:nvPr/>
        </p:nvSpPr>
        <p:spPr>
          <a:xfrm>
            <a:off x="7498079" y="2258568"/>
            <a:ext cx="4023360" cy="320040"/>
          </a:xfrm>
          <a:prstGeom prst="rect">
            <a:avLst/>
          </a:prstGeom>
          <a:noFill/>
        </p:spPr>
        <p:txBody>
          <a:bodyPr wrap="square" anchor="t" lIns="45720" rIns="45720">
            <a:spAutoFit/>
          </a:bodyPr>
          <a:lstStyle/>
          <a:p>
            <a:pPr algn="l">
              <a:lnSpc>
                <a:spcPct val="115000"/>
              </a:lnSpc>
            </a:pPr>
            <a:r>
              <a:rPr sz="1250" b="0">
                <a:solidFill>
                  <a:srgbClr val="60717B"/>
                </a:solidFill>
                <a:latin typeface="맑은 고딕"/>
                <a:ea typeface="맑은 고딕"/>
                <a:cs typeface="맑은 고딕"/>
              </a:rPr>
              <a:t>아키텍처 · 기술 스택</a:t>
            </a:r>
          </a:p>
        </p:txBody>
      </p:sp>
      <p:sp>
        <p:nvSpPr>
          <p:cNvPr id="20" name="TextBox 19"/>
          <p:cNvSpPr txBox="1"/>
          <p:nvPr/>
        </p:nvSpPr>
        <p:spPr>
          <a:xfrm>
            <a:off x="7498079" y="2514600"/>
            <a:ext cx="4023360" cy="320040"/>
          </a:xfrm>
          <a:prstGeom prst="rect">
            <a:avLst/>
          </a:prstGeom>
          <a:noFill/>
        </p:spPr>
        <p:txBody>
          <a:bodyPr wrap="square" anchor="t" lIns="45720" rIns="45720">
            <a:spAutoFit/>
          </a:bodyPr>
          <a:lstStyle/>
          <a:p>
            <a:pPr algn="l">
              <a:lnSpc>
                <a:spcPct val="115000"/>
              </a:lnSpc>
            </a:pPr>
            <a:r>
              <a:rPr sz="1150" b="1">
                <a:solidFill>
                  <a:srgbClr val="BD7148"/>
                </a:solidFill>
                <a:latin typeface="맑은 고딕"/>
                <a:ea typeface="맑은 고딕"/>
                <a:cs typeface="맑은 고딕"/>
              </a:rPr>
              <a:t>발표 길길동 · 홍길동</a:t>
            </a:r>
          </a:p>
        </p:txBody>
      </p:sp>
      <p:sp>
        <p:nvSpPr>
          <p:cNvPr id="21" name="Rounded Rectangle 20"/>
          <p:cNvSpPr/>
          <p:nvPr/>
        </p:nvSpPr>
        <p:spPr>
          <a:xfrm>
            <a:off x="548640" y="3136391"/>
            <a:ext cx="5486400" cy="132588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59" y="3364991"/>
            <a:ext cx="1005840" cy="822960"/>
          </a:xfrm>
          <a:prstGeom prst="rect">
            <a:avLst/>
          </a:prstGeom>
          <a:noFill/>
        </p:spPr>
        <p:txBody>
          <a:bodyPr wrap="square" anchor="t" lIns="45720" rIns="45720">
            <a:spAutoFit/>
          </a:bodyPr>
          <a:lstStyle/>
          <a:p>
            <a:pPr algn="l">
              <a:lnSpc>
                <a:spcPct val="115000"/>
              </a:lnSpc>
            </a:pPr>
            <a:r>
              <a:rPr sz="3600" b="1">
                <a:solidFill>
                  <a:srgbClr val="086B9B"/>
                </a:solidFill>
                <a:latin typeface="맑은 고딕"/>
                <a:ea typeface="맑은 고딕"/>
                <a:cs typeface="맑은 고딕"/>
              </a:rPr>
              <a:t>03</a:t>
            </a:r>
          </a:p>
        </p:txBody>
      </p:sp>
      <p:sp>
        <p:nvSpPr>
          <p:cNvPr id="23" name="TextBox 22"/>
          <p:cNvSpPr txBox="1"/>
          <p:nvPr/>
        </p:nvSpPr>
        <p:spPr>
          <a:xfrm>
            <a:off x="1874519" y="3392424"/>
            <a:ext cx="4023360" cy="457200"/>
          </a:xfrm>
          <a:prstGeom prst="rect">
            <a:avLst/>
          </a:prstGeom>
          <a:noFill/>
        </p:spPr>
        <p:txBody>
          <a:bodyPr wrap="square" anchor="t" lIns="45720" rIns="45720">
            <a:spAutoFit/>
          </a:bodyPr>
          <a:lstStyle/>
          <a:p>
            <a:pPr algn="l">
              <a:lnSpc>
                <a:spcPct val="115000"/>
              </a:lnSpc>
            </a:pPr>
            <a:r>
              <a:rPr sz="2000" b="1">
                <a:solidFill>
                  <a:srgbClr val="173649"/>
                </a:solidFill>
                <a:latin typeface="맑은 고딕"/>
                <a:ea typeface="맑은 고딕"/>
                <a:cs typeface="맑은 고딕"/>
              </a:rPr>
              <a:t>빅데이터 수집 &amp; AI 분석</a:t>
            </a:r>
          </a:p>
        </p:txBody>
      </p:sp>
      <p:sp>
        <p:nvSpPr>
          <p:cNvPr id="24" name="TextBox 23"/>
          <p:cNvSpPr txBox="1"/>
          <p:nvPr/>
        </p:nvSpPr>
        <p:spPr>
          <a:xfrm>
            <a:off x="1874519" y="3794759"/>
            <a:ext cx="4023360" cy="320040"/>
          </a:xfrm>
          <a:prstGeom prst="rect">
            <a:avLst/>
          </a:prstGeom>
          <a:noFill/>
        </p:spPr>
        <p:txBody>
          <a:bodyPr wrap="square" anchor="t" lIns="45720" rIns="45720">
            <a:spAutoFit/>
          </a:bodyPr>
          <a:lstStyle/>
          <a:p>
            <a:pPr algn="l">
              <a:lnSpc>
                <a:spcPct val="115000"/>
              </a:lnSpc>
            </a:pPr>
            <a:r>
              <a:rPr sz="1250" b="0">
                <a:solidFill>
                  <a:srgbClr val="60717B"/>
                </a:solidFill>
                <a:latin typeface="맑은 고딕"/>
                <a:ea typeface="맑은 고딕"/>
                <a:cs typeface="맑은 고딕"/>
              </a:rPr>
              <a:t>크롤링 · 전처리 · RandomForest · KMeans</a:t>
            </a:r>
          </a:p>
        </p:txBody>
      </p:sp>
      <p:sp>
        <p:nvSpPr>
          <p:cNvPr id="25" name="TextBox 24"/>
          <p:cNvSpPr txBox="1"/>
          <p:nvPr/>
        </p:nvSpPr>
        <p:spPr>
          <a:xfrm>
            <a:off x="1874519" y="4050791"/>
            <a:ext cx="4023360" cy="320040"/>
          </a:xfrm>
          <a:prstGeom prst="rect">
            <a:avLst/>
          </a:prstGeom>
          <a:noFill/>
        </p:spPr>
        <p:txBody>
          <a:bodyPr wrap="square" anchor="t" lIns="45720" rIns="45720">
            <a:spAutoFit/>
          </a:bodyPr>
          <a:lstStyle/>
          <a:p>
            <a:pPr algn="l">
              <a:lnSpc>
                <a:spcPct val="115000"/>
              </a:lnSpc>
            </a:pPr>
            <a:r>
              <a:rPr sz="1150" b="1">
                <a:solidFill>
                  <a:srgbClr val="BD7148"/>
                </a:solidFill>
                <a:latin typeface="맑은 고딕"/>
                <a:ea typeface="맑은 고딕"/>
                <a:cs typeface="맑은 고딕"/>
              </a:rPr>
              <a:t>발표 박미금</a:t>
            </a:r>
          </a:p>
        </p:txBody>
      </p:sp>
      <p:sp>
        <p:nvSpPr>
          <p:cNvPr id="26" name="Rounded Rectangle 25"/>
          <p:cNvSpPr/>
          <p:nvPr/>
        </p:nvSpPr>
        <p:spPr>
          <a:xfrm>
            <a:off x="6172200" y="3136391"/>
            <a:ext cx="5486400" cy="132588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46520" y="3364991"/>
            <a:ext cx="1005840" cy="822960"/>
          </a:xfrm>
          <a:prstGeom prst="rect">
            <a:avLst/>
          </a:prstGeom>
          <a:noFill/>
        </p:spPr>
        <p:txBody>
          <a:bodyPr wrap="square" anchor="t" lIns="45720" rIns="45720">
            <a:spAutoFit/>
          </a:bodyPr>
          <a:lstStyle/>
          <a:p>
            <a:pPr algn="l">
              <a:lnSpc>
                <a:spcPct val="115000"/>
              </a:lnSpc>
            </a:pPr>
            <a:r>
              <a:rPr sz="3600" b="1">
                <a:solidFill>
                  <a:srgbClr val="086B9B"/>
                </a:solidFill>
                <a:latin typeface="맑은 고딕"/>
                <a:ea typeface="맑은 고딕"/>
                <a:cs typeface="맑은 고딕"/>
              </a:rPr>
              <a:t>04</a:t>
            </a:r>
          </a:p>
        </p:txBody>
      </p:sp>
      <p:sp>
        <p:nvSpPr>
          <p:cNvPr id="28" name="TextBox 27"/>
          <p:cNvSpPr txBox="1"/>
          <p:nvPr/>
        </p:nvSpPr>
        <p:spPr>
          <a:xfrm>
            <a:off x="7498079" y="3392424"/>
            <a:ext cx="4023360" cy="457200"/>
          </a:xfrm>
          <a:prstGeom prst="rect">
            <a:avLst/>
          </a:prstGeom>
          <a:noFill/>
        </p:spPr>
        <p:txBody>
          <a:bodyPr wrap="square" anchor="t" lIns="45720" rIns="45720">
            <a:spAutoFit/>
          </a:bodyPr>
          <a:lstStyle/>
          <a:p>
            <a:pPr algn="l">
              <a:lnSpc>
                <a:spcPct val="115000"/>
              </a:lnSpc>
            </a:pPr>
            <a:r>
              <a:rPr sz="2000" b="1">
                <a:solidFill>
                  <a:srgbClr val="173649"/>
                </a:solidFill>
                <a:latin typeface="맑은 고딕"/>
                <a:ea typeface="맑은 고딕"/>
                <a:cs typeface="맑은 고딕"/>
              </a:rPr>
              <a:t>자동화 &amp; 백엔드</a:t>
            </a:r>
          </a:p>
        </p:txBody>
      </p:sp>
      <p:sp>
        <p:nvSpPr>
          <p:cNvPr id="29" name="TextBox 28"/>
          <p:cNvSpPr txBox="1"/>
          <p:nvPr/>
        </p:nvSpPr>
        <p:spPr>
          <a:xfrm>
            <a:off x="7498079" y="3794759"/>
            <a:ext cx="4023360" cy="320040"/>
          </a:xfrm>
          <a:prstGeom prst="rect">
            <a:avLst/>
          </a:prstGeom>
          <a:noFill/>
        </p:spPr>
        <p:txBody>
          <a:bodyPr wrap="square" anchor="t" lIns="45720" rIns="45720">
            <a:spAutoFit/>
          </a:bodyPr>
          <a:lstStyle/>
          <a:p>
            <a:pPr algn="l">
              <a:lnSpc>
                <a:spcPct val="115000"/>
              </a:lnSpc>
            </a:pPr>
            <a:r>
              <a:rPr sz="1250" b="0">
                <a:solidFill>
                  <a:srgbClr val="60717B"/>
                </a:solidFill>
                <a:latin typeface="맑은 고딕"/>
                <a:ea typeface="맑은 고딕"/>
                <a:cs typeface="맑은 고딕"/>
              </a:rPr>
              <a:t>원클릭 재학습 · 회원 인증 · DB/API</a:t>
            </a:r>
          </a:p>
        </p:txBody>
      </p:sp>
      <p:sp>
        <p:nvSpPr>
          <p:cNvPr id="30" name="TextBox 29"/>
          <p:cNvSpPr txBox="1"/>
          <p:nvPr/>
        </p:nvSpPr>
        <p:spPr>
          <a:xfrm>
            <a:off x="7498079" y="4050791"/>
            <a:ext cx="4023360" cy="320040"/>
          </a:xfrm>
          <a:prstGeom prst="rect">
            <a:avLst/>
          </a:prstGeom>
          <a:noFill/>
        </p:spPr>
        <p:txBody>
          <a:bodyPr wrap="square" anchor="t" lIns="45720" rIns="45720">
            <a:spAutoFit/>
          </a:bodyPr>
          <a:lstStyle/>
          <a:p>
            <a:pPr algn="l">
              <a:lnSpc>
                <a:spcPct val="115000"/>
              </a:lnSpc>
            </a:pPr>
            <a:r>
              <a:rPr sz="1150" b="1">
                <a:solidFill>
                  <a:srgbClr val="BD7148"/>
                </a:solidFill>
                <a:latin typeface="맑은 고딕"/>
                <a:ea typeface="맑은 고딕"/>
                <a:cs typeface="맑은 고딕"/>
              </a:rPr>
              <a:t>발표 홍길동</a:t>
            </a:r>
          </a:p>
        </p:txBody>
      </p:sp>
      <p:sp>
        <p:nvSpPr>
          <p:cNvPr id="31" name="Rounded Rectangle 30"/>
          <p:cNvSpPr/>
          <p:nvPr/>
        </p:nvSpPr>
        <p:spPr>
          <a:xfrm>
            <a:off x="548640" y="4672583"/>
            <a:ext cx="5486400" cy="132588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59" y="4901183"/>
            <a:ext cx="1005840" cy="822960"/>
          </a:xfrm>
          <a:prstGeom prst="rect">
            <a:avLst/>
          </a:prstGeom>
          <a:noFill/>
        </p:spPr>
        <p:txBody>
          <a:bodyPr wrap="square" anchor="t" lIns="45720" rIns="45720">
            <a:spAutoFit/>
          </a:bodyPr>
          <a:lstStyle/>
          <a:p>
            <a:pPr algn="l">
              <a:lnSpc>
                <a:spcPct val="115000"/>
              </a:lnSpc>
            </a:pPr>
            <a:r>
              <a:rPr sz="3600" b="1">
                <a:solidFill>
                  <a:srgbClr val="086B9B"/>
                </a:solidFill>
                <a:latin typeface="맑은 고딕"/>
                <a:ea typeface="맑은 고딕"/>
                <a:cs typeface="맑은 고딕"/>
              </a:rPr>
              <a:t>05</a:t>
            </a:r>
          </a:p>
        </p:txBody>
      </p:sp>
      <p:sp>
        <p:nvSpPr>
          <p:cNvPr id="33" name="TextBox 32"/>
          <p:cNvSpPr txBox="1"/>
          <p:nvPr/>
        </p:nvSpPr>
        <p:spPr>
          <a:xfrm>
            <a:off x="1874519" y="4928616"/>
            <a:ext cx="4023360" cy="457200"/>
          </a:xfrm>
          <a:prstGeom prst="rect">
            <a:avLst/>
          </a:prstGeom>
          <a:noFill/>
        </p:spPr>
        <p:txBody>
          <a:bodyPr wrap="square" anchor="t" lIns="45720" rIns="45720">
            <a:spAutoFit/>
          </a:bodyPr>
          <a:lstStyle/>
          <a:p>
            <a:pPr algn="l">
              <a:lnSpc>
                <a:spcPct val="115000"/>
              </a:lnSpc>
            </a:pPr>
            <a:r>
              <a:rPr sz="2000" b="1">
                <a:solidFill>
                  <a:srgbClr val="173649"/>
                </a:solidFill>
                <a:latin typeface="맑은 고딕"/>
                <a:ea typeface="맑은 고딕"/>
                <a:cs typeface="맑은 고딕"/>
              </a:rPr>
              <a:t>화면 시연</a:t>
            </a:r>
          </a:p>
        </p:txBody>
      </p:sp>
      <p:sp>
        <p:nvSpPr>
          <p:cNvPr id="34" name="TextBox 33"/>
          <p:cNvSpPr txBox="1"/>
          <p:nvPr/>
        </p:nvSpPr>
        <p:spPr>
          <a:xfrm>
            <a:off x="1874519" y="5330951"/>
            <a:ext cx="4023360" cy="320040"/>
          </a:xfrm>
          <a:prstGeom prst="rect">
            <a:avLst/>
          </a:prstGeom>
          <a:noFill/>
        </p:spPr>
        <p:txBody>
          <a:bodyPr wrap="square" anchor="t" lIns="45720" rIns="45720">
            <a:spAutoFit/>
          </a:bodyPr>
          <a:lstStyle/>
          <a:p>
            <a:pPr algn="l">
              <a:lnSpc>
                <a:spcPct val="115000"/>
              </a:lnSpc>
            </a:pPr>
            <a:r>
              <a:rPr sz="1250" b="0">
                <a:solidFill>
                  <a:srgbClr val="60717B"/>
                </a:solidFill>
                <a:latin typeface="맑은 고딕"/>
                <a:ea typeface="맑은 고딕"/>
                <a:cs typeface="맑은 고딕"/>
              </a:rPr>
              <a:t>AI 실거래 단지 추천 · 회원 화면</a:t>
            </a:r>
          </a:p>
        </p:txBody>
      </p:sp>
      <p:sp>
        <p:nvSpPr>
          <p:cNvPr id="35" name="TextBox 34"/>
          <p:cNvSpPr txBox="1"/>
          <p:nvPr/>
        </p:nvSpPr>
        <p:spPr>
          <a:xfrm>
            <a:off x="1874519" y="5586983"/>
            <a:ext cx="4023360" cy="320040"/>
          </a:xfrm>
          <a:prstGeom prst="rect">
            <a:avLst/>
          </a:prstGeom>
          <a:noFill/>
        </p:spPr>
        <p:txBody>
          <a:bodyPr wrap="square" anchor="t" lIns="45720" rIns="45720">
            <a:spAutoFit/>
          </a:bodyPr>
          <a:lstStyle/>
          <a:p>
            <a:pPr algn="l">
              <a:lnSpc>
                <a:spcPct val="115000"/>
              </a:lnSpc>
            </a:pPr>
            <a:r>
              <a:rPr sz="1150" b="1">
                <a:solidFill>
                  <a:srgbClr val="BD7148"/>
                </a:solidFill>
                <a:latin typeface="맑은 고딕"/>
                <a:ea typeface="맑은 고딕"/>
                <a:cs typeface="맑은 고딕"/>
              </a:rPr>
              <a:t>발표 김서연</a:t>
            </a:r>
          </a:p>
        </p:txBody>
      </p:sp>
      <p:sp>
        <p:nvSpPr>
          <p:cNvPr id="36" name="Rounded Rectangle 35"/>
          <p:cNvSpPr/>
          <p:nvPr/>
        </p:nvSpPr>
        <p:spPr>
          <a:xfrm>
            <a:off x="6172200" y="4672583"/>
            <a:ext cx="5486400" cy="132588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46520" y="4901183"/>
            <a:ext cx="1005840" cy="822960"/>
          </a:xfrm>
          <a:prstGeom prst="rect">
            <a:avLst/>
          </a:prstGeom>
          <a:noFill/>
        </p:spPr>
        <p:txBody>
          <a:bodyPr wrap="square" anchor="t" lIns="45720" rIns="45720">
            <a:spAutoFit/>
          </a:bodyPr>
          <a:lstStyle/>
          <a:p>
            <a:pPr algn="l">
              <a:lnSpc>
                <a:spcPct val="115000"/>
              </a:lnSpc>
            </a:pPr>
            <a:r>
              <a:rPr sz="3600" b="1">
                <a:solidFill>
                  <a:srgbClr val="086B9B"/>
                </a:solidFill>
                <a:latin typeface="맑은 고딕"/>
                <a:ea typeface="맑은 고딕"/>
                <a:cs typeface="맑은 고딕"/>
              </a:rPr>
              <a:t>06</a:t>
            </a:r>
          </a:p>
        </p:txBody>
      </p:sp>
      <p:sp>
        <p:nvSpPr>
          <p:cNvPr id="38" name="TextBox 37"/>
          <p:cNvSpPr txBox="1"/>
          <p:nvPr/>
        </p:nvSpPr>
        <p:spPr>
          <a:xfrm>
            <a:off x="7498079" y="4928616"/>
            <a:ext cx="4023360" cy="457200"/>
          </a:xfrm>
          <a:prstGeom prst="rect">
            <a:avLst/>
          </a:prstGeom>
          <a:noFill/>
        </p:spPr>
        <p:txBody>
          <a:bodyPr wrap="square" anchor="t" lIns="45720" rIns="45720">
            <a:spAutoFit/>
          </a:bodyPr>
          <a:lstStyle/>
          <a:p>
            <a:pPr algn="l">
              <a:lnSpc>
                <a:spcPct val="115000"/>
              </a:lnSpc>
            </a:pPr>
            <a:r>
              <a:rPr sz="2000" b="1">
                <a:solidFill>
                  <a:srgbClr val="173649"/>
                </a:solidFill>
                <a:latin typeface="맑은 고딕"/>
                <a:ea typeface="맑은 고딕"/>
                <a:cs typeface="맑은 고딕"/>
              </a:rPr>
              <a:t>배포 · 트러블슈팅 · 성과</a:t>
            </a:r>
          </a:p>
        </p:txBody>
      </p:sp>
      <p:sp>
        <p:nvSpPr>
          <p:cNvPr id="39" name="TextBox 38"/>
          <p:cNvSpPr txBox="1"/>
          <p:nvPr/>
        </p:nvSpPr>
        <p:spPr>
          <a:xfrm>
            <a:off x="7498079" y="5330951"/>
            <a:ext cx="4023360" cy="320040"/>
          </a:xfrm>
          <a:prstGeom prst="rect">
            <a:avLst/>
          </a:prstGeom>
          <a:noFill/>
        </p:spPr>
        <p:txBody>
          <a:bodyPr wrap="square" anchor="t" lIns="45720" rIns="45720">
            <a:spAutoFit/>
          </a:bodyPr>
          <a:lstStyle/>
          <a:p>
            <a:pPr algn="l">
              <a:lnSpc>
                <a:spcPct val="115000"/>
              </a:lnSpc>
            </a:pPr>
            <a:r>
              <a:rPr sz="1250" b="0">
                <a:solidFill>
                  <a:srgbClr val="60717B"/>
                </a:solidFill>
                <a:latin typeface="맑은 고딕"/>
                <a:ea typeface="맑은 고딕"/>
                <a:cs typeface="맑은 고딕"/>
              </a:rPr>
              <a:t>CI/CD · 문제 해결 · 향후 계획</a:t>
            </a:r>
          </a:p>
        </p:txBody>
      </p:sp>
      <p:sp>
        <p:nvSpPr>
          <p:cNvPr id="40" name="TextBox 39"/>
          <p:cNvSpPr txBox="1"/>
          <p:nvPr/>
        </p:nvSpPr>
        <p:spPr>
          <a:xfrm>
            <a:off x="7498079" y="5586983"/>
            <a:ext cx="4023360" cy="320040"/>
          </a:xfrm>
          <a:prstGeom prst="rect">
            <a:avLst/>
          </a:prstGeom>
          <a:noFill/>
        </p:spPr>
        <p:txBody>
          <a:bodyPr wrap="square" anchor="t" lIns="45720" rIns="45720">
            <a:spAutoFit/>
          </a:bodyPr>
          <a:lstStyle/>
          <a:p>
            <a:pPr algn="l">
              <a:lnSpc>
                <a:spcPct val="115000"/>
              </a:lnSpc>
            </a:pPr>
            <a:r>
              <a:rPr sz="1150" b="1">
                <a:solidFill>
                  <a:srgbClr val="BD7148"/>
                </a:solidFill>
                <a:latin typeface="맑은 고딕"/>
                <a:ea typeface="맑은 고딕"/>
                <a:cs typeface="맑은 고딕"/>
              </a:rPr>
              <a:t>발표 홍길동 · 김서연 · 길길동</a:t>
            </a:r>
          </a:p>
        </p:txBody>
      </p:sp>
      <p:sp>
        <p:nvSpPr>
          <p:cNvPr id="41" name="Rectangle 40"/>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01  프로젝트 개요</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팀 소개 및 역할 분담</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3 / 20</a:t>
            </a:r>
          </a:p>
        </p:txBody>
      </p:sp>
      <p:sp>
        <p:nvSpPr>
          <p:cNvPr id="11" name="Rounded Rectangle 10"/>
          <p:cNvSpPr/>
          <p:nvPr/>
        </p:nvSpPr>
        <p:spPr>
          <a:xfrm>
            <a:off x="548640" y="1600200"/>
            <a:ext cx="2633472" cy="4526280"/>
          </a:xfrm>
          <a:prstGeom prst="roundRect">
            <a:avLst>
              <a:gd name="adj" fmla="val 5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1600200"/>
            <a:ext cx="2633472" cy="109728"/>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453895" y="1965960"/>
            <a:ext cx="822960" cy="822960"/>
          </a:xfrm>
          <a:prstGeom prst="ellipse">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53895" y="1965960"/>
            <a:ext cx="822960" cy="822960"/>
          </a:xfrm>
          <a:prstGeom prst="rect">
            <a:avLst/>
          </a:prstGeom>
          <a:noFill/>
        </p:spPr>
        <p:txBody>
          <a:bodyPr wrap="square" anchor="ctr" lIns="45720" rIns="45720">
            <a:spAutoFit/>
          </a:bodyPr>
          <a:lstStyle/>
          <a:p>
            <a:pPr algn="ctr">
              <a:lnSpc>
                <a:spcPct val="115000"/>
              </a:lnSpc>
            </a:pPr>
            <a:r>
              <a:rPr sz="2600" b="1">
                <a:solidFill>
                  <a:srgbClr val="FFFFFF"/>
                </a:solidFill>
                <a:latin typeface="맑은 고딕"/>
                <a:ea typeface="맑은 고딕"/>
                <a:cs typeface="맑은 고딕"/>
              </a:rPr>
              <a:t>길</a:t>
            </a:r>
          </a:p>
        </p:txBody>
      </p:sp>
      <p:sp>
        <p:nvSpPr>
          <p:cNvPr id="15" name="TextBox 14"/>
          <p:cNvSpPr txBox="1"/>
          <p:nvPr/>
        </p:nvSpPr>
        <p:spPr>
          <a:xfrm>
            <a:off x="548640" y="2880360"/>
            <a:ext cx="2633472" cy="411480"/>
          </a:xfrm>
          <a:prstGeom prst="rect">
            <a:avLst/>
          </a:prstGeom>
          <a:noFill/>
        </p:spPr>
        <p:txBody>
          <a:bodyPr wrap="square" anchor="t" lIns="45720" rIns="45720">
            <a:spAutoFit/>
          </a:bodyPr>
          <a:lstStyle/>
          <a:p>
            <a:pPr algn="ctr">
              <a:lnSpc>
                <a:spcPct val="115000"/>
              </a:lnSpc>
            </a:pPr>
            <a:r>
              <a:rPr sz="2000" b="1">
                <a:solidFill>
                  <a:srgbClr val="173649"/>
                </a:solidFill>
                <a:latin typeface="맑은 고딕"/>
                <a:ea typeface="맑은 고딕"/>
                <a:cs typeface="맑은 고딕"/>
              </a:rPr>
              <a:t>길길동</a:t>
            </a:r>
            <a:r>
              <a:rPr sz="1200" b="1">
                <a:solidFill>
                  <a:srgbClr val="BD7148"/>
                </a:solidFill>
                <a:latin typeface="맑은 고딕"/>
                <a:ea typeface="맑은 고딕"/>
                <a:cs typeface="맑은 고딕"/>
              </a:rPr>
              <a:t> 조장</a:t>
            </a:r>
          </a:p>
        </p:txBody>
      </p:sp>
      <p:sp>
        <p:nvSpPr>
          <p:cNvPr id="16" name="TextBox 15"/>
          <p:cNvSpPr txBox="1"/>
          <p:nvPr/>
        </p:nvSpPr>
        <p:spPr>
          <a:xfrm>
            <a:off x="548640" y="3291840"/>
            <a:ext cx="2633472" cy="365760"/>
          </a:xfrm>
          <a:prstGeom prst="rect">
            <a:avLst/>
          </a:prstGeom>
          <a:noFill/>
        </p:spPr>
        <p:txBody>
          <a:bodyPr wrap="square" anchor="t" lIns="45720" rIns="45720">
            <a:spAutoFit/>
          </a:bodyPr>
          <a:lstStyle/>
          <a:p>
            <a:pPr algn="ctr">
              <a:lnSpc>
                <a:spcPct val="115000"/>
              </a:lnSpc>
            </a:pPr>
            <a:r>
              <a:rPr sz="1300" b="1">
                <a:solidFill>
                  <a:srgbClr val="086B9B"/>
                </a:solidFill>
                <a:latin typeface="맑은 고딕"/>
                <a:ea typeface="맑은 고딕"/>
                <a:cs typeface="맑은 고딕"/>
              </a:rPr>
              <a:t>조장 · PM · 아키텍처</a:t>
            </a:r>
          </a:p>
        </p:txBody>
      </p:sp>
      <p:sp>
        <p:nvSpPr>
          <p:cNvPr id="17" name="Rectangle 16"/>
          <p:cNvSpPr/>
          <p:nvPr/>
        </p:nvSpPr>
        <p:spPr>
          <a:xfrm>
            <a:off x="822959" y="3749039"/>
            <a:ext cx="2084831"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7240" y="3886200"/>
            <a:ext cx="2286000" cy="2103120"/>
          </a:xfrm>
          <a:prstGeom prst="rect">
            <a:avLst/>
          </a:prstGeom>
          <a:noFill/>
        </p:spPr>
        <p:txBody>
          <a:bodyPr wrap="square" anchor="t" lIns="45720" rIns="45720">
            <a:spAutoFit/>
          </a:bodyPr>
          <a:lstStyle/>
          <a:p>
            <a:pPr algn="l">
              <a:lnSpc>
                <a:spcPct val="145000"/>
              </a:lnSpc>
            </a:pPr>
            <a:r>
              <a:rPr sz="600" b="1">
                <a:solidFill>
                  <a:srgbClr val="086B9B"/>
                </a:solidFill>
                <a:latin typeface="맑은 고딕"/>
                <a:ea typeface="맑은 고딕"/>
                <a:cs typeface="맑은 고딕"/>
              </a:rPr>
              <a:t>●  </a:t>
            </a:r>
            <a:r>
              <a:rPr sz="1200" b="0">
                <a:solidFill>
                  <a:srgbClr val="213440"/>
                </a:solidFill>
                <a:latin typeface="맑은 고딕"/>
                <a:ea typeface="맑은 고딕"/>
                <a:cs typeface="맑은 고딕"/>
              </a:rPr>
              <a:t>일정 · 요구사항 관리</a:t>
            </a:r>
          </a:p>
          <a:p>
            <a:pPr algn="l">
              <a:lnSpc>
                <a:spcPct val="145000"/>
              </a:lnSpc>
            </a:pPr>
            <a:r>
              <a:rPr sz="600" b="1">
                <a:solidFill>
                  <a:srgbClr val="086B9B"/>
                </a:solidFill>
                <a:latin typeface="맑은 고딕"/>
                <a:ea typeface="맑은 고딕"/>
                <a:cs typeface="맑은 고딕"/>
              </a:rPr>
              <a:t>●  </a:t>
            </a:r>
            <a:r>
              <a:rPr sz="1200" b="0">
                <a:solidFill>
                  <a:srgbClr val="213440"/>
                </a:solidFill>
                <a:latin typeface="맑은 고딕"/>
                <a:ea typeface="맑은 고딕"/>
                <a:cs typeface="맑은 고딕"/>
              </a:rPr>
              <a:t>시스템 아키텍처 설계</a:t>
            </a:r>
          </a:p>
          <a:p>
            <a:pPr algn="l">
              <a:lnSpc>
                <a:spcPct val="145000"/>
              </a:lnSpc>
            </a:pPr>
            <a:r>
              <a:rPr sz="600" b="1">
                <a:solidFill>
                  <a:srgbClr val="086B9B"/>
                </a:solidFill>
                <a:latin typeface="맑은 고딕"/>
                <a:ea typeface="맑은 고딕"/>
                <a:cs typeface="맑은 고딕"/>
              </a:rPr>
              <a:t>●  </a:t>
            </a:r>
            <a:r>
              <a:rPr sz="1200" b="0">
                <a:solidFill>
                  <a:srgbClr val="213440"/>
                </a:solidFill>
                <a:latin typeface="맑은 고딕"/>
                <a:ea typeface="맑은 고딕"/>
                <a:cs typeface="맑은 고딕"/>
              </a:rPr>
              <a:t>산출물 문서 총괄</a:t>
            </a:r>
          </a:p>
          <a:p>
            <a:pPr algn="l">
              <a:lnSpc>
                <a:spcPct val="145000"/>
              </a:lnSpc>
            </a:pPr>
            <a:r>
              <a:rPr sz="600" b="1">
                <a:solidFill>
                  <a:srgbClr val="086B9B"/>
                </a:solidFill>
                <a:latin typeface="맑은 고딕"/>
                <a:ea typeface="맑은 고딕"/>
                <a:cs typeface="맑은 고딕"/>
              </a:rPr>
              <a:t>●  </a:t>
            </a:r>
            <a:r>
              <a:rPr sz="1200" b="0">
                <a:solidFill>
                  <a:srgbClr val="213440"/>
                </a:solidFill>
                <a:latin typeface="맑은 고딕"/>
                <a:ea typeface="맑은 고딕"/>
                <a:cs typeface="맑은 고딕"/>
              </a:rPr>
              <a:t>최종 통합 · 발표 총괄</a:t>
            </a:r>
          </a:p>
        </p:txBody>
      </p:sp>
      <p:sp>
        <p:nvSpPr>
          <p:cNvPr id="19" name="Rounded Rectangle 18"/>
          <p:cNvSpPr/>
          <p:nvPr/>
        </p:nvSpPr>
        <p:spPr>
          <a:xfrm>
            <a:off x="3364992" y="1600200"/>
            <a:ext cx="2633472" cy="4526280"/>
          </a:xfrm>
          <a:prstGeom prst="roundRect">
            <a:avLst>
              <a:gd name="adj" fmla="val 5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364992" y="1600200"/>
            <a:ext cx="2633472" cy="109728"/>
          </a:xfrm>
          <a:prstGeom prst="rect">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270248" y="1965960"/>
            <a:ext cx="822960" cy="822960"/>
          </a:xfrm>
          <a:prstGeom prst="ellipse">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270248" y="1965960"/>
            <a:ext cx="822960" cy="822960"/>
          </a:xfrm>
          <a:prstGeom prst="rect">
            <a:avLst/>
          </a:prstGeom>
          <a:noFill/>
        </p:spPr>
        <p:txBody>
          <a:bodyPr wrap="square" anchor="ctr" lIns="45720" rIns="45720">
            <a:spAutoFit/>
          </a:bodyPr>
          <a:lstStyle/>
          <a:p>
            <a:pPr algn="ctr">
              <a:lnSpc>
                <a:spcPct val="115000"/>
              </a:lnSpc>
            </a:pPr>
            <a:r>
              <a:rPr sz="2600" b="1">
                <a:solidFill>
                  <a:srgbClr val="FFFFFF"/>
                </a:solidFill>
                <a:latin typeface="맑은 고딕"/>
                <a:ea typeface="맑은 고딕"/>
                <a:cs typeface="맑은 고딕"/>
              </a:rPr>
              <a:t>박</a:t>
            </a:r>
          </a:p>
        </p:txBody>
      </p:sp>
      <p:sp>
        <p:nvSpPr>
          <p:cNvPr id="23" name="TextBox 22"/>
          <p:cNvSpPr txBox="1"/>
          <p:nvPr/>
        </p:nvSpPr>
        <p:spPr>
          <a:xfrm>
            <a:off x="3364992" y="2880360"/>
            <a:ext cx="2633472" cy="411480"/>
          </a:xfrm>
          <a:prstGeom prst="rect">
            <a:avLst/>
          </a:prstGeom>
          <a:noFill/>
        </p:spPr>
        <p:txBody>
          <a:bodyPr wrap="square" anchor="t" lIns="45720" rIns="45720">
            <a:spAutoFit/>
          </a:bodyPr>
          <a:lstStyle/>
          <a:p>
            <a:pPr algn="ctr">
              <a:lnSpc>
                <a:spcPct val="115000"/>
              </a:lnSpc>
            </a:pPr>
            <a:r>
              <a:rPr sz="2000" b="1">
                <a:solidFill>
                  <a:srgbClr val="173649"/>
                </a:solidFill>
                <a:latin typeface="맑은 고딕"/>
                <a:ea typeface="맑은 고딕"/>
                <a:cs typeface="맑은 고딕"/>
              </a:rPr>
              <a:t>박미금</a:t>
            </a:r>
          </a:p>
        </p:txBody>
      </p:sp>
      <p:sp>
        <p:nvSpPr>
          <p:cNvPr id="24" name="TextBox 23"/>
          <p:cNvSpPr txBox="1"/>
          <p:nvPr/>
        </p:nvSpPr>
        <p:spPr>
          <a:xfrm>
            <a:off x="3364992" y="3291840"/>
            <a:ext cx="2633472" cy="365760"/>
          </a:xfrm>
          <a:prstGeom prst="rect">
            <a:avLst/>
          </a:prstGeom>
          <a:noFill/>
        </p:spPr>
        <p:txBody>
          <a:bodyPr wrap="square" anchor="t" lIns="45720" rIns="45720">
            <a:spAutoFit/>
          </a:bodyPr>
          <a:lstStyle/>
          <a:p>
            <a:pPr algn="ctr">
              <a:lnSpc>
                <a:spcPct val="115000"/>
              </a:lnSpc>
            </a:pPr>
            <a:r>
              <a:rPr sz="1300" b="1">
                <a:solidFill>
                  <a:srgbClr val="BD7148"/>
                </a:solidFill>
                <a:latin typeface="맑은 고딕"/>
                <a:ea typeface="맑은 고딕"/>
                <a:cs typeface="맑은 고딕"/>
              </a:rPr>
              <a:t>데이터 수집 · AI 모델</a:t>
            </a:r>
          </a:p>
        </p:txBody>
      </p:sp>
      <p:sp>
        <p:nvSpPr>
          <p:cNvPr id="25" name="Rectangle 24"/>
          <p:cNvSpPr/>
          <p:nvPr/>
        </p:nvSpPr>
        <p:spPr>
          <a:xfrm>
            <a:off x="3639312" y="3749039"/>
            <a:ext cx="2084831"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593592" y="3886200"/>
            <a:ext cx="2286000" cy="2103120"/>
          </a:xfrm>
          <a:prstGeom prst="rect">
            <a:avLst/>
          </a:prstGeom>
          <a:noFill/>
        </p:spPr>
        <p:txBody>
          <a:bodyPr wrap="square" anchor="t" lIns="45720" rIns="45720">
            <a:spAutoFit/>
          </a:bodyPr>
          <a:lstStyle/>
          <a:p>
            <a:pPr algn="l">
              <a:lnSpc>
                <a:spcPct val="145000"/>
              </a:lnSpc>
            </a:pPr>
            <a:r>
              <a:rPr sz="600" b="1">
                <a:solidFill>
                  <a:srgbClr val="BD7148"/>
                </a:solidFill>
                <a:latin typeface="맑은 고딕"/>
                <a:ea typeface="맑은 고딕"/>
                <a:cs typeface="맑은 고딕"/>
              </a:rPr>
              <a:t>●  </a:t>
            </a:r>
            <a:r>
              <a:rPr sz="1200" b="0">
                <a:solidFill>
                  <a:srgbClr val="213440"/>
                </a:solidFill>
                <a:latin typeface="맑은 고딕"/>
                <a:ea typeface="맑은 고딕"/>
                <a:cs typeface="맑은 고딕"/>
              </a:rPr>
              <a:t>공공데이터 API 크롤러 개발</a:t>
            </a:r>
          </a:p>
          <a:p>
            <a:pPr algn="l">
              <a:lnSpc>
                <a:spcPct val="145000"/>
              </a:lnSpc>
            </a:pPr>
            <a:r>
              <a:rPr sz="600" b="1">
                <a:solidFill>
                  <a:srgbClr val="BD7148"/>
                </a:solidFill>
                <a:latin typeface="맑은 고딕"/>
                <a:ea typeface="맑은 고딕"/>
                <a:cs typeface="맑은 고딕"/>
              </a:rPr>
              <a:t>●  </a:t>
            </a:r>
            <a:r>
              <a:rPr sz="1200" b="0">
                <a:solidFill>
                  <a:srgbClr val="213440"/>
                </a:solidFill>
                <a:latin typeface="맑은 고딕"/>
                <a:ea typeface="맑은 고딕"/>
                <a:cs typeface="맑은 고딕"/>
              </a:rPr>
              <a:t>전처리 · 이상치 제거 · EDA</a:t>
            </a:r>
          </a:p>
          <a:p>
            <a:pPr algn="l">
              <a:lnSpc>
                <a:spcPct val="145000"/>
              </a:lnSpc>
            </a:pPr>
            <a:r>
              <a:rPr sz="600" b="1">
                <a:solidFill>
                  <a:srgbClr val="BD7148"/>
                </a:solidFill>
                <a:latin typeface="맑은 고딕"/>
                <a:ea typeface="맑은 고딕"/>
                <a:cs typeface="맑은 고딕"/>
              </a:rPr>
              <a:t>●  </a:t>
            </a:r>
            <a:r>
              <a:rPr sz="1200" b="0">
                <a:solidFill>
                  <a:srgbClr val="213440"/>
                </a:solidFill>
                <a:latin typeface="맑은 고딕"/>
                <a:ea typeface="맑은 고딕"/>
                <a:cs typeface="맑은 고딕"/>
              </a:rPr>
              <a:t>RandomForest 적정가 모델</a:t>
            </a:r>
          </a:p>
          <a:p>
            <a:pPr algn="l">
              <a:lnSpc>
                <a:spcPct val="145000"/>
              </a:lnSpc>
            </a:pPr>
            <a:r>
              <a:rPr sz="600" b="1">
                <a:solidFill>
                  <a:srgbClr val="BD7148"/>
                </a:solidFill>
                <a:latin typeface="맑은 고딕"/>
                <a:ea typeface="맑은 고딕"/>
                <a:cs typeface="맑은 고딕"/>
              </a:rPr>
              <a:t>●  </a:t>
            </a:r>
            <a:r>
              <a:rPr sz="1200" b="0">
                <a:solidFill>
                  <a:srgbClr val="213440"/>
                </a:solidFill>
                <a:latin typeface="맑은 고딕"/>
                <a:ea typeface="맑은 고딕"/>
                <a:cs typeface="맑은 고딕"/>
              </a:rPr>
              <a:t>KMeans 단지 유형 · 인사이트</a:t>
            </a:r>
          </a:p>
        </p:txBody>
      </p:sp>
      <p:sp>
        <p:nvSpPr>
          <p:cNvPr id="27" name="Rounded Rectangle 26"/>
          <p:cNvSpPr/>
          <p:nvPr/>
        </p:nvSpPr>
        <p:spPr>
          <a:xfrm>
            <a:off x="6181344" y="1600200"/>
            <a:ext cx="2633472" cy="4526280"/>
          </a:xfrm>
          <a:prstGeom prst="roundRect">
            <a:avLst>
              <a:gd name="adj" fmla="val 5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181344" y="1600200"/>
            <a:ext cx="2633472" cy="109728"/>
          </a:xfrm>
          <a:prstGeom prst="rect">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086600" y="1965960"/>
            <a:ext cx="822960" cy="822960"/>
          </a:xfrm>
          <a:prstGeom prst="ellipse">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86600" y="1965960"/>
            <a:ext cx="822960" cy="822960"/>
          </a:xfrm>
          <a:prstGeom prst="rect">
            <a:avLst/>
          </a:prstGeom>
          <a:noFill/>
        </p:spPr>
        <p:txBody>
          <a:bodyPr wrap="square" anchor="ctr" lIns="45720" rIns="45720">
            <a:spAutoFit/>
          </a:bodyPr>
          <a:lstStyle/>
          <a:p>
            <a:pPr algn="ctr">
              <a:lnSpc>
                <a:spcPct val="115000"/>
              </a:lnSpc>
            </a:pPr>
            <a:r>
              <a:rPr sz="2600" b="1">
                <a:solidFill>
                  <a:srgbClr val="FFFFFF"/>
                </a:solidFill>
                <a:latin typeface="맑은 고딕"/>
                <a:ea typeface="맑은 고딕"/>
                <a:cs typeface="맑은 고딕"/>
              </a:rPr>
              <a:t>홍</a:t>
            </a:r>
          </a:p>
        </p:txBody>
      </p:sp>
      <p:sp>
        <p:nvSpPr>
          <p:cNvPr id="31" name="TextBox 30"/>
          <p:cNvSpPr txBox="1"/>
          <p:nvPr/>
        </p:nvSpPr>
        <p:spPr>
          <a:xfrm>
            <a:off x="6181344" y="2880360"/>
            <a:ext cx="2633472" cy="411480"/>
          </a:xfrm>
          <a:prstGeom prst="rect">
            <a:avLst/>
          </a:prstGeom>
          <a:noFill/>
        </p:spPr>
        <p:txBody>
          <a:bodyPr wrap="square" anchor="t" lIns="45720" rIns="45720">
            <a:spAutoFit/>
          </a:bodyPr>
          <a:lstStyle/>
          <a:p>
            <a:pPr algn="ctr">
              <a:lnSpc>
                <a:spcPct val="115000"/>
              </a:lnSpc>
            </a:pPr>
            <a:r>
              <a:rPr sz="2000" b="1">
                <a:solidFill>
                  <a:srgbClr val="173649"/>
                </a:solidFill>
                <a:latin typeface="맑은 고딕"/>
                <a:ea typeface="맑은 고딕"/>
                <a:cs typeface="맑은 고딕"/>
              </a:rPr>
              <a:t>홍길동</a:t>
            </a:r>
          </a:p>
        </p:txBody>
      </p:sp>
      <p:sp>
        <p:nvSpPr>
          <p:cNvPr id="32" name="TextBox 31"/>
          <p:cNvSpPr txBox="1"/>
          <p:nvPr/>
        </p:nvSpPr>
        <p:spPr>
          <a:xfrm>
            <a:off x="6181344" y="3291840"/>
            <a:ext cx="2633472" cy="365760"/>
          </a:xfrm>
          <a:prstGeom prst="rect">
            <a:avLst/>
          </a:prstGeom>
          <a:noFill/>
        </p:spPr>
        <p:txBody>
          <a:bodyPr wrap="square" anchor="t" lIns="45720" rIns="45720">
            <a:spAutoFit/>
          </a:bodyPr>
          <a:lstStyle/>
          <a:p>
            <a:pPr algn="ctr">
              <a:lnSpc>
                <a:spcPct val="115000"/>
              </a:lnSpc>
            </a:pPr>
            <a:r>
              <a:rPr sz="1300" b="1">
                <a:solidFill>
                  <a:srgbClr val="173649"/>
                </a:solidFill>
                <a:latin typeface="맑은 고딕"/>
                <a:ea typeface="맑은 고딕"/>
                <a:cs typeface="맑은 고딕"/>
              </a:rPr>
              <a:t>백엔드 · 자동화 · 배포</a:t>
            </a:r>
          </a:p>
        </p:txBody>
      </p:sp>
      <p:sp>
        <p:nvSpPr>
          <p:cNvPr id="33" name="Rectangle 32"/>
          <p:cNvSpPr/>
          <p:nvPr/>
        </p:nvSpPr>
        <p:spPr>
          <a:xfrm>
            <a:off x="6455664" y="3749039"/>
            <a:ext cx="2084831"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9944" y="3886200"/>
            <a:ext cx="2286000" cy="2103120"/>
          </a:xfrm>
          <a:prstGeom prst="rect">
            <a:avLst/>
          </a:prstGeom>
          <a:noFill/>
        </p:spPr>
        <p:txBody>
          <a:bodyPr wrap="square" anchor="t" lIns="45720" rIns="45720">
            <a:spAutoFit/>
          </a:bodyPr>
          <a:lstStyle/>
          <a:p>
            <a:pPr algn="l">
              <a:lnSpc>
                <a:spcPct val="145000"/>
              </a:lnSpc>
            </a:pPr>
            <a:r>
              <a:rPr sz="600" b="1">
                <a:solidFill>
                  <a:srgbClr val="173649"/>
                </a:solidFill>
                <a:latin typeface="맑은 고딕"/>
                <a:ea typeface="맑은 고딕"/>
                <a:cs typeface="맑은 고딕"/>
              </a:rPr>
              <a:t>●  </a:t>
            </a:r>
            <a:r>
              <a:rPr sz="1200" b="0">
                <a:solidFill>
                  <a:srgbClr val="213440"/>
                </a:solidFill>
                <a:latin typeface="맑은 고딕"/>
                <a:ea typeface="맑은 고딕"/>
                <a:cs typeface="맑은 고딕"/>
              </a:rPr>
              <a:t>회원가입 · 로그인 · BCrypt</a:t>
            </a:r>
          </a:p>
          <a:p>
            <a:pPr algn="l">
              <a:lnSpc>
                <a:spcPct val="145000"/>
              </a:lnSpc>
            </a:pPr>
            <a:r>
              <a:rPr sz="600" b="1">
                <a:solidFill>
                  <a:srgbClr val="173649"/>
                </a:solidFill>
                <a:latin typeface="맑은 고딕"/>
                <a:ea typeface="맑은 고딕"/>
                <a:cs typeface="맑은 고딕"/>
              </a:rPr>
              <a:t>●  </a:t>
            </a:r>
            <a:r>
              <a:rPr sz="1200" b="0">
                <a:solidFill>
                  <a:srgbClr val="213440"/>
                </a:solidFill>
                <a:latin typeface="맑은 고딕"/>
                <a:ea typeface="맑은 고딕"/>
                <a:cs typeface="맑은 고딕"/>
              </a:rPr>
              <a:t>Firebase · 소셜 로그인</a:t>
            </a:r>
          </a:p>
          <a:p>
            <a:pPr algn="l">
              <a:lnSpc>
                <a:spcPct val="145000"/>
              </a:lnSpc>
            </a:pPr>
            <a:r>
              <a:rPr sz="600" b="1">
                <a:solidFill>
                  <a:srgbClr val="173649"/>
                </a:solidFill>
                <a:latin typeface="맑은 고딕"/>
                <a:ea typeface="맑은 고딕"/>
                <a:cs typeface="맑은 고딕"/>
              </a:rPr>
              <a:t>●  </a:t>
            </a:r>
            <a:r>
              <a:rPr sz="1200" b="0">
                <a:solidFill>
                  <a:srgbClr val="213440"/>
                </a:solidFill>
                <a:latin typeface="맑은 고딕"/>
                <a:ea typeface="맑은 고딕"/>
                <a:cs typeface="맑은 고딕"/>
              </a:rPr>
              <a:t>Actions 재학습 자동화</a:t>
            </a:r>
          </a:p>
          <a:p>
            <a:pPr algn="l">
              <a:lnSpc>
                <a:spcPct val="145000"/>
              </a:lnSpc>
            </a:pPr>
            <a:r>
              <a:rPr sz="600" b="1">
                <a:solidFill>
                  <a:srgbClr val="173649"/>
                </a:solidFill>
                <a:latin typeface="맑은 고딕"/>
                <a:ea typeface="맑은 고딕"/>
                <a:cs typeface="맑은 고딕"/>
              </a:rPr>
              <a:t>●  </a:t>
            </a:r>
            <a:r>
              <a:rPr sz="1200" b="0">
                <a:solidFill>
                  <a:srgbClr val="213440"/>
                </a:solidFill>
                <a:latin typeface="맑은 고딕"/>
                <a:ea typeface="맑은 고딕"/>
                <a:cs typeface="맑은 고딕"/>
              </a:rPr>
              <a:t>Render · AWS EC2 CI/CD</a:t>
            </a:r>
          </a:p>
        </p:txBody>
      </p:sp>
      <p:sp>
        <p:nvSpPr>
          <p:cNvPr id="35" name="Rounded Rectangle 34"/>
          <p:cNvSpPr/>
          <p:nvPr/>
        </p:nvSpPr>
        <p:spPr>
          <a:xfrm>
            <a:off x="8997696" y="1600200"/>
            <a:ext cx="2633472" cy="4526280"/>
          </a:xfrm>
          <a:prstGeom prst="roundRect">
            <a:avLst>
              <a:gd name="adj" fmla="val 5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8997696" y="1600200"/>
            <a:ext cx="2633472" cy="109728"/>
          </a:xfrm>
          <a:prstGeom prst="rect">
            <a:avLst/>
          </a:prstGeom>
          <a:solidFill>
            <a:srgbClr val="357E72"/>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9902952" y="1965960"/>
            <a:ext cx="822960" cy="822960"/>
          </a:xfrm>
          <a:prstGeom prst="ellipse">
            <a:avLst/>
          </a:prstGeom>
          <a:solidFill>
            <a:srgbClr val="357E72"/>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902952" y="1965960"/>
            <a:ext cx="822960" cy="822960"/>
          </a:xfrm>
          <a:prstGeom prst="rect">
            <a:avLst/>
          </a:prstGeom>
          <a:noFill/>
        </p:spPr>
        <p:txBody>
          <a:bodyPr wrap="square" anchor="ctr" lIns="45720" rIns="45720">
            <a:spAutoFit/>
          </a:bodyPr>
          <a:lstStyle/>
          <a:p>
            <a:pPr algn="ctr">
              <a:lnSpc>
                <a:spcPct val="115000"/>
              </a:lnSpc>
            </a:pPr>
            <a:r>
              <a:rPr sz="2600" b="1">
                <a:solidFill>
                  <a:srgbClr val="FFFFFF"/>
                </a:solidFill>
                <a:latin typeface="맑은 고딕"/>
                <a:ea typeface="맑은 고딕"/>
                <a:cs typeface="맑은 고딕"/>
              </a:rPr>
              <a:t>김</a:t>
            </a:r>
          </a:p>
        </p:txBody>
      </p:sp>
      <p:sp>
        <p:nvSpPr>
          <p:cNvPr id="39" name="TextBox 38"/>
          <p:cNvSpPr txBox="1"/>
          <p:nvPr/>
        </p:nvSpPr>
        <p:spPr>
          <a:xfrm>
            <a:off x="8997696" y="2880360"/>
            <a:ext cx="2633472" cy="411480"/>
          </a:xfrm>
          <a:prstGeom prst="rect">
            <a:avLst/>
          </a:prstGeom>
          <a:noFill/>
        </p:spPr>
        <p:txBody>
          <a:bodyPr wrap="square" anchor="t" lIns="45720" rIns="45720">
            <a:spAutoFit/>
          </a:bodyPr>
          <a:lstStyle/>
          <a:p>
            <a:pPr algn="ctr">
              <a:lnSpc>
                <a:spcPct val="115000"/>
              </a:lnSpc>
            </a:pPr>
            <a:r>
              <a:rPr sz="2000" b="1">
                <a:solidFill>
                  <a:srgbClr val="173649"/>
                </a:solidFill>
                <a:latin typeface="맑은 고딕"/>
                <a:ea typeface="맑은 고딕"/>
                <a:cs typeface="맑은 고딕"/>
              </a:rPr>
              <a:t>김서연</a:t>
            </a:r>
          </a:p>
        </p:txBody>
      </p:sp>
      <p:sp>
        <p:nvSpPr>
          <p:cNvPr id="40" name="TextBox 39"/>
          <p:cNvSpPr txBox="1"/>
          <p:nvPr/>
        </p:nvSpPr>
        <p:spPr>
          <a:xfrm>
            <a:off x="8997696" y="3291840"/>
            <a:ext cx="2633472" cy="365760"/>
          </a:xfrm>
          <a:prstGeom prst="rect">
            <a:avLst/>
          </a:prstGeom>
          <a:noFill/>
        </p:spPr>
        <p:txBody>
          <a:bodyPr wrap="square" anchor="t" lIns="45720" rIns="45720">
            <a:spAutoFit/>
          </a:bodyPr>
          <a:lstStyle/>
          <a:p>
            <a:pPr algn="ctr">
              <a:lnSpc>
                <a:spcPct val="115000"/>
              </a:lnSpc>
            </a:pPr>
            <a:r>
              <a:rPr sz="1300" b="1">
                <a:solidFill>
                  <a:srgbClr val="357E72"/>
                </a:solidFill>
                <a:latin typeface="맑은 고딕"/>
                <a:ea typeface="맑은 고딕"/>
                <a:cs typeface="맑은 고딕"/>
              </a:rPr>
              <a:t>프론트엔드 · UI/UX</a:t>
            </a:r>
          </a:p>
        </p:txBody>
      </p:sp>
      <p:sp>
        <p:nvSpPr>
          <p:cNvPr id="41" name="Rectangle 40"/>
          <p:cNvSpPr/>
          <p:nvPr/>
        </p:nvSpPr>
        <p:spPr>
          <a:xfrm>
            <a:off x="9272016" y="3749039"/>
            <a:ext cx="2084831"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226296" y="3886200"/>
            <a:ext cx="2286000" cy="2103120"/>
          </a:xfrm>
          <a:prstGeom prst="rect">
            <a:avLst/>
          </a:prstGeom>
          <a:noFill/>
        </p:spPr>
        <p:txBody>
          <a:bodyPr wrap="square" anchor="t" lIns="45720" rIns="45720">
            <a:spAutoFit/>
          </a:bodyPr>
          <a:lstStyle/>
          <a:p>
            <a:pPr algn="l">
              <a:lnSpc>
                <a:spcPct val="145000"/>
              </a:lnSpc>
            </a:pPr>
            <a:r>
              <a:rPr sz="600" b="1">
                <a:solidFill>
                  <a:srgbClr val="357E72"/>
                </a:solidFill>
                <a:latin typeface="맑은 고딕"/>
                <a:ea typeface="맑은 고딕"/>
                <a:cs typeface="맑은 고딕"/>
              </a:rPr>
              <a:t>●  </a:t>
            </a:r>
            <a:r>
              <a:rPr sz="1200" b="0">
                <a:solidFill>
                  <a:srgbClr val="213440"/>
                </a:solidFill>
                <a:latin typeface="맑은 고딕"/>
                <a:ea typeface="맑은 고딕"/>
                <a:cs typeface="맑은 고딕"/>
              </a:rPr>
              <a:t>화면 설계 · 퍼블리싱</a:t>
            </a:r>
          </a:p>
          <a:p>
            <a:pPr algn="l">
              <a:lnSpc>
                <a:spcPct val="145000"/>
              </a:lnSpc>
            </a:pPr>
            <a:r>
              <a:rPr sz="600" b="1">
                <a:solidFill>
                  <a:srgbClr val="357E72"/>
                </a:solidFill>
                <a:latin typeface="맑은 고딕"/>
                <a:ea typeface="맑은 고딕"/>
                <a:cs typeface="맑은 고딕"/>
              </a:rPr>
              <a:t>●  </a:t>
            </a:r>
            <a:r>
              <a:rPr sz="1200" b="0">
                <a:solidFill>
                  <a:srgbClr val="213440"/>
                </a:solidFill>
                <a:latin typeface="맑은 고딕"/>
                <a:ea typeface="맑은 고딕"/>
                <a:cs typeface="맑은 고딕"/>
              </a:rPr>
              <a:t>AI 추천 · 분석 리포트 화면</a:t>
            </a:r>
          </a:p>
          <a:p>
            <a:pPr algn="l">
              <a:lnSpc>
                <a:spcPct val="145000"/>
              </a:lnSpc>
            </a:pPr>
            <a:r>
              <a:rPr sz="600" b="1">
                <a:solidFill>
                  <a:srgbClr val="357E72"/>
                </a:solidFill>
                <a:latin typeface="맑은 고딕"/>
                <a:ea typeface="맑은 고딕"/>
                <a:cs typeface="맑은 고딕"/>
              </a:rPr>
              <a:t>●  </a:t>
            </a:r>
            <a:r>
              <a:rPr sz="1200" b="0">
                <a:solidFill>
                  <a:srgbClr val="213440"/>
                </a:solidFill>
                <a:latin typeface="맑은 고딕"/>
                <a:ea typeface="맑은 고딕"/>
                <a:cs typeface="맑은 고딕"/>
              </a:rPr>
              <a:t>Plotly 시각화 · 반응형</a:t>
            </a:r>
          </a:p>
          <a:p>
            <a:pPr algn="l">
              <a:lnSpc>
                <a:spcPct val="145000"/>
              </a:lnSpc>
            </a:pPr>
            <a:r>
              <a:rPr sz="600" b="1">
                <a:solidFill>
                  <a:srgbClr val="357E72"/>
                </a:solidFill>
                <a:latin typeface="맑은 고딕"/>
                <a:ea typeface="맑은 고딕"/>
                <a:cs typeface="맑은 고딕"/>
              </a:rPr>
              <a:t>●  </a:t>
            </a:r>
            <a:r>
              <a:rPr sz="1200" b="0">
                <a:solidFill>
                  <a:srgbClr val="213440"/>
                </a:solidFill>
                <a:latin typeface="맑은 고딕"/>
                <a:ea typeface="맑은 고딕"/>
                <a:cs typeface="맑은 고딕"/>
              </a:rPr>
              <a:t>공통 헤더 · 푸터 · 파비콘</a:t>
            </a:r>
          </a:p>
        </p:txBody>
      </p:sp>
      <p:sp>
        <p:nvSpPr>
          <p:cNvPr id="43" name="Rectangle 42"/>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push dir="l"/>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01  프로젝트 개요</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추진 배경 — 왜 '실거래 데이터'인가?</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4 / 20</a:t>
            </a:r>
          </a:p>
        </p:txBody>
      </p:sp>
      <p:sp>
        <p:nvSpPr>
          <p:cNvPr id="11" name="Rounded Rectangle 10"/>
          <p:cNvSpPr/>
          <p:nvPr/>
        </p:nvSpPr>
        <p:spPr>
          <a:xfrm>
            <a:off x="548640" y="1645920"/>
            <a:ext cx="3566160" cy="3017520"/>
          </a:xfrm>
          <a:prstGeom prst="roundRect">
            <a:avLst>
              <a:gd name="adj" fmla="val 6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1874519"/>
            <a:ext cx="1097280" cy="548640"/>
          </a:xfrm>
          <a:prstGeom prst="rect">
            <a:avLst/>
          </a:prstGeom>
          <a:noFill/>
        </p:spPr>
        <p:txBody>
          <a:bodyPr wrap="square" anchor="t" lIns="45720" rIns="45720">
            <a:spAutoFit/>
          </a:bodyPr>
          <a:lstStyle/>
          <a:p>
            <a:pPr algn="l">
              <a:lnSpc>
                <a:spcPct val="115000"/>
              </a:lnSpc>
            </a:pPr>
            <a:r>
              <a:rPr sz="3000" b="1">
                <a:solidFill>
                  <a:srgbClr val="BD7148"/>
                </a:solidFill>
                <a:latin typeface="맑은 고딕"/>
                <a:ea typeface="맑은 고딕"/>
                <a:cs typeface="맑은 고딕"/>
              </a:rPr>
              <a:t>01</a:t>
            </a:r>
          </a:p>
        </p:txBody>
      </p:sp>
      <p:sp>
        <p:nvSpPr>
          <p:cNvPr id="13" name="TextBox 12"/>
          <p:cNvSpPr txBox="1"/>
          <p:nvPr/>
        </p:nvSpPr>
        <p:spPr>
          <a:xfrm>
            <a:off x="868680" y="2468880"/>
            <a:ext cx="3017520" cy="457200"/>
          </a:xfrm>
          <a:prstGeom prst="rect">
            <a:avLst/>
          </a:prstGeom>
          <a:noFill/>
        </p:spPr>
        <p:txBody>
          <a:bodyPr wrap="square" anchor="t" lIns="45720" rIns="45720">
            <a:spAutoFit/>
          </a:bodyPr>
          <a:lstStyle/>
          <a:p>
            <a:pPr algn="l">
              <a:lnSpc>
                <a:spcPct val="115000"/>
              </a:lnSpc>
            </a:pPr>
            <a:r>
              <a:rPr sz="1900" b="1">
                <a:solidFill>
                  <a:srgbClr val="173649"/>
                </a:solidFill>
                <a:latin typeface="맑은 고딕"/>
                <a:ea typeface="맑은 고딕"/>
                <a:cs typeface="맑은 고딕"/>
              </a:rPr>
              <a:t>호가 ≠ 실제 거래가</a:t>
            </a:r>
          </a:p>
        </p:txBody>
      </p:sp>
      <p:sp>
        <p:nvSpPr>
          <p:cNvPr id="14" name="TextBox 13"/>
          <p:cNvSpPr txBox="1"/>
          <p:nvPr/>
        </p:nvSpPr>
        <p:spPr>
          <a:xfrm>
            <a:off x="868680" y="3017520"/>
            <a:ext cx="2971800" cy="1554480"/>
          </a:xfrm>
          <a:prstGeom prst="rect">
            <a:avLst/>
          </a:prstGeom>
          <a:noFill/>
        </p:spPr>
        <p:txBody>
          <a:bodyPr wrap="square" anchor="t" lIns="45720" rIns="45720">
            <a:spAutoFit/>
          </a:bodyPr>
          <a:lstStyle/>
          <a:p>
            <a:pPr algn="l">
              <a:lnSpc>
                <a:spcPct val="135000"/>
              </a:lnSpc>
            </a:pPr>
            <a:r>
              <a:rPr sz="1300" b="0">
                <a:solidFill>
                  <a:srgbClr val="60717B"/>
                </a:solidFill>
                <a:latin typeface="맑은 고딕"/>
                <a:ea typeface="맑은 고딕"/>
                <a:cs typeface="맑은 고딕"/>
              </a:rPr>
              <a:t>부동산 플랫폼의 매물 가격은 집주인이 부르는 '호가'로, 실제 거래 가격과 차이가 큽니다. 내 예산으로 실제 어떤 단지를 살 수 있었는지 알기 어렵습니다.</a:t>
            </a:r>
          </a:p>
        </p:txBody>
      </p:sp>
      <p:sp>
        <p:nvSpPr>
          <p:cNvPr id="15" name="Rounded Rectangle 14"/>
          <p:cNvSpPr/>
          <p:nvPr/>
        </p:nvSpPr>
        <p:spPr>
          <a:xfrm>
            <a:off x="4297679" y="1645920"/>
            <a:ext cx="3566160" cy="3017520"/>
          </a:xfrm>
          <a:prstGeom prst="roundRect">
            <a:avLst>
              <a:gd name="adj" fmla="val 6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617719" y="1874519"/>
            <a:ext cx="1097280" cy="548640"/>
          </a:xfrm>
          <a:prstGeom prst="rect">
            <a:avLst/>
          </a:prstGeom>
          <a:noFill/>
        </p:spPr>
        <p:txBody>
          <a:bodyPr wrap="square" anchor="t" lIns="45720" rIns="45720">
            <a:spAutoFit/>
          </a:bodyPr>
          <a:lstStyle/>
          <a:p>
            <a:pPr algn="l">
              <a:lnSpc>
                <a:spcPct val="115000"/>
              </a:lnSpc>
            </a:pPr>
            <a:r>
              <a:rPr sz="3000" b="1">
                <a:solidFill>
                  <a:srgbClr val="BD7148"/>
                </a:solidFill>
                <a:latin typeface="맑은 고딕"/>
                <a:ea typeface="맑은 고딕"/>
                <a:cs typeface="맑은 고딕"/>
              </a:rPr>
              <a:t>02</a:t>
            </a:r>
          </a:p>
        </p:txBody>
      </p:sp>
      <p:sp>
        <p:nvSpPr>
          <p:cNvPr id="17" name="TextBox 16"/>
          <p:cNvSpPr txBox="1"/>
          <p:nvPr/>
        </p:nvSpPr>
        <p:spPr>
          <a:xfrm>
            <a:off x="4617719" y="2468880"/>
            <a:ext cx="3017520" cy="457200"/>
          </a:xfrm>
          <a:prstGeom prst="rect">
            <a:avLst/>
          </a:prstGeom>
          <a:noFill/>
        </p:spPr>
        <p:txBody>
          <a:bodyPr wrap="square" anchor="t" lIns="45720" rIns="45720">
            <a:spAutoFit/>
          </a:bodyPr>
          <a:lstStyle/>
          <a:p>
            <a:pPr algn="l">
              <a:lnSpc>
                <a:spcPct val="115000"/>
              </a:lnSpc>
            </a:pPr>
            <a:r>
              <a:rPr sz="1900" b="1">
                <a:solidFill>
                  <a:srgbClr val="173649"/>
                </a:solidFill>
                <a:latin typeface="맑은 고딕"/>
                <a:ea typeface="맑은 고딕"/>
                <a:cs typeface="맑은 고딕"/>
              </a:rPr>
              <a:t>흩어진 공공 빅데이터</a:t>
            </a:r>
          </a:p>
        </p:txBody>
      </p:sp>
      <p:sp>
        <p:nvSpPr>
          <p:cNvPr id="18" name="TextBox 17"/>
          <p:cNvSpPr txBox="1"/>
          <p:nvPr/>
        </p:nvSpPr>
        <p:spPr>
          <a:xfrm>
            <a:off x="4617719" y="3017520"/>
            <a:ext cx="2971800" cy="1554480"/>
          </a:xfrm>
          <a:prstGeom prst="rect">
            <a:avLst/>
          </a:prstGeom>
          <a:noFill/>
        </p:spPr>
        <p:txBody>
          <a:bodyPr wrap="square" anchor="t" lIns="45720" rIns="45720">
            <a:spAutoFit/>
          </a:bodyPr>
          <a:lstStyle/>
          <a:p>
            <a:pPr algn="l">
              <a:lnSpc>
                <a:spcPct val="135000"/>
              </a:lnSpc>
            </a:pPr>
            <a:r>
              <a:rPr sz="1300" b="0">
                <a:solidFill>
                  <a:srgbClr val="60717B"/>
                </a:solidFill>
                <a:latin typeface="맑은 고딕"/>
                <a:ea typeface="맑은 고딕"/>
                <a:cs typeface="맑은 고딕"/>
              </a:rPr>
              <a:t>국토교통부 실거래 데이터는 공개되어 있지만 지역 · 월별 API로 쪼개져 있어 일반 사용자가 모아서 비교 · 분석하기 어렵습니다.</a:t>
            </a:r>
          </a:p>
        </p:txBody>
      </p:sp>
      <p:sp>
        <p:nvSpPr>
          <p:cNvPr id="19" name="Rounded Rectangle 18"/>
          <p:cNvSpPr/>
          <p:nvPr/>
        </p:nvSpPr>
        <p:spPr>
          <a:xfrm>
            <a:off x="8046719" y="1645920"/>
            <a:ext cx="3566160" cy="3017520"/>
          </a:xfrm>
          <a:prstGeom prst="roundRect">
            <a:avLst>
              <a:gd name="adj" fmla="val 6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66759" y="1874519"/>
            <a:ext cx="1097280" cy="548640"/>
          </a:xfrm>
          <a:prstGeom prst="rect">
            <a:avLst/>
          </a:prstGeom>
          <a:noFill/>
        </p:spPr>
        <p:txBody>
          <a:bodyPr wrap="square" anchor="t" lIns="45720" rIns="45720">
            <a:spAutoFit/>
          </a:bodyPr>
          <a:lstStyle/>
          <a:p>
            <a:pPr algn="l">
              <a:lnSpc>
                <a:spcPct val="115000"/>
              </a:lnSpc>
            </a:pPr>
            <a:r>
              <a:rPr sz="3000" b="1">
                <a:solidFill>
                  <a:srgbClr val="BD7148"/>
                </a:solidFill>
                <a:latin typeface="맑은 고딕"/>
                <a:ea typeface="맑은 고딕"/>
                <a:cs typeface="맑은 고딕"/>
              </a:rPr>
              <a:t>03</a:t>
            </a:r>
          </a:p>
        </p:txBody>
      </p:sp>
      <p:sp>
        <p:nvSpPr>
          <p:cNvPr id="21" name="TextBox 20"/>
          <p:cNvSpPr txBox="1"/>
          <p:nvPr/>
        </p:nvSpPr>
        <p:spPr>
          <a:xfrm>
            <a:off x="8366759" y="2468880"/>
            <a:ext cx="3017520" cy="457200"/>
          </a:xfrm>
          <a:prstGeom prst="rect">
            <a:avLst/>
          </a:prstGeom>
          <a:noFill/>
        </p:spPr>
        <p:txBody>
          <a:bodyPr wrap="square" anchor="t" lIns="45720" rIns="45720">
            <a:spAutoFit/>
          </a:bodyPr>
          <a:lstStyle/>
          <a:p>
            <a:pPr algn="l">
              <a:lnSpc>
                <a:spcPct val="115000"/>
              </a:lnSpc>
            </a:pPr>
            <a:r>
              <a:rPr sz="1900" b="1">
                <a:solidFill>
                  <a:srgbClr val="173649"/>
                </a:solidFill>
                <a:latin typeface="맑은 고딕"/>
                <a:ea typeface="맑은 고딕"/>
                <a:cs typeface="맑은 고딕"/>
              </a:rPr>
              <a:t>'적정 가격' 기준의 부재</a:t>
            </a:r>
          </a:p>
        </p:txBody>
      </p:sp>
      <p:sp>
        <p:nvSpPr>
          <p:cNvPr id="22" name="TextBox 21"/>
          <p:cNvSpPr txBox="1"/>
          <p:nvPr/>
        </p:nvSpPr>
        <p:spPr>
          <a:xfrm>
            <a:off x="8366759" y="3017520"/>
            <a:ext cx="2971800" cy="1554480"/>
          </a:xfrm>
          <a:prstGeom prst="rect">
            <a:avLst/>
          </a:prstGeom>
          <a:noFill/>
        </p:spPr>
        <p:txBody>
          <a:bodyPr wrap="square" anchor="t" lIns="45720" rIns="45720">
            <a:spAutoFit/>
          </a:bodyPr>
          <a:lstStyle/>
          <a:p>
            <a:pPr algn="l">
              <a:lnSpc>
                <a:spcPct val="135000"/>
              </a:lnSpc>
            </a:pPr>
            <a:r>
              <a:rPr sz="1300" b="0">
                <a:solidFill>
                  <a:srgbClr val="60717B"/>
                </a:solidFill>
                <a:latin typeface="맑은 고딕"/>
                <a:ea typeface="맑은 고딕"/>
                <a:cs typeface="맑은 고딕"/>
              </a:rPr>
              <a:t>같은 지역 · 같은 면적이라도 가격 차이가 큰데, 이 거래가 비싼지 싼지 판단할 객관적인 기준이 없습니다.</a:t>
            </a:r>
          </a:p>
        </p:txBody>
      </p:sp>
      <p:sp>
        <p:nvSpPr>
          <p:cNvPr id="23" name="Rounded Rectangle 22"/>
          <p:cNvSpPr/>
          <p:nvPr/>
        </p:nvSpPr>
        <p:spPr>
          <a:xfrm>
            <a:off x="548640" y="4937760"/>
            <a:ext cx="11109960" cy="1188720"/>
          </a:xfrm>
          <a:prstGeom prst="roundRect">
            <a:avLst>
              <a:gd name="adj" fmla="val 8000"/>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68680" y="4937760"/>
            <a:ext cx="10515600" cy="1188720"/>
          </a:xfrm>
          <a:prstGeom prst="rect">
            <a:avLst/>
          </a:prstGeom>
          <a:noFill/>
        </p:spPr>
        <p:txBody>
          <a:bodyPr wrap="square" anchor="ctr" lIns="45720" rIns="45720">
            <a:spAutoFit/>
          </a:bodyPr>
          <a:lstStyle/>
          <a:p>
            <a:pPr algn="l">
              <a:lnSpc>
                <a:spcPct val="115000"/>
              </a:lnSpc>
            </a:pPr>
            <a:r>
              <a:rPr sz="1500" b="1">
                <a:solidFill>
                  <a:srgbClr val="F5C59F"/>
                </a:solidFill>
                <a:latin typeface="맑은 고딕"/>
                <a:ea typeface="맑은 고딕"/>
                <a:cs typeface="맑은 고딕"/>
              </a:rPr>
              <a:t>해결 아이디어  </a:t>
            </a:r>
            <a:r>
              <a:rPr sz="1700" b="1">
                <a:solidFill>
                  <a:srgbClr val="FFFFFF"/>
                </a:solidFill>
                <a:latin typeface="맑은 고딕"/>
                <a:ea typeface="맑은 고딕"/>
                <a:cs typeface="맑은 고딕"/>
              </a:rPr>
              <a:t>공공 실거래 빅데이터를 자동으로 수집 · 학습해 </a:t>
            </a:r>
            <a:r>
              <a:rPr sz="1700" b="1">
                <a:solidFill>
                  <a:srgbClr val="F5C59F"/>
                </a:solidFill>
                <a:latin typeface="맑은 고딕"/>
                <a:ea typeface="맑은 고딕"/>
                <a:cs typeface="맑은 고딕"/>
              </a:rPr>
              <a:t>AI 적정가</a:t>
            </a:r>
            <a:r>
              <a:rPr sz="1700" b="1">
                <a:solidFill>
                  <a:srgbClr val="FFFFFF"/>
                </a:solidFill>
                <a:latin typeface="맑은 고딕"/>
                <a:ea typeface="맑은 고딕"/>
                <a:cs typeface="맑은 고딕"/>
              </a:rPr>
              <a:t> 와 </a:t>
            </a:r>
            <a:r>
              <a:rPr sz="1700" b="1">
                <a:solidFill>
                  <a:srgbClr val="F5C59F"/>
                </a:solidFill>
                <a:latin typeface="맑은 고딕"/>
                <a:ea typeface="맑은 고딕"/>
                <a:cs typeface="맑은 고딕"/>
              </a:rPr>
              <a:t>실제 거래 기록</a:t>
            </a:r>
            <a:r>
              <a:rPr sz="1700" b="1">
                <a:solidFill>
                  <a:srgbClr val="FFFFFF"/>
                </a:solidFill>
                <a:latin typeface="맑은 고딕"/>
                <a:ea typeface="맑은 고딕"/>
                <a:cs typeface="맑은 고딕"/>
              </a:rPr>
              <a:t> 으로 단지를 추천하자</a:t>
            </a:r>
          </a:p>
        </p:txBody>
      </p:sp>
      <p:sp>
        <p:nvSpPr>
          <p:cNvPr id="25" name="Rectangle 24"/>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01  프로젝트 개요</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프로젝트 목표와 핵심 기능</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5 / 20</a:t>
            </a:r>
          </a:p>
        </p:txBody>
      </p:sp>
      <p:sp>
        <p:nvSpPr>
          <p:cNvPr id="11" name="Pentagon 10"/>
          <p:cNvSpPr/>
          <p:nvPr/>
        </p:nvSpPr>
        <p:spPr>
          <a:xfrm>
            <a:off x="548640" y="1691640"/>
            <a:ext cx="2148840" cy="685800"/>
          </a:xfrm>
          <a:prstGeom prst="homePlate">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5800"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수집</a:t>
            </a:r>
          </a:p>
        </p:txBody>
      </p:sp>
      <p:sp>
        <p:nvSpPr>
          <p:cNvPr id="13" name="Rounded Rectangle 12"/>
          <p:cNvSpPr/>
          <p:nvPr/>
        </p:nvSpPr>
        <p:spPr>
          <a:xfrm>
            <a:off x="594360" y="2606040"/>
            <a:ext cx="2057400" cy="1874519"/>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94360" y="2743200"/>
            <a:ext cx="2057400" cy="411480"/>
          </a:xfrm>
          <a:prstGeom prst="rect">
            <a:avLst/>
          </a:prstGeom>
          <a:noFill/>
        </p:spPr>
        <p:txBody>
          <a:bodyPr wrap="square" anchor="t" lIns="45720" rIns="45720">
            <a:spAutoFit/>
          </a:bodyPr>
          <a:lstStyle/>
          <a:p>
            <a:pPr algn="ctr">
              <a:lnSpc>
                <a:spcPct val="115000"/>
              </a:lnSpc>
            </a:pPr>
            <a:r>
              <a:rPr sz="1600" b="1">
                <a:solidFill>
                  <a:srgbClr val="086B9B"/>
                </a:solidFill>
                <a:latin typeface="맑은 고딕"/>
                <a:ea typeface="맑은 고딕"/>
                <a:cs typeface="맑은 고딕"/>
              </a:rPr>
              <a:t>공공 API 크롤링</a:t>
            </a:r>
          </a:p>
        </p:txBody>
      </p:sp>
      <p:sp>
        <p:nvSpPr>
          <p:cNvPr id="15" name="TextBox 14"/>
          <p:cNvSpPr txBox="1"/>
          <p:nvPr/>
        </p:nvSpPr>
        <p:spPr>
          <a:xfrm>
            <a:off x="594360" y="3200400"/>
            <a:ext cx="2057400" cy="1188720"/>
          </a:xfrm>
          <a:prstGeom prst="rect">
            <a:avLst/>
          </a:prstGeom>
          <a:noFill/>
        </p:spPr>
        <p:txBody>
          <a:bodyPr wrap="square" anchor="t" lIns="45720" rIns="45720">
            <a:spAutoFit/>
          </a:bodyPr>
          <a:lstStyle/>
          <a:p>
            <a:pPr algn="ctr">
              <a:lnSpc>
                <a:spcPct val="135000"/>
              </a:lnSpc>
            </a:pPr>
            <a:r>
              <a:rPr sz="1250" b="0">
                <a:solidFill>
                  <a:srgbClr val="213440"/>
                </a:solidFill>
                <a:latin typeface="맑은 고딕"/>
                <a:ea typeface="맑은 고딕"/>
                <a:cs typeface="맑은 고딕"/>
              </a:rPr>
              <a:t>수도권 83개 시·군·구
최근 6개월 실거래</a:t>
            </a:r>
          </a:p>
        </p:txBody>
      </p:sp>
      <p:sp>
        <p:nvSpPr>
          <p:cNvPr id="16" name="Chevron 15"/>
          <p:cNvSpPr/>
          <p:nvPr/>
        </p:nvSpPr>
        <p:spPr>
          <a:xfrm>
            <a:off x="2807208" y="1691640"/>
            <a:ext cx="2148840" cy="685800"/>
          </a:xfrm>
          <a:prstGeom prst="chevron">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944368"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분석</a:t>
            </a:r>
          </a:p>
        </p:txBody>
      </p:sp>
      <p:sp>
        <p:nvSpPr>
          <p:cNvPr id="18" name="Rounded Rectangle 17"/>
          <p:cNvSpPr/>
          <p:nvPr/>
        </p:nvSpPr>
        <p:spPr>
          <a:xfrm>
            <a:off x="2852928" y="2606040"/>
            <a:ext cx="2057400" cy="1874519"/>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852928" y="2743200"/>
            <a:ext cx="2057400" cy="411480"/>
          </a:xfrm>
          <a:prstGeom prst="rect">
            <a:avLst/>
          </a:prstGeom>
          <a:noFill/>
        </p:spPr>
        <p:txBody>
          <a:bodyPr wrap="square" anchor="t" lIns="45720" rIns="45720">
            <a:spAutoFit/>
          </a:bodyPr>
          <a:lstStyle/>
          <a:p>
            <a:pPr algn="ctr">
              <a:lnSpc>
                <a:spcPct val="115000"/>
              </a:lnSpc>
            </a:pPr>
            <a:r>
              <a:rPr sz="1600" b="1">
                <a:solidFill>
                  <a:srgbClr val="BD7148"/>
                </a:solidFill>
                <a:latin typeface="맑은 고딕"/>
                <a:ea typeface="맑은 고딕"/>
                <a:cs typeface="맑은 고딕"/>
              </a:rPr>
              <a:t>AI 학습</a:t>
            </a:r>
          </a:p>
        </p:txBody>
      </p:sp>
      <p:sp>
        <p:nvSpPr>
          <p:cNvPr id="20" name="TextBox 19"/>
          <p:cNvSpPr txBox="1"/>
          <p:nvPr/>
        </p:nvSpPr>
        <p:spPr>
          <a:xfrm>
            <a:off x="2852928" y="3200400"/>
            <a:ext cx="2057400" cy="1188720"/>
          </a:xfrm>
          <a:prstGeom prst="rect">
            <a:avLst/>
          </a:prstGeom>
          <a:noFill/>
        </p:spPr>
        <p:txBody>
          <a:bodyPr wrap="square" anchor="t" lIns="45720" rIns="45720">
            <a:spAutoFit/>
          </a:bodyPr>
          <a:lstStyle/>
          <a:p>
            <a:pPr algn="ctr">
              <a:lnSpc>
                <a:spcPct val="135000"/>
              </a:lnSpc>
            </a:pPr>
            <a:r>
              <a:rPr sz="1250" b="0">
                <a:solidFill>
                  <a:srgbClr val="213440"/>
                </a:solidFill>
                <a:latin typeface="맑은 고딕"/>
                <a:ea typeface="맑은 고딕"/>
                <a:cs typeface="맑은 고딕"/>
              </a:rPr>
              <a:t>RandomForest 적정가
KMeans 단지 유형</a:t>
            </a:r>
          </a:p>
        </p:txBody>
      </p:sp>
      <p:sp>
        <p:nvSpPr>
          <p:cNvPr id="21" name="Chevron 20"/>
          <p:cNvSpPr/>
          <p:nvPr/>
        </p:nvSpPr>
        <p:spPr>
          <a:xfrm>
            <a:off x="5065776" y="1691640"/>
            <a:ext cx="2148840" cy="685800"/>
          </a:xfrm>
          <a:prstGeom prst="chevron">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02936"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서비스</a:t>
            </a:r>
          </a:p>
        </p:txBody>
      </p:sp>
      <p:sp>
        <p:nvSpPr>
          <p:cNvPr id="23" name="Rounded Rectangle 22"/>
          <p:cNvSpPr/>
          <p:nvPr/>
        </p:nvSpPr>
        <p:spPr>
          <a:xfrm>
            <a:off x="5111496" y="2606040"/>
            <a:ext cx="2057400" cy="1874519"/>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111496" y="2743200"/>
            <a:ext cx="2057400" cy="411480"/>
          </a:xfrm>
          <a:prstGeom prst="rect">
            <a:avLst/>
          </a:prstGeom>
          <a:noFill/>
        </p:spPr>
        <p:txBody>
          <a:bodyPr wrap="square" anchor="t" lIns="45720" rIns="45720">
            <a:spAutoFit/>
          </a:bodyPr>
          <a:lstStyle/>
          <a:p>
            <a:pPr algn="ctr">
              <a:lnSpc>
                <a:spcPct val="115000"/>
              </a:lnSpc>
            </a:pPr>
            <a:r>
              <a:rPr sz="1600" b="1">
                <a:solidFill>
                  <a:srgbClr val="173649"/>
                </a:solidFill>
                <a:latin typeface="맑은 고딕"/>
                <a:ea typeface="맑은 고딕"/>
                <a:cs typeface="맑은 고딕"/>
              </a:rPr>
              <a:t>AI 단지 추천</a:t>
            </a:r>
          </a:p>
        </p:txBody>
      </p:sp>
      <p:sp>
        <p:nvSpPr>
          <p:cNvPr id="25" name="TextBox 24"/>
          <p:cNvSpPr txBox="1"/>
          <p:nvPr/>
        </p:nvSpPr>
        <p:spPr>
          <a:xfrm>
            <a:off x="5111496" y="3200400"/>
            <a:ext cx="2057400" cy="1188720"/>
          </a:xfrm>
          <a:prstGeom prst="rect">
            <a:avLst/>
          </a:prstGeom>
          <a:noFill/>
        </p:spPr>
        <p:txBody>
          <a:bodyPr wrap="square" anchor="t" lIns="45720" rIns="45720">
            <a:spAutoFit/>
          </a:bodyPr>
          <a:lstStyle/>
          <a:p>
            <a:pPr algn="ctr">
              <a:lnSpc>
                <a:spcPct val="135000"/>
              </a:lnSpc>
            </a:pPr>
            <a:r>
              <a:rPr sz="1250" b="0">
                <a:solidFill>
                  <a:srgbClr val="213440"/>
                </a:solidFill>
                <a:latin typeface="맑은 고딕"/>
                <a:ea typeface="맑은 고딕"/>
                <a:cs typeface="맑은 고딕"/>
              </a:rPr>
              <a:t>예산 · 방 수 · 지역
맞춤 순위 + 근거</a:t>
            </a:r>
          </a:p>
        </p:txBody>
      </p:sp>
      <p:sp>
        <p:nvSpPr>
          <p:cNvPr id="26" name="Chevron 25"/>
          <p:cNvSpPr/>
          <p:nvPr/>
        </p:nvSpPr>
        <p:spPr>
          <a:xfrm>
            <a:off x="7324344" y="1691640"/>
            <a:ext cx="2148840" cy="685800"/>
          </a:xfrm>
          <a:prstGeom prst="chevron">
            <a:avLst/>
          </a:prstGeom>
          <a:solidFill>
            <a:srgbClr val="357E72"/>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61504"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시각화</a:t>
            </a:r>
          </a:p>
        </p:txBody>
      </p:sp>
      <p:sp>
        <p:nvSpPr>
          <p:cNvPr id="28" name="Rounded Rectangle 27"/>
          <p:cNvSpPr/>
          <p:nvPr/>
        </p:nvSpPr>
        <p:spPr>
          <a:xfrm>
            <a:off x="7370064" y="2606040"/>
            <a:ext cx="2057400" cy="1874519"/>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370064" y="2743200"/>
            <a:ext cx="2057400" cy="411480"/>
          </a:xfrm>
          <a:prstGeom prst="rect">
            <a:avLst/>
          </a:prstGeom>
          <a:noFill/>
        </p:spPr>
        <p:txBody>
          <a:bodyPr wrap="square" anchor="t" lIns="45720" rIns="45720">
            <a:spAutoFit/>
          </a:bodyPr>
          <a:lstStyle/>
          <a:p>
            <a:pPr algn="ctr">
              <a:lnSpc>
                <a:spcPct val="115000"/>
              </a:lnSpc>
            </a:pPr>
            <a:r>
              <a:rPr sz="1600" b="1">
                <a:solidFill>
                  <a:srgbClr val="357E72"/>
                </a:solidFill>
                <a:latin typeface="맑은 고딕"/>
                <a:ea typeface="맑은 고딕"/>
                <a:cs typeface="맑은 고딕"/>
              </a:rPr>
              <a:t>분석 리포트</a:t>
            </a:r>
          </a:p>
        </p:txBody>
      </p:sp>
      <p:sp>
        <p:nvSpPr>
          <p:cNvPr id="30" name="TextBox 29"/>
          <p:cNvSpPr txBox="1"/>
          <p:nvPr/>
        </p:nvSpPr>
        <p:spPr>
          <a:xfrm>
            <a:off x="7370064" y="3200400"/>
            <a:ext cx="2057400" cy="1188720"/>
          </a:xfrm>
          <a:prstGeom prst="rect">
            <a:avLst/>
          </a:prstGeom>
          <a:noFill/>
        </p:spPr>
        <p:txBody>
          <a:bodyPr wrap="square" anchor="t" lIns="45720" rIns="45720">
            <a:spAutoFit/>
          </a:bodyPr>
          <a:lstStyle/>
          <a:p>
            <a:pPr algn="ctr">
              <a:lnSpc>
                <a:spcPct val="135000"/>
              </a:lnSpc>
            </a:pPr>
            <a:r>
              <a:rPr sz="1250" b="0">
                <a:solidFill>
                  <a:srgbClr val="213440"/>
                </a:solidFill>
                <a:latin typeface="맑은 고딕"/>
                <a:ea typeface="맑은 고딕"/>
                <a:cs typeface="맑은 고딕"/>
              </a:rPr>
              <a:t>월별 추이 · 가격 요인
시·군·구 순위 (Plotly)</a:t>
            </a:r>
          </a:p>
        </p:txBody>
      </p:sp>
      <p:sp>
        <p:nvSpPr>
          <p:cNvPr id="31" name="Chevron 30"/>
          <p:cNvSpPr/>
          <p:nvPr/>
        </p:nvSpPr>
        <p:spPr>
          <a:xfrm>
            <a:off x="9582912" y="1691640"/>
            <a:ext cx="2148840" cy="685800"/>
          </a:xfrm>
          <a:prstGeom prst="chevron">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720072" y="1691640"/>
            <a:ext cx="1920240" cy="685800"/>
          </a:xfrm>
          <a:prstGeom prst="rect">
            <a:avLst/>
          </a:prstGeom>
          <a:noFill/>
        </p:spPr>
        <p:txBody>
          <a:bodyPr wrap="square" anchor="ctr" lIns="45720" rIns="45720">
            <a:spAutoFit/>
          </a:bodyPr>
          <a:lstStyle/>
          <a:p>
            <a:pPr algn="ctr">
              <a:lnSpc>
                <a:spcPct val="115000"/>
              </a:lnSpc>
            </a:pPr>
            <a:r>
              <a:rPr sz="1700" b="1">
                <a:solidFill>
                  <a:srgbClr val="FFFFFF"/>
                </a:solidFill>
                <a:latin typeface="맑은 고딕"/>
                <a:ea typeface="맑은 고딕"/>
                <a:cs typeface="맑은 고딕"/>
              </a:rPr>
              <a:t>자동화</a:t>
            </a:r>
          </a:p>
        </p:txBody>
      </p:sp>
      <p:sp>
        <p:nvSpPr>
          <p:cNvPr id="33" name="Rounded Rectangle 32"/>
          <p:cNvSpPr/>
          <p:nvPr/>
        </p:nvSpPr>
        <p:spPr>
          <a:xfrm>
            <a:off x="9628632" y="2606040"/>
            <a:ext cx="2057400" cy="1874519"/>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28632" y="2743200"/>
            <a:ext cx="2057400" cy="411480"/>
          </a:xfrm>
          <a:prstGeom prst="rect">
            <a:avLst/>
          </a:prstGeom>
          <a:noFill/>
        </p:spPr>
        <p:txBody>
          <a:bodyPr wrap="square" anchor="t" lIns="45720" rIns="45720">
            <a:spAutoFit/>
          </a:bodyPr>
          <a:lstStyle/>
          <a:p>
            <a:pPr algn="ctr">
              <a:lnSpc>
                <a:spcPct val="115000"/>
              </a:lnSpc>
            </a:pPr>
            <a:r>
              <a:rPr sz="1600" b="1">
                <a:solidFill>
                  <a:srgbClr val="086B9B"/>
                </a:solidFill>
                <a:latin typeface="맑은 고딕"/>
                <a:ea typeface="맑은 고딕"/>
                <a:cs typeface="맑은 고딕"/>
              </a:rPr>
              <a:t>원클릭 재학습</a:t>
            </a:r>
          </a:p>
        </p:txBody>
      </p:sp>
      <p:sp>
        <p:nvSpPr>
          <p:cNvPr id="35" name="TextBox 34"/>
          <p:cNvSpPr txBox="1"/>
          <p:nvPr/>
        </p:nvSpPr>
        <p:spPr>
          <a:xfrm>
            <a:off x="9628632" y="3200400"/>
            <a:ext cx="2057400" cy="1188720"/>
          </a:xfrm>
          <a:prstGeom prst="rect">
            <a:avLst/>
          </a:prstGeom>
          <a:noFill/>
        </p:spPr>
        <p:txBody>
          <a:bodyPr wrap="square" anchor="t" lIns="45720" rIns="45720">
            <a:spAutoFit/>
          </a:bodyPr>
          <a:lstStyle/>
          <a:p>
            <a:pPr algn="ctr">
              <a:lnSpc>
                <a:spcPct val="135000"/>
              </a:lnSpc>
            </a:pPr>
            <a:r>
              <a:rPr sz="1250" b="0">
                <a:solidFill>
                  <a:srgbClr val="213440"/>
                </a:solidFill>
                <a:latin typeface="맑은 고딕"/>
                <a:ea typeface="맑은 고딕"/>
                <a:cs typeface="맑은 고딕"/>
              </a:rPr>
              <a:t>버튼 한 번에 수집→학습
→반영 (약 2분 30초)</a:t>
            </a:r>
          </a:p>
        </p:txBody>
      </p:sp>
      <p:sp>
        <p:nvSpPr>
          <p:cNvPr id="36" name="TextBox 35"/>
          <p:cNvSpPr txBox="1"/>
          <p:nvPr/>
        </p:nvSpPr>
        <p:spPr>
          <a:xfrm>
            <a:off x="548640" y="4709160"/>
            <a:ext cx="10972800" cy="365760"/>
          </a:xfrm>
          <a:prstGeom prst="rect">
            <a:avLst/>
          </a:prstGeom>
          <a:noFill/>
        </p:spPr>
        <p:txBody>
          <a:bodyPr wrap="square" anchor="t" lIns="45720" rIns="45720">
            <a:spAutoFit/>
          </a:bodyPr>
          <a:lstStyle/>
          <a:p>
            <a:pPr algn="l">
              <a:lnSpc>
                <a:spcPct val="115000"/>
              </a:lnSpc>
            </a:pPr>
            <a:r>
              <a:rPr sz="1400" b="1">
                <a:solidFill>
                  <a:srgbClr val="173649"/>
                </a:solidFill>
                <a:latin typeface="맑은 고딕"/>
                <a:ea typeface="맑은 고딕"/>
                <a:cs typeface="맑은 고딕"/>
              </a:rPr>
              <a:t>함께 구현한 서비스 기능</a:t>
            </a:r>
          </a:p>
        </p:txBody>
      </p:sp>
      <p:sp>
        <p:nvSpPr>
          <p:cNvPr id="37" name="Rounded Rectangle 36"/>
          <p:cNvSpPr/>
          <p:nvPr/>
        </p:nvSpPr>
        <p:spPr>
          <a:xfrm>
            <a:off x="548640" y="5120640"/>
            <a:ext cx="2834640" cy="457200"/>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48640" y="5120640"/>
            <a:ext cx="2834640" cy="457200"/>
          </a:xfrm>
          <a:prstGeom prst="rect">
            <a:avLst/>
          </a:prstGeom>
          <a:noFill/>
        </p:spPr>
        <p:txBody>
          <a:bodyPr wrap="square" anchor="ctr" lIns="73152" rIns="73152" tIns="73152" bIns="73152">
            <a:spAutoFit/>
          </a:bodyPr>
          <a:lstStyle/>
          <a:p>
            <a:pPr algn="ctr">
              <a:lnSpc>
                <a:spcPct val="115000"/>
              </a:lnSpc>
            </a:pPr>
            <a:r>
              <a:rPr sz="1200" b="1">
                <a:solidFill>
                  <a:srgbClr val="086B9B"/>
                </a:solidFill>
                <a:latin typeface="맑은 고딕"/>
                <a:ea typeface="맑은 고딕"/>
                <a:cs typeface="맑은 고딕"/>
              </a:rPr>
              <a:t>4단계 회원가입 (Firebase 휴대폰 인증)</a:t>
            </a:r>
          </a:p>
        </p:txBody>
      </p:sp>
      <p:sp>
        <p:nvSpPr>
          <p:cNvPr id="39" name="Rounded Rectangle 38"/>
          <p:cNvSpPr/>
          <p:nvPr/>
        </p:nvSpPr>
        <p:spPr>
          <a:xfrm>
            <a:off x="3429000" y="5120640"/>
            <a:ext cx="2697480" cy="457200"/>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429000" y="5120640"/>
            <a:ext cx="2697480" cy="457200"/>
          </a:xfrm>
          <a:prstGeom prst="rect">
            <a:avLst/>
          </a:prstGeom>
          <a:noFill/>
        </p:spPr>
        <p:txBody>
          <a:bodyPr wrap="square" anchor="ctr" lIns="73152" rIns="73152" tIns="73152" bIns="73152">
            <a:spAutoFit/>
          </a:bodyPr>
          <a:lstStyle/>
          <a:p>
            <a:pPr algn="ctr">
              <a:lnSpc>
                <a:spcPct val="115000"/>
              </a:lnSpc>
            </a:pPr>
            <a:r>
              <a:rPr sz="1200" b="1">
                <a:solidFill>
                  <a:srgbClr val="086B9B"/>
                </a:solidFill>
                <a:latin typeface="맑은 고딕"/>
                <a:ea typeface="맑은 고딕"/>
                <a:cs typeface="맑은 고딕"/>
              </a:rPr>
              <a:t>카카오 · 네이버 · 구글 소셜 로그인</a:t>
            </a:r>
          </a:p>
        </p:txBody>
      </p:sp>
      <p:sp>
        <p:nvSpPr>
          <p:cNvPr id="41" name="Rounded Rectangle 40"/>
          <p:cNvSpPr/>
          <p:nvPr/>
        </p:nvSpPr>
        <p:spPr>
          <a:xfrm>
            <a:off x="6172200" y="5120640"/>
            <a:ext cx="2057400" cy="457200"/>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172200" y="5120640"/>
            <a:ext cx="2057400" cy="457200"/>
          </a:xfrm>
          <a:prstGeom prst="rect">
            <a:avLst/>
          </a:prstGeom>
          <a:noFill/>
        </p:spPr>
        <p:txBody>
          <a:bodyPr wrap="square" anchor="ctr" lIns="73152" rIns="73152" tIns="73152" bIns="73152">
            <a:spAutoFit/>
          </a:bodyPr>
          <a:lstStyle/>
          <a:p>
            <a:pPr algn="ctr">
              <a:lnSpc>
                <a:spcPct val="115000"/>
              </a:lnSpc>
            </a:pPr>
            <a:r>
              <a:rPr sz="1200" b="1">
                <a:solidFill>
                  <a:srgbClr val="086B9B"/>
                </a:solidFill>
                <a:latin typeface="맑은 고딕"/>
                <a:ea typeface="맑은 고딕"/>
                <a:cs typeface="맑은 고딕"/>
              </a:rPr>
              <a:t>BCrypt 비밀번호 암호화</a:t>
            </a:r>
          </a:p>
        </p:txBody>
      </p:sp>
      <p:sp>
        <p:nvSpPr>
          <p:cNvPr id="43" name="Rounded Rectangle 42"/>
          <p:cNvSpPr/>
          <p:nvPr/>
        </p:nvSpPr>
        <p:spPr>
          <a:xfrm>
            <a:off x="8275320" y="5120640"/>
            <a:ext cx="1325880" cy="457200"/>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275320" y="5120640"/>
            <a:ext cx="1325880" cy="457200"/>
          </a:xfrm>
          <a:prstGeom prst="rect">
            <a:avLst/>
          </a:prstGeom>
          <a:noFill/>
        </p:spPr>
        <p:txBody>
          <a:bodyPr wrap="square" anchor="ctr" lIns="73152" rIns="73152" tIns="73152" bIns="73152">
            <a:spAutoFit/>
          </a:bodyPr>
          <a:lstStyle/>
          <a:p>
            <a:pPr algn="ctr">
              <a:lnSpc>
                <a:spcPct val="115000"/>
              </a:lnSpc>
            </a:pPr>
            <a:r>
              <a:rPr sz="1200" b="1">
                <a:solidFill>
                  <a:srgbClr val="086B9B"/>
                </a:solidFill>
                <a:latin typeface="맑은 고딕"/>
                <a:ea typeface="맑은 고딕"/>
                <a:cs typeface="맑은 고딕"/>
              </a:rPr>
              <a:t>Q&amp;A 게시판</a:t>
            </a:r>
          </a:p>
        </p:txBody>
      </p:sp>
      <p:sp>
        <p:nvSpPr>
          <p:cNvPr id="45" name="Rounded Rectangle 44"/>
          <p:cNvSpPr/>
          <p:nvPr/>
        </p:nvSpPr>
        <p:spPr>
          <a:xfrm>
            <a:off x="9646919" y="5120640"/>
            <a:ext cx="2011680" cy="457200"/>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646919" y="5120640"/>
            <a:ext cx="2011680" cy="457200"/>
          </a:xfrm>
          <a:prstGeom prst="rect">
            <a:avLst/>
          </a:prstGeom>
          <a:noFill/>
        </p:spPr>
        <p:txBody>
          <a:bodyPr wrap="square" anchor="ctr" lIns="73152" rIns="73152" tIns="73152" bIns="73152">
            <a:spAutoFit/>
          </a:bodyPr>
          <a:lstStyle/>
          <a:p>
            <a:pPr algn="ctr">
              <a:lnSpc>
                <a:spcPct val="115000"/>
              </a:lnSpc>
            </a:pPr>
            <a:r>
              <a:rPr sz="1200" b="1">
                <a:solidFill>
                  <a:srgbClr val="086B9B"/>
                </a:solidFill>
                <a:latin typeface="맑은 고딕"/>
                <a:ea typeface="맑은 고딕"/>
                <a:cs typeface="맑은 고딕"/>
              </a:rPr>
              <a:t>Render · EC2 자동 배포</a:t>
            </a:r>
          </a:p>
        </p:txBody>
      </p:sp>
      <p:sp>
        <p:nvSpPr>
          <p:cNvPr id="47" name="TextBox 46"/>
          <p:cNvSpPr txBox="1"/>
          <p:nvPr/>
        </p:nvSpPr>
        <p:spPr>
          <a:xfrm>
            <a:off x="548640" y="5760720"/>
            <a:ext cx="11064240" cy="457200"/>
          </a:xfrm>
          <a:prstGeom prst="rect">
            <a:avLst/>
          </a:prstGeom>
          <a:noFill/>
        </p:spPr>
        <p:txBody>
          <a:bodyPr wrap="square" anchor="t" lIns="45720" rIns="45720">
            <a:spAutoFit/>
          </a:bodyPr>
          <a:lstStyle/>
          <a:p>
            <a:pPr algn="l">
              <a:lnSpc>
                <a:spcPct val="115000"/>
              </a:lnSpc>
            </a:pPr>
            <a:r>
              <a:rPr sz="1200" b="0">
                <a:solidFill>
                  <a:srgbClr val="60717B"/>
                </a:solidFill>
                <a:latin typeface="맑은 고딕"/>
                <a:ea typeface="맑은 고딕"/>
                <a:cs typeface="맑은 고딕"/>
              </a:rPr>
              <a:t>※ 실거래 데이터는 이미 거래가 끝난 기록이며, 현재 판매 중인 매물과 다를 수 있음을 화면에 명시했습니다.</a:t>
            </a:r>
          </a:p>
        </p:txBody>
      </p:sp>
      <p:sp>
        <p:nvSpPr>
          <p:cNvPr id="48" name="Rectangle 47"/>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02  시스템 설계</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시스템 아키텍처</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6 / 20</a:t>
            </a:r>
          </a:p>
        </p:txBody>
      </p:sp>
      <p:sp>
        <p:nvSpPr>
          <p:cNvPr id="11" name="Rounded Rectangle 10"/>
          <p:cNvSpPr/>
          <p:nvPr/>
        </p:nvSpPr>
        <p:spPr>
          <a:xfrm>
            <a:off x="548640" y="2788920"/>
            <a:ext cx="1417320" cy="1188720"/>
          </a:xfrm>
          <a:prstGeom prst="roundRect">
            <a:avLst>
              <a:gd name="adj" fmla="val 8000"/>
            </a:avLst>
          </a:prstGeom>
          <a:solidFill>
            <a:srgbClr val="F3F0E9"/>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788920"/>
            <a:ext cx="1417320" cy="1188720"/>
          </a:xfrm>
          <a:prstGeom prst="rect">
            <a:avLst/>
          </a:prstGeom>
          <a:noFill/>
        </p:spPr>
        <p:txBody>
          <a:bodyPr wrap="square" anchor="ctr" lIns="73152" rIns="73152" tIns="73152" bIns="73152">
            <a:spAutoFit/>
          </a:bodyPr>
          <a:lstStyle/>
          <a:p>
            <a:pPr algn="ctr">
              <a:lnSpc>
                <a:spcPct val="115000"/>
              </a:lnSpc>
            </a:pPr>
            <a:r>
              <a:rPr sz="1500" b="1">
                <a:solidFill>
                  <a:srgbClr val="173649"/>
                </a:solidFill>
                <a:latin typeface="맑은 고딕"/>
                <a:ea typeface="맑은 고딕"/>
                <a:cs typeface="맑은 고딕"/>
              </a:rPr>
              <a:t>사용자</a:t>
            </a:r>
          </a:p>
          <a:p>
            <a:pPr algn="ctr">
              <a:lnSpc>
                <a:spcPct val="115000"/>
              </a:lnSpc>
            </a:pPr>
            <a:r>
              <a:rPr sz="1100" b="0">
                <a:solidFill>
                  <a:srgbClr val="60717B"/>
                </a:solidFill>
                <a:latin typeface="맑은 고딕"/>
                <a:ea typeface="맑은 고딕"/>
                <a:cs typeface="맑은 고딕"/>
              </a:rPr>
              <a:t>PC · 모바일</a:t>
            </a:r>
          </a:p>
        </p:txBody>
      </p:sp>
      <p:sp>
        <p:nvSpPr>
          <p:cNvPr id="13" name="Rounded Rectangle 12"/>
          <p:cNvSpPr/>
          <p:nvPr/>
        </p:nvSpPr>
        <p:spPr>
          <a:xfrm>
            <a:off x="2331720" y="1554480"/>
            <a:ext cx="3246120" cy="3657600"/>
          </a:xfrm>
          <a:prstGeom prst="roundRect">
            <a:avLst>
              <a:gd name="adj" fmla="val 4000"/>
            </a:avLst>
          </a:prstGeom>
          <a:noFill/>
          <a:ln w="12700">
            <a:solidFill>
              <a:srgbClr val="086B9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468880" y="1600200"/>
            <a:ext cx="3017520" cy="320040"/>
          </a:xfrm>
          <a:prstGeom prst="rect">
            <a:avLst/>
          </a:prstGeom>
          <a:noFill/>
        </p:spPr>
        <p:txBody>
          <a:bodyPr wrap="square" anchor="t" lIns="45720" rIns="45720">
            <a:spAutoFit/>
          </a:bodyPr>
          <a:lstStyle/>
          <a:p>
            <a:pPr algn="l">
              <a:lnSpc>
                <a:spcPct val="115000"/>
              </a:lnSpc>
            </a:pPr>
            <a:r>
              <a:rPr sz="1100" b="1">
                <a:solidFill>
                  <a:srgbClr val="086B9B"/>
                </a:solidFill>
                <a:latin typeface="맑은 고딕"/>
                <a:ea typeface="맑은 고딕"/>
                <a:cs typeface="맑은 고딕"/>
              </a:rPr>
              <a:t>운영 서버 (같은 코드 · 같은 저장소)</a:t>
            </a:r>
          </a:p>
        </p:txBody>
      </p:sp>
      <p:sp>
        <p:nvSpPr>
          <p:cNvPr id="15" name="Rounded Rectangle 14"/>
          <p:cNvSpPr/>
          <p:nvPr/>
        </p:nvSpPr>
        <p:spPr>
          <a:xfrm>
            <a:off x="2560320" y="1965960"/>
            <a:ext cx="2788920" cy="960120"/>
          </a:xfrm>
          <a:prstGeom prst="roundRect">
            <a:avLst>
              <a:gd name="adj" fmla="val 8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60320" y="1965960"/>
            <a:ext cx="2788920" cy="960120"/>
          </a:xfrm>
          <a:prstGeom prst="rect">
            <a:avLst/>
          </a:prstGeom>
          <a:noFill/>
        </p:spPr>
        <p:txBody>
          <a:bodyPr wrap="square" anchor="ctr" lIns="73152" rIns="73152" tIns="73152" bIns="73152">
            <a:spAutoFit/>
          </a:bodyPr>
          <a:lstStyle/>
          <a:p>
            <a:pPr algn="ctr">
              <a:lnSpc>
                <a:spcPct val="115000"/>
              </a:lnSpc>
            </a:pPr>
            <a:r>
              <a:rPr sz="1400" b="1">
                <a:solidFill>
                  <a:srgbClr val="173649"/>
                </a:solidFill>
                <a:latin typeface="맑은 고딕"/>
                <a:ea typeface="맑은 고딕"/>
                <a:cs typeface="맑은 고딕"/>
              </a:rPr>
              <a:t>Render</a:t>
            </a:r>
          </a:p>
          <a:p>
            <a:pPr algn="ctr">
              <a:lnSpc>
                <a:spcPct val="115000"/>
              </a:lnSpc>
            </a:pPr>
            <a:r>
              <a:rPr sz="1000" b="0">
                <a:solidFill>
                  <a:srgbClr val="60717B"/>
                </a:solidFill>
                <a:latin typeface="맑은 고딕"/>
                <a:ea typeface="맑은 고딕"/>
                <a:cs typeface="맑은 고딕"/>
              </a:rPr>
              <a:t>homepick.onrender.com</a:t>
            </a:r>
          </a:p>
          <a:p>
            <a:pPr algn="ctr">
              <a:lnSpc>
                <a:spcPct val="115000"/>
              </a:lnSpc>
            </a:pPr>
            <a:r>
              <a:rPr sz="1000" b="0">
                <a:solidFill>
                  <a:srgbClr val="60717B"/>
                </a:solidFill>
                <a:latin typeface="맑은 고딕"/>
                <a:ea typeface="맑은 고딕"/>
                <a:cs typeface="맑은 고딕"/>
              </a:rPr>
              <a:t>Docker 컨테이너</a:t>
            </a:r>
          </a:p>
        </p:txBody>
      </p:sp>
      <p:sp>
        <p:nvSpPr>
          <p:cNvPr id="17" name="Rounded Rectangle 16"/>
          <p:cNvSpPr/>
          <p:nvPr/>
        </p:nvSpPr>
        <p:spPr>
          <a:xfrm>
            <a:off x="2560320" y="3108960"/>
            <a:ext cx="2788920" cy="1874519"/>
          </a:xfrm>
          <a:prstGeom prst="roundRect">
            <a:avLst>
              <a:gd name="adj" fmla="val 8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560320" y="3108960"/>
            <a:ext cx="2788920" cy="1874519"/>
          </a:xfrm>
          <a:prstGeom prst="rect">
            <a:avLst/>
          </a:prstGeom>
          <a:noFill/>
        </p:spPr>
        <p:txBody>
          <a:bodyPr wrap="square" anchor="ctr" lIns="73152" rIns="73152" tIns="73152" bIns="73152">
            <a:spAutoFit/>
          </a:bodyPr>
          <a:lstStyle/>
          <a:p>
            <a:pPr algn="ctr">
              <a:lnSpc>
                <a:spcPct val="115000"/>
              </a:lnSpc>
            </a:pPr>
            <a:r>
              <a:rPr sz="1400" b="1">
                <a:solidFill>
                  <a:srgbClr val="173649"/>
                </a:solidFill>
                <a:latin typeface="맑은 고딕"/>
                <a:ea typeface="맑은 고딕"/>
                <a:cs typeface="맑은 고딕"/>
              </a:rPr>
              <a:t>AWS EC2 (Ubuntu)</a:t>
            </a:r>
          </a:p>
          <a:p>
            <a:pPr algn="ctr">
              <a:lnSpc>
                <a:spcPct val="115000"/>
              </a:lnSpc>
            </a:pPr>
            <a:r>
              <a:rPr sz="1000" b="0">
                <a:solidFill>
                  <a:srgbClr val="60717B"/>
                </a:solidFill>
                <a:latin typeface="맑은 고딕"/>
                <a:ea typeface="맑은 고딕"/>
                <a:cs typeface="맑은 고딕"/>
              </a:rPr>
              <a:t>homepickkr.duckdns.org</a:t>
            </a:r>
          </a:p>
          <a:p>
            <a:pPr algn="ctr">
              <a:lnSpc>
                <a:spcPct val="115000"/>
              </a:lnSpc>
            </a:pPr>
            <a:r>
              <a:rPr sz="1100" b="0">
                <a:solidFill>
                  <a:srgbClr val="213440"/>
                </a:solidFill>
                <a:latin typeface="맑은 고딕"/>
                <a:ea typeface="맑은 고딕"/>
                <a:cs typeface="맑은 고딕"/>
              </a:rPr>
              <a:t>nginx + Let's Encrypt SSL</a:t>
            </a:r>
          </a:p>
          <a:p>
            <a:pPr algn="ctr">
              <a:lnSpc>
                <a:spcPct val="115000"/>
              </a:lnSpc>
            </a:pPr>
            <a:r>
              <a:rPr sz="1100" b="1">
                <a:solidFill>
                  <a:srgbClr val="086B9B"/>
                </a:solidFill>
                <a:latin typeface="맑은 고딕"/>
                <a:ea typeface="맑은 고딕"/>
                <a:cs typeface="맑은 고딕"/>
              </a:rPr>
              <a:t>↓</a:t>
            </a:r>
          </a:p>
          <a:p>
            <a:pPr algn="ctr">
              <a:lnSpc>
                <a:spcPct val="115000"/>
              </a:lnSpc>
            </a:pPr>
            <a:r>
              <a:rPr sz="1100" b="0">
                <a:solidFill>
                  <a:srgbClr val="213440"/>
                </a:solidFill>
                <a:latin typeface="맑은 고딕"/>
                <a:ea typeface="맑은 고딕"/>
                <a:cs typeface="맑은 고딕"/>
              </a:rPr>
              <a:t>Docker · Spring Boot :8080</a:t>
            </a:r>
          </a:p>
        </p:txBody>
      </p:sp>
      <p:sp>
        <p:nvSpPr>
          <p:cNvPr id="19" name="Rounded Rectangle 18"/>
          <p:cNvSpPr/>
          <p:nvPr/>
        </p:nvSpPr>
        <p:spPr>
          <a:xfrm>
            <a:off x="5989320" y="1554480"/>
            <a:ext cx="2377440" cy="3657600"/>
          </a:xfrm>
          <a:prstGeom prst="roundRect">
            <a:avLst>
              <a:gd name="adj" fmla="val 4000"/>
            </a:avLst>
          </a:prstGeom>
          <a:no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26480" y="1600200"/>
            <a:ext cx="2194560" cy="320040"/>
          </a:xfrm>
          <a:prstGeom prst="rect">
            <a:avLst/>
          </a:prstGeom>
          <a:noFill/>
        </p:spPr>
        <p:txBody>
          <a:bodyPr wrap="square" anchor="t" lIns="45720" rIns="45720">
            <a:spAutoFit/>
          </a:bodyPr>
          <a:lstStyle/>
          <a:p>
            <a:pPr algn="l">
              <a:lnSpc>
                <a:spcPct val="115000"/>
              </a:lnSpc>
            </a:pPr>
            <a:r>
              <a:rPr sz="1100" b="1">
                <a:solidFill>
                  <a:srgbClr val="60717B"/>
                </a:solidFill>
                <a:latin typeface="맑은 고딕"/>
                <a:ea typeface="맑은 고딕"/>
                <a:cs typeface="맑은 고딕"/>
              </a:rPr>
              <a:t>외부 서비스</a:t>
            </a:r>
          </a:p>
        </p:txBody>
      </p:sp>
      <p:sp>
        <p:nvSpPr>
          <p:cNvPr id="21" name="Rounded Rectangle 20"/>
          <p:cNvSpPr/>
          <p:nvPr/>
        </p:nvSpPr>
        <p:spPr>
          <a:xfrm>
            <a:off x="6172200" y="1965960"/>
            <a:ext cx="2011680" cy="914400"/>
          </a:xfrm>
          <a:prstGeom prst="roundRect">
            <a:avLst>
              <a:gd name="adj" fmla="val 8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72200" y="1965960"/>
            <a:ext cx="2011680" cy="914400"/>
          </a:xfrm>
          <a:prstGeom prst="rect">
            <a:avLst/>
          </a:prstGeom>
          <a:noFill/>
        </p:spPr>
        <p:txBody>
          <a:bodyPr wrap="square" anchor="ctr" lIns="73152" rIns="73152" tIns="73152" bIns="73152">
            <a:spAutoFit/>
          </a:bodyPr>
          <a:lstStyle/>
          <a:p>
            <a:pPr algn="ctr">
              <a:lnSpc>
                <a:spcPct val="115000"/>
              </a:lnSpc>
            </a:pPr>
            <a:r>
              <a:rPr sz="1300" b="1">
                <a:solidFill>
                  <a:srgbClr val="173649"/>
                </a:solidFill>
                <a:latin typeface="맑은 고딕"/>
                <a:ea typeface="맑은 고딕"/>
                <a:cs typeface="맑은 고딕"/>
              </a:rPr>
              <a:t>TiDB Cloud</a:t>
            </a:r>
          </a:p>
          <a:p>
            <a:pPr algn="ctr">
              <a:lnSpc>
                <a:spcPct val="115000"/>
              </a:lnSpc>
            </a:pPr>
            <a:r>
              <a:rPr sz="1000" b="0">
                <a:solidFill>
                  <a:srgbClr val="60717B"/>
                </a:solidFill>
                <a:latin typeface="맑은 고딕"/>
                <a:ea typeface="맑은 고딕"/>
                <a:cs typeface="맑은 고딕"/>
              </a:rPr>
              <a:t>member · qna</a:t>
            </a:r>
          </a:p>
        </p:txBody>
      </p:sp>
      <p:sp>
        <p:nvSpPr>
          <p:cNvPr id="23" name="Rounded Rectangle 22"/>
          <p:cNvSpPr/>
          <p:nvPr/>
        </p:nvSpPr>
        <p:spPr>
          <a:xfrm>
            <a:off x="6172200" y="3017520"/>
            <a:ext cx="2011680" cy="914400"/>
          </a:xfrm>
          <a:prstGeom prst="roundRect">
            <a:avLst>
              <a:gd name="adj" fmla="val 8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172200" y="3017520"/>
            <a:ext cx="2011680" cy="914400"/>
          </a:xfrm>
          <a:prstGeom prst="rect">
            <a:avLst/>
          </a:prstGeom>
          <a:noFill/>
        </p:spPr>
        <p:txBody>
          <a:bodyPr wrap="square" anchor="ctr" lIns="73152" rIns="73152" tIns="73152" bIns="73152">
            <a:spAutoFit/>
          </a:bodyPr>
          <a:lstStyle/>
          <a:p>
            <a:pPr algn="ctr">
              <a:lnSpc>
                <a:spcPct val="115000"/>
              </a:lnSpc>
            </a:pPr>
            <a:r>
              <a:rPr sz="1300" b="1">
                <a:solidFill>
                  <a:srgbClr val="173649"/>
                </a:solidFill>
                <a:latin typeface="맑은 고딕"/>
                <a:ea typeface="맑은 고딕"/>
                <a:cs typeface="맑은 고딕"/>
              </a:rPr>
              <a:t>Firebase Auth</a:t>
            </a:r>
          </a:p>
          <a:p>
            <a:pPr algn="ctr">
              <a:lnSpc>
                <a:spcPct val="115000"/>
              </a:lnSpc>
            </a:pPr>
            <a:r>
              <a:rPr sz="1000" b="0">
                <a:solidFill>
                  <a:srgbClr val="60717B"/>
                </a:solidFill>
                <a:latin typeface="맑은 고딕"/>
                <a:ea typeface="맑은 고딕"/>
                <a:cs typeface="맑은 고딕"/>
              </a:rPr>
              <a:t>휴대폰 SMS 인증</a:t>
            </a:r>
          </a:p>
        </p:txBody>
      </p:sp>
      <p:sp>
        <p:nvSpPr>
          <p:cNvPr id="25" name="Rounded Rectangle 24"/>
          <p:cNvSpPr/>
          <p:nvPr/>
        </p:nvSpPr>
        <p:spPr>
          <a:xfrm>
            <a:off x="6172200" y="4069080"/>
            <a:ext cx="2011680" cy="914400"/>
          </a:xfrm>
          <a:prstGeom prst="roundRect">
            <a:avLst>
              <a:gd name="adj" fmla="val 8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172200" y="4069080"/>
            <a:ext cx="2011680" cy="914400"/>
          </a:xfrm>
          <a:prstGeom prst="rect">
            <a:avLst/>
          </a:prstGeom>
          <a:noFill/>
        </p:spPr>
        <p:txBody>
          <a:bodyPr wrap="square" anchor="ctr" lIns="73152" rIns="73152" tIns="73152" bIns="73152">
            <a:spAutoFit/>
          </a:bodyPr>
          <a:lstStyle/>
          <a:p>
            <a:pPr algn="ctr">
              <a:lnSpc>
                <a:spcPct val="115000"/>
              </a:lnSpc>
            </a:pPr>
            <a:r>
              <a:rPr sz="1300" b="1">
                <a:solidFill>
                  <a:srgbClr val="173649"/>
                </a:solidFill>
                <a:latin typeface="맑은 고딕"/>
                <a:ea typeface="맑은 고딕"/>
                <a:cs typeface="맑은 고딕"/>
              </a:rPr>
              <a:t>OAuth2</a:t>
            </a:r>
          </a:p>
          <a:p>
            <a:pPr algn="ctr">
              <a:lnSpc>
                <a:spcPct val="115000"/>
              </a:lnSpc>
            </a:pPr>
            <a:r>
              <a:rPr sz="1000" b="0">
                <a:solidFill>
                  <a:srgbClr val="60717B"/>
                </a:solidFill>
                <a:latin typeface="맑은 고딕"/>
                <a:ea typeface="맑은 고딕"/>
                <a:cs typeface="맑은 고딕"/>
              </a:rPr>
              <a:t>카카오 · 네이버 · 구글</a:t>
            </a:r>
          </a:p>
        </p:txBody>
      </p:sp>
      <p:sp>
        <p:nvSpPr>
          <p:cNvPr id="27" name="Rounded Rectangle 26"/>
          <p:cNvSpPr/>
          <p:nvPr/>
        </p:nvSpPr>
        <p:spPr>
          <a:xfrm>
            <a:off x="8778240" y="1554480"/>
            <a:ext cx="2880360" cy="3657600"/>
          </a:xfrm>
          <a:prstGeom prst="roundRect">
            <a:avLst>
              <a:gd name="adj" fmla="val 4000"/>
            </a:avLst>
          </a:prstGeom>
          <a:noFill/>
          <a:ln w="12700">
            <a:solidFill>
              <a:srgbClr val="BD714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915400" y="1600200"/>
            <a:ext cx="2651760" cy="320040"/>
          </a:xfrm>
          <a:prstGeom prst="rect">
            <a:avLst/>
          </a:prstGeom>
          <a:noFill/>
        </p:spPr>
        <p:txBody>
          <a:bodyPr wrap="square" anchor="t" lIns="45720" rIns="45720">
            <a:spAutoFit/>
          </a:bodyPr>
          <a:lstStyle/>
          <a:p>
            <a:pPr algn="l">
              <a:lnSpc>
                <a:spcPct val="115000"/>
              </a:lnSpc>
            </a:pPr>
            <a:r>
              <a:rPr sz="1100" b="1">
                <a:solidFill>
                  <a:srgbClr val="BD7148"/>
                </a:solidFill>
                <a:latin typeface="맑은 고딕"/>
                <a:ea typeface="맑은 고딕"/>
                <a:cs typeface="맑은 고딕"/>
              </a:rPr>
              <a:t>GitHub</a:t>
            </a:r>
          </a:p>
        </p:txBody>
      </p:sp>
      <p:sp>
        <p:nvSpPr>
          <p:cNvPr id="29" name="Rounded Rectangle 28"/>
          <p:cNvSpPr/>
          <p:nvPr/>
        </p:nvSpPr>
        <p:spPr>
          <a:xfrm>
            <a:off x="8961120" y="1965960"/>
            <a:ext cx="2514600" cy="868680"/>
          </a:xfrm>
          <a:prstGeom prst="roundRect">
            <a:avLst>
              <a:gd name="adj" fmla="val 8000"/>
            </a:avLst>
          </a:prstGeom>
          <a:solidFill>
            <a:srgbClr val="F9EDE4"/>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61120" y="1965960"/>
            <a:ext cx="2514600" cy="868680"/>
          </a:xfrm>
          <a:prstGeom prst="rect">
            <a:avLst/>
          </a:prstGeom>
          <a:noFill/>
        </p:spPr>
        <p:txBody>
          <a:bodyPr wrap="square" anchor="ctr" lIns="73152" rIns="73152" tIns="73152" bIns="73152">
            <a:spAutoFit/>
          </a:bodyPr>
          <a:lstStyle/>
          <a:p>
            <a:pPr algn="ctr">
              <a:lnSpc>
                <a:spcPct val="115000"/>
              </a:lnSpc>
            </a:pPr>
            <a:r>
              <a:rPr sz="1300" b="1">
                <a:solidFill>
                  <a:srgbClr val="173649"/>
                </a:solidFill>
                <a:latin typeface="맑은 고딕"/>
                <a:ea typeface="맑은 고딕"/>
                <a:cs typeface="맑은 고딕"/>
              </a:rPr>
              <a:t>저장소 main</a:t>
            </a:r>
          </a:p>
          <a:p>
            <a:pPr algn="ctr">
              <a:lnSpc>
                <a:spcPct val="115000"/>
              </a:lnSpc>
            </a:pPr>
            <a:r>
              <a:rPr sz="1000" b="0">
                <a:solidFill>
                  <a:srgbClr val="60717B"/>
                </a:solidFill>
                <a:latin typeface="맑은 고딕"/>
                <a:ea typeface="맑은 고딕"/>
                <a:cs typeface="맑은 고딕"/>
              </a:rPr>
              <a:t>소스 + apartments.json</a:t>
            </a:r>
          </a:p>
        </p:txBody>
      </p:sp>
      <p:sp>
        <p:nvSpPr>
          <p:cNvPr id="31" name="Rounded Rectangle 30"/>
          <p:cNvSpPr/>
          <p:nvPr/>
        </p:nvSpPr>
        <p:spPr>
          <a:xfrm>
            <a:off x="8961120" y="2971800"/>
            <a:ext cx="2514600" cy="868680"/>
          </a:xfrm>
          <a:prstGeom prst="roundRect">
            <a:avLst>
              <a:gd name="adj" fmla="val 8000"/>
            </a:avLst>
          </a:prstGeom>
          <a:solidFill>
            <a:srgbClr val="F9EDE4"/>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961120" y="2971800"/>
            <a:ext cx="2514600" cy="868680"/>
          </a:xfrm>
          <a:prstGeom prst="rect">
            <a:avLst/>
          </a:prstGeom>
          <a:noFill/>
        </p:spPr>
        <p:txBody>
          <a:bodyPr wrap="square" anchor="ctr" lIns="73152" rIns="73152" tIns="73152" bIns="73152">
            <a:spAutoFit/>
          </a:bodyPr>
          <a:lstStyle/>
          <a:p>
            <a:pPr algn="ctr">
              <a:lnSpc>
                <a:spcPct val="115000"/>
              </a:lnSpc>
            </a:pPr>
            <a:r>
              <a:rPr sz="1200" b="1">
                <a:solidFill>
                  <a:srgbClr val="173649"/>
                </a:solidFill>
                <a:latin typeface="맑은 고딕"/>
                <a:ea typeface="맑은 고딕"/>
                <a:cs typeface="맑은 고딕"/>
              </a:rPr>
              <a:t>Actions · deploy.yml</a:t>
            </a:r>
          </a:p>
          <a:p>
            <a:pPr algn="ctr">
              <a:lnSpc>
                <a:spcPct val="115000"/>
              </a:lnSpc>
            </a:pPr>
            <a:r>
              <a:rPr sz="1000" b="0">
                <a:solidFill>
                  <a:srgbClr val="60717B"/>
                </a:solidFill>
                <a:latin typeface="맑은 고딕"/>
                <a:ea typeface="맑은 고딕"/>
                <a:cs typeface="맑은 고딕"/>
              </a:rPr>
              <a:t>빌드 · 테스트 · EC2 배포</a:t>
            </a:r>
          </a:p>
        </p:txBody>
      </p:sp>
      <p:sp>
        <p:nvSpPr>
          <p:cNvPr id="33" name="Rounded Rectangle 32"/>
          <p:cNvSpPr/>
          <p:nvPr/>
        </p:nvSpPr>
        <p:spPr>
          <a:xfrm>
            <a:off x="8961120" y="3977639"/>
            <a:ext cx="2514600" cy="1005840"/>
          </a:xfrm>
          <a:prstGeom prst="roundRect">
            <a:avLst>
              <a:gd name="adj" fmla="val 8000"/>
            </a:avLst>
          </a:prstGeom>
          <a:solidFill>
            <a:srgbClr val="F9EDE4"/>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961120" y="3977639"/>
            <a:ext cx="2514600" cy="1005840"/>
          </a:xfrm>
          <a:prstGeom prst="rect">
            <a:avLst/>
          </a:prstGeom>
          <a:noFill/>
        </p:spPr>
        <p:txBody>
          <a:bodyPr wrap="square" anchor="ctr" lIns="73152" rIns="73152" tIns="73152" bIns="73152">
            <a:spAutoFit/>
          </a:bodyPr>
          <a:lstStyle/>
          <a:p>
            <a:pPr algn="ctr">
              <a:lnSpc>
                <a:spcPct val="115000"/>
              </a:lnSpc>
            </a:pPr>
            <a:r>
              <a:rPr sz="1150" b="1">
                <a:solidFill>
                  <a:srgbClr val="173649"/>
                </a:solidFill>
                <a:latin typeface="맑은 고딕"/>
                <a:ea typeface="맑은 고딕"/>
                <a:cs typeface="맑은 고딕"/>
              </a:rPr>
              <a:t>Actions · ai-data-refresh.yml</a:t>
            </a:r>
          </a:p>
          <a:p>
            <a:pPr algn="ctr">
              <a:lnSpc>
                <a:spcPct val="115000"/>
              </a:lnSpc>
            </a:pPr>
            <a:r>
              <a:rPr sz="1000" b="0">
                <a:solidFill>
                  <a:srgbClr val="60717B"/>
                </a:solidFill>
                <a:latin typeface="맑은 고딕"/>
                <a:ea typeface="맑은 고딕"/>
                <a:cs typeface="맑은 고딕"/>
              </a:rPr>
              <a:t>크롤링 · 전처리 · 학습</a:t>
            </a:r>
          </a:p>
        </p:txBody>
      </p:sp>
      <p:sp>
        <p:nvSpPr>
          <p:cNvPr id="35" name="Rounded Rectangle 34"/>
          <p:cNvSpPr/>
          <p:nvPr/>
        </p:nvSpPr>
        <p:spPr>
          <a:xfrm>
            <a:off x="8961120" y="5440680"/>
            <a:ext cx="2514600" cy="731520"/>
          </a:xfrm>
          <a:prstGeom prst="roundRect">
            <a:avLst>
              <a:gd name="adj" fmla="val 8000"/>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961120" y="5440680"/>
            <a:ext cx="2514600" cy="731520"/>
          </a:xfrm>
          <a:prstGeom prst="rect">
            <a:avLst/>
          </a:prstGeom>
          <a:noFill/>
        </p:spPr>
        <p:txBody>
          <a:bodyPr wrap="square" anchor="ctr" lIns="73152" rIns="73152" tIns="73152" bIns="73152">
            <a:spAutoFit/>
          </a:bodyPr>
          <a:lstStyle/>
          <a:p>
            <a:pPr algn="ctr">
              <a:lnSpc>
                <a:spcPct val="115000"/>
              </a:lnSpc>
            </a:pPr>
            <a:r>
              <a:rPr sz="1200" b="1">
                <a:solidFill>
                  <a:srgbClr val="FFFFFF"/>
                </a:solidFill>
                <a:latin typeface="맑은 고딕"/>
                <a:ea typeface="맑은 고딕"/>
                <a:cs typeface="맑은 고딕"/>
              </a:rPr>
              <a:t>국토교통부 실거래가 API</a:t>
            </a:r>
          </a:p>
        </p:txBody>
      </p:sp>
      <p:cxnSp>
        <p:nvCxnSpPr>
          <p:cNvPr id="37" name="Connector 36"/>
          <p:cNvCxnSpPr/>
          <p:nvPr/>
        </p:nvCxnSpPr>
        <p:spPr>
          <a:xfrm>
            <a:off x="1965960" y="3383280"/>
            <a:ext cx="365760" cy="0"/>
          </a:xfrm>
          <a:prstGeom prst="line">
            <a:avLst/>
          </a:prstGeom>
          <a:ln w="22225">
            <a:solidFill>
              <a:srgbClr val="086B9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577840" y="2423160"/>
            <a:ext cx="594360" cy="0"/>
          </a:xfrm>
          <a:prstGeom prst="line">
            <a:avLst/>
          </a:prstGeom>
          <a:ln w="22225">
            <a:solidFill>
              <a:srgbClr val="60717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213848" y="4983480"/>
            <a:ext cx="0" cy="457200"/>
          </a:xfrm>
          <a:prstGeom prst="line">
            <a:avLst/>
          </a:prstGeom>
          <a:ln w="22225">
            <a:solidFill>
              <a:srgbClr val="BD71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213848" y="2834640"/>
            <a:ext cx="0" cy="137160"/>
          </a:xfrm>
          <a:prstGeom prst="line">
            <a:avLst/>
          </a:prstGeom>
          <a:ln w="22225">
            <a:solidFill>
              <a:srgbClr val="BD71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5440680"/>
            <a:ext cx="8229600" cy="292608"/>
          </a:xfrm>
          <a:prstGeom prst="rect">
            <a:avLst/>
          </a:prstGeom>
          <a:noFill/>
        </p:spPr>
        <p:txBody>
          <a:bodyPr wrap="square" anchor="t" lIns="45720" rIns="45720">
            <a:spAutoFit/>
          </a:bodyPr>
          <a:lstStyle/>
          <a:p>
            <a:pPr algn="l">
              <a:lnSpc>
                <a:spcPct val="115000"/>
              </a:lnSpc>
            </a:pPr>
            <a:r>
              <a:rPr sz="1200" b="1">
                <a:solidFill>
                  <a:srgbClr val="BD7148"/>
                </a:solidFill>
                <a:latin typeface="맑은 고딕"/>
                <a:ea typeface="맑은 고딕"/>
                <a:cs typeface="맑은 고딕"/>
              </a:rPr>
              <a:t>①  </a:t>
            </a:r>
            <a:r>
              <a:rPr sz="1200" b="0">
                <a:solidFill>
                  <a:srgbClr val="213440"/>
                </a:solidFill>
                <a:latin typeface="맑은 고딕"/>
                <a:ea typeface="맑은 고딕"/>
                <a:cs typeface="맑은 고딕"/>
              </a:rPr>
              <a:t>Render · EC2는 같은 저장소의 코드를 각각 자동 배포</a:t>
            </a:r>
          </a:p>
        </p:txBody>
      </p:sp>
      <p:sp>
        <p:nvSpPr>
          <p:cNvPr id="42" name="TextBox 41"/>
          <p:cNvSpPr txBox="1"/>
          <p:nvPr/>
        </p:nvSpPr>
        <p:spPr>
          <a:xfrm>
            <a:off x="548640" y="5733288"/>
            <a:ext cx="8229600" cy="292608"/>
          </a:xfrm>
          <a:prstGeom prst="rect">
            <a:avLst/>
          </a:prstGeom>
          <a:noFill/>
        </p:spPr>
        <p:txBody>
          <a:bodyPr wrap="square" anchor="t" lIns="45720" rIns="45720">
            <a:spAutoFit/>
          </a:bodyPr>
          <a:lstStyle/>
          <a:p>
            <a:pPr algn="l">
              <a:lnSpc>
                <a:spcPct val="115000"/>
              </a:lnSpc>
            </a:pPr>
            <a:r>
              <a:rPr sz="1200" b="1">
                <a:solidFill>
                  <a:srgbClr val="BD7148"/>
                </a:solidFill>
                <a:latin typeface="맑은 고딕"/>
                <a:ea typeface="맑은 고딕"/>
                <a:cs typeface="맑은 고딕"/>
              </a:rPr>
              <a:t>②  </a:t>
            </a:r>
            <a:r>
              <a:rPr sz="1200" b="0">
                <a:solidFill>
                  <a:srgbClr val="213440"/>
                </a:solidFill>
                <a:latin typeface="맑은 고딕"/>
                <a:ea typeface="맑은 고딕"/>
                <a:cs typeface="맑은 고딕"/>
              </a:rPr>
              <a:t>AI 학습은 GitHub Actions에서 1회 실행 → 결과 JSON 하나를 두 서버가 공유</a:t>
            </a:r>
          </a:p>
        </p:txBody>
      </p:sp>
      <p:sp>
        <p:nvSpPr>
          <p:cNvPr id="43" name="TextBox 42"/>
          <p:cNvSpPr txBox="1"/>
          <p:nvPr/>
        </p:nvSpPr>
        <p:spPr>
          <a:xfrm>
            <a:off x="548640" y="6025896"/>
            <a:ext cx="8229600" cy="292608"/>
          </a:xfrm>
          <a:prstGeom prst="rect">
            <a:avLst/>
          </a:prstGeom>
          <a:noFill/>
        </p:spPr>
        <p:txBody>
          <a:bodyPr wrap="square" anchor="t" lIns="45720" rIns="45720">
            <a:spAutoFit/>
          </a:bodyPr>
          <a:lstStyle/>
          <a:p>
            <a:pPr algn="l">
              <a:lnSpc>
                <a:spcPct val="115000"/>
              </a:lnSpc>
            </a:pPr>
            <a:r>
              <a:rPr sz="1200" b="1">
                <a:solidFill>
                  <a:srgbClr val="BD7148"/>
                </a:solidFill>
                <a:latin typeface="맑은 고딕"/>
                <a:ea typeface="맑은 고딕"/>
                <a:cs typeface="맑은 고딕"/>
              </a:rPr>
              <a:t>③  </a:t>
            </a:r>
            <a:r>
              <a:rPr sz="1200" b="0">
                <a:solidFill>
                  <a:srgbClr val="213440"/>
                </a:solidFill>
                <a:latin typeface="맑은 고딕"/>
                <a:ea typeface="맑은 고딕"/>
                <a:cs typeface="맑은 고딕"/>
              </a:rPr>
              <a:t>데이터만 바뀌면 재배포 없이 서버가 GitHub에서 최신 JSON을 직접 수신</a:t>
            </a:r>
          </a:p>
        </p:txBody>
      </p:sp>
      <p:sp>
        <p:nvSpPr>
          <p:cNvPr id="44" name="Rectangle 43"/>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push dir="l"/>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02  시스템 설계</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기술 스택</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홍길동</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7 / 20</a:t>
            </a:r>
          </a:p>
        </p:txBody>
      </p:sp>
      <p:sp>
        <p:nvSpPr>
          <p:cNvPr id="11" name="Rounded Rectangle 10"/>
          <p:cNvSpPr/>
          <p:nvPr/>
        </p:nvSpPr>
        <p:spPr>
          <a:xfrm>
            <a:off x="548640" y="1600200"/>
            <a:ext cx="3566160" cy="2148840"/>
          </a:xfrm>
          <a:prstGeom prst="roundRect">
            <a:avLst>
              <a:gd name="adj" fmla="val 6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1874519"/>
            <a:ext cx="91440" cy="4572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1856232"/>
            <a:ext cx="3108960" cy="457200"/>
          </a:xfrm>
          <a:prstGeom prst="rect">
            <a:avLst/>
          </a:prstGeom>
          <a:noFill/>
        </p:spPr>
        <p:txBody>
          <a:bodyPr wrap="square" anchor="t" lIns="45720" rIns="45720">
            <a:spAutoFit/>
          </a:bodyPr>
          <a:lstStyle/>
          <a:p>
            <a:pPr algn="l">
              <a:lnSpc>
                <a:spcPct val="115000"/>
              </a:lnSpc>
            </a:pPr>
            <a:r>
              <a:rPr sz="1800" b="1">
                <a:solidFill>
                  <a:srgbClr val="086B9B"/>
                </a:solidFill>
                <a:latin typeface="맑은 고딕"/>
                <a:ea typeface="맑은 고딕"/>
                <a:cs typeface="맑은 고딕"/>
              </a:rPr>
              <a:t>Backend</a:t>
            </a:r>
          </a:p>
        </p:txBody>
      </p:sp>
      <p:sp>
        <p:nvSpPr>
          <p:cNvPr id="14" name="TextBox 13"/>
          <p:cNvSpPr txBox="1"/>
          <p:nvPr/>
        </p:nvSpPr>
        <p:spPr>
          <a:xfrm>
            <a:off x="868680" y="2423160"/>
            <a:ext cx="3108960" cy="1280160"/>
          </a:xfrm>
          <a:prstGeom prst="rect">
            <a:avLst/>
          </a:prstGeom>
          <a:noFill/>
        </p:spPr>
        <p:txBody>
          <a:bodyPr wrap="square" anchor="t" lIns="45720" rIns="45720">
            <a:spAutoFit/>
          </a:bodyPr>
          <a:lstStyle/>
          <a:p>
            <a:pPr algn="l">
              <a:lnSpc>
                <a:spcPct val="140000"/>
              </a:lnSpc>
            </a:pPr>
            <a:r>
              <a:rPr sz="1300" b="0">
                <a:solidFill>
                  <a:srgbClr val="213440"/>
                </a:solidFill>
                <a:latin typeface="맑은 고딕"/>
                <a:ea typeface="맑은 고딕"/>
                <a:cs typeface="맑은 고딕"/>
              </a:rPr>
              <a:t>Java 21 · Spring Boot 4.1
Spring MVC · JdbcTemplate
Spring Security (BCrypt · OAuth2)</a:t>
            </a:r>
          </a:p>
        </p:txBody>
      </p:sp>
      <p:sp>
        <p:nvSpPr>
          <p:cNvPr id="15" name="Rounded Rectangle 14"/>
          <p:cNvSpPr/>
          <p:nvPr/>
        </p:nvSpPr>
        <p:spPr>
          <a:xfrm>
            <a:off x="4297679" y="1600200"/>
            <a:ext cx="3566160" cy="2148840"/>
          </a:xfrm>
          <a:prstGeom prst="roundRect">
            <a:avLst>
              <a:gd name="adj" fmla="val 6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297679" y="1874519"/>
            <a:ext cx="91440" cy="457200"/>
          </a:xfrm>
          <a:prstGeom prst="rect">
            <a:avLst/>
          </a:prstGeom>
          <a:solidFill>
            <a:srgbClr val="357E72"/>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17719" y="1856232"/>
            <a:ext cx="3108960" cy="457200"/>
          </a:xfrm>
          <a:prstGeom prst="rect">
            <a:avLst/>
          </a:prstGeom>
          <a:noFill/>
        </p:spPr>
        <p:txBody>
          <a:bodyPr wrap="square" anchor="t" lIns="45720" rIns="45720">
            <a:spAutoFit/>
          </a:bodyPr>
          <a:lstStyle/>
          <a:p>
            <a:pPr algn="l">
              <a:lnSpc>
                <a:spcPct val="115000"/>
              </a:lnSpc>
            </a:pPr>
            <a:r>
              <a:rPr sz="1800" b="1">
                <a:solidFill>
                  <a:srgbClr val="357E72"/>
                </a:solidFill>
                <a:latin typeface="맑은 고딕"/>
                <a:ea typeface="맑은 고딕"/>
                <a:cs typeface="맑은 고딕"/>
              </a:rPr>
              <a:t>Frontend</a:t>
            </a:r>
          </a:p>
        </p:txBody>
      </p:sp>
      <p:sp>
        <p:nvSpPr>
          <p:cNvPr id="18" name="TextBox 17"/>
          <p:cNvSpPr txBox="1"/>
          <p:nvPr/>
        </p:nvSpPr>
        <p:spPr>
          <a:xfrm>
            <a:off x="4617719" y="2423160"/>
            <a:ext cx="3108960" cy="1280160"/>
          </a:xfrm>
          <a:prstGeom prst="rect">
            <a:avLst/>
          </a:prstGeom>
          <a:noFill/>
        </p:spPr>
        <p:txBody>
          <a:bodyPr wrap="square" anchor="t" lIns="45720" rIns="45720">
            <a:spAutoFit/>
          </a:bodyPr>
          <a:lstStyle/>
          <a:p>
            <a:pPr algn="l">
              <a:lnSpc>
                <a:spcPct val="140000"/>
              </a:lnSpc>
            </a:pPr>
            <a:r>
              <a:rPr sz="1300" b="0">
                <a:solidFill>
                  <a:srgbClr val="213440"/>
                </a:solidFill>
                <a:latin typeface="맑은 고딕"/>
                <a:ea typeface="맑은 고딕"/>
                <a:cs typeface="맑은 고딕"/>
              </a:rPr>
              <a:t>Thymeleaf · Bootstrap 5.3
Vanilla JS · Font Awesome
plotly.js 4.1</a:t>
            </a:r>
          </a:p>
        </p:txBody>
      </p:sp>
      <p:sp>
        <p:nvSpPr>
          <p:cNvPr id="19" name="Rounded Rectangle 18"/>
          <p:cNvSpPr/>
          <p:nvPr/>
        </p:nvSpPr>
        <p:spPr>
          <a:xfrm>
            <a:off x="8046719" y="1600200"/>
            <a:ext cx="3566160" cy="2148840"/>
          </a:xfrm>
          <a:prstGeom prst="roundRect">
            <a:avLst>
              <a:gd name="adj" fmla="val 6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046719" y="1874519"/>
            <a:ext cx="91440" cy="457200"/>
          </a:xfrm>
          <a:prstGeom prst="rect">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66759" y="1856232"/>
            <a:ext cx="3108960" cy="457200"/>
          </a:xfrm>
          <a:prstGeom prst="rect">
            <a:avLst/>
          </a:prstGeom>
          <a:noFill/>
        </p:spPr>
        <p:txBody>
          <a:bodyPr wrap="square" anchor="t" lIns="45720" rIns="45720">
            <a:spAutoFit/>
          </a:bodyPr>
          <a:lstStyle/>
          <a:p>
            <a:pPr algn="l">
              <a:lnSpc>
                <a:spcPct val="115000"/>
              </a:lnSpc>
            </a:pPr>
            <a:r>
              <a:rPr sz="1800" b="1">
                <a:solidFill>
                  <a:srgbClr val="BD7148"/>
                </a:solidFill>
                <a:latin typeface="맑은 고딕"/>
                <a:ea typeface="맑은 고딕"/>
                <a:cs typeface="맑은 고딕"/>
              </a:rPr>
              <a:t>Data · AI</a:t>
            </a:r>
          </a:p>
        </p:txBody>
      </p:sp>
      <p:sp>
        <p:nvSpPr>
          <p:cNvPr id="22" name="TextBox 21"/>
          <p:cNvSpPr txBox="1"/>
          <p:nvPr/>
        </p:nvSpPr>
        <p:spPr>
          <a:xfrm>
            <a:off x="8366759" y="2423160"/>
            <a:ext cx="3108960" cy="1280160"/>
          </a:xfrm>
          <a:prstGeom prst="rect">
            <a:avLst/>
          </a:prstGeom>
          <a:noFill/>
        </p:spPr>
        <p:txBody>
          <a:bodyPr wrap="square" anchor="t" lIns="45720" rIns="45720">
            <a:spAutoFit/>
          </a:bodyPr>
          <a:lstStyle/>
          <a:p>
            <a:pPr algn="l">
              <a:lnSpc>
                <a:spcPct val="140000"/>
              </a:lnSpc>
            </a:pPr>
            <a:r>
              <a:rPr sz="1300" b="0">
                <a:solidFill>
                  <a:srgbClr val="213440"/>
                </a:solidFill>
                <a:latin typeface="맑은 고딕"/>
                <a:ea typeface="맑은 고딕"/>
                <a:cs typeface="맑은 고딕"/>
              </a:rPr>
              <a:t>Python 3.11 · requests · pandas
scikit-learn (RandomForest · KMeans)
Plotly 7.1 · matplotlib</a:t>
            </a:r>
          </a:p>
        </p:txBody>
      </p:sp>
      <p:sp>
        <p:nvSpPr>
          <p:cNvPr id="23" name="Rounded Rectangle 22"/>
          <p:cNvSpPr/>
          <p:nvPr/>
        </p:nvSpPr>
        <p:spPr>
          <a:xfrm>
            <a:off x="548640" y="3977639"/>
            <a:ext cx="3566160" cy="2148840"/>
          </a:xfrm>
          <a:prstGeom prst="roundRect">
            <a:avLst>
              <a:gd name="adj" fmla="val 6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48640" y="4251959"/>
            <a:ext cx="91440" cy="457200"/>
          </a:xfrm>
          <a:prstGeom prst="rect">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8680" y="4233672"/>
            <a:ext cx="3108960" cy="457200"/>
          </a:xfrm>
          <a:prstGeom prst="rect">
            <a:avLst/>
          </a:prstGeom>
          <a:noFill/>
        </p:spPr>
        <p:txBody>
          <a:bodyPr wrap="square" anchor="t" lIns="45720" rIns="45720">
            <a:spAutoFit/>
          </a:bodyPr>
          <a:lstStyle/>
          <a:p>
            <a:pPr algn="l">
              <a:lnSpc>
                <a:spcPct val="115000"/>
              </a:lnSpc>
            </a:pPr>
            <a:r>
              <a:rPr sz="1800" b="1">
                <a:solidFill>
                  <a:srgbClr val="173649"/>
                </a:solidFill>
                <a:latin typeface="맑은 고딕"/>
                <a:ea typeface="맑은 고딕"/>
                <a:cs typeface="맑은 고딕"/>
              </a:rPr>
              <a:t>Database · 인증</a:t>
            </a:r>
          </a:p>
        </p:txBody>
      </p:sp>
      <p:sp>
        <p:nvSpPr>
          <p:cNvPr id="26" name="TextBox 25"/>
          <p:cNvSpPr txBox="1"/>
          <p:nvPr/>
        </p:nvSpPr>
        <p:spPr>
          <a:xfrm>
            <a:off x="868680" y="4800600"/>
            <a:ext cx="3108960" cy="1280160"/>
          </a:xfrm>
          <a:prstGeom prst="rect">
            <a:avLst/>
          </a:prstGeom>
          <a:noFill/>
        </p:spPr>
        <p:txBody>
          <a:bodyPr wrap="square" anchor="t" lIns="45720" rIns="45720">
            <a:spAutoFit/>
          </a:bodyPr>
          <a:lstStyle/>
          <a:p>
            <a:pPr algn="l">
              <a:lnSpc>
                <a:spcPct val="140000"/>
              </a:lnSpc>
            </a:pPr>
            <a:r>
              <a:rPr sz="1300" b="0">
                <a:solidFill>
                  <a:srgbClr val="213440"/>
                </a:solidFill>
                <a:latin typeface="맑은 고딕"/>
                <a:ea typeface="맑은 고딕"/>
                <a:cs typeface="맑은 고딕"/>
              </a:rPr>
              <a:t>TiDB Cloud (MySQL 호환)
Firebase Phone Auth
Kakao · Naver · Google OAuth2</a:t>
            </a:r>
          </a:p>
        </p:txBody>
      </p:sp>
      <p:sp>
        <p:nvSpPr>
          <p:cNvPr id="27" name="Rounded Rectangle 26"/>
          <p:cNvSpPr/>
          <p:nvPr/>
        </p:nvSpPr>
        <p:spPr>
          <a:xfrm>
            <a:off x="4297679" y="3977639"/>
            <a:ext cx="3566160" cy="2148840"/>
          </a:xfrm>
          <a:prstGeom prst="roundRect">
            <a:avLst>
              <a:gd name="adj" fmla="val 6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297679" y="4251959"/>
            <a:ext cx="91440" cy="4572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617719" y="4233672"/>
            <a:ext cx="3108960" cy="457200"/>
          </a:xfrm>
          <a:prstGeom prst="rect">
            <a:avLst/>
          </a:prstGeom>
          <a:noFill/>
        </p:spPr>
        <p:txBody>
          <a:bodyPr wrap="square" anchor="t" lIns="45720" rIns="45720">
            <a:spAutoFit/>
          </a:bodyPr>
          <a:lstStyle/>
          <a:p>
            <a:pPr algn="l">
              <a:lnSpc>
                <a:spcPct val="115000"/>
              </a:lnSpc>
            </a:pPr>
            <a:r>
              <a:rPr sz="1800" b="1">
                <a:solidFill>
                  <a:srgbClr val="086B9B"/>
                </a:solidFill>
                <a:latin typeface="맑은 고딕"/>
                <a:ea typeface="맑은 고딕"/>
                <a:cs typeface="맑은 고딕"/>
              </a:rPr>
              <a:t>자동화 · CI/CD</a:t>
            </a:r>
          </a:p>
        </p:txBody>
      </p:sp>
      <p:sp>
        <p:nvSpPr>
          <p:cNvPr id="30" name="TextBox 29"/>
          <p:cNvSpPr txBox="1"/>
          <p:nvPr/>
        </p:nvSpPr>
        <p:spPr>
          <a:xfrm>
            <a:off x="4617719" y="4800600"/>
            <a:ext cx="3108960" cy="1280160"/>
          </a:xfrm>
          <a:prstGeom prst="rect">
            <a:avLst/>
          </a:prstGeom>
          <a:noFill/>
        </p:spPr>
        <p:txBody>
          <a:bodyPr wrap="square" anchor="t" lIns="45720" rIns="45720">
            <a:spAutoFit/>
          </a:bodyPr>
          <a:lstStyle/>
          <a:p>
            <a:pPr algn="l">
              <a:lnSpc>
                <a:spcPct val="140000"/>
              </a:lnSpc>
            </a:pPr>
            <a:r>
              <a:rPr sz="1300" b="0">
                <a:solidFill>
                  <a:srgbClr val="213440"/>
                </a:solidFill>
                <a:latin typeface="맑은 고딕"/>
                <a:ea typeface="맑은 고딕"/>
                <a:cs typeface="맑은 고딕"/>
              </a:rPr>
              <a:t>GitHub Actions
(빌드 · 테스트 · 배포 · AI 재학습)
Gradle · Docker</a:t>
            </a:r>
          </a:p>
        </p:txBody>
      </p:sp>
      <p:sp>
        <p:nvSpPr>
          <p:cNvPr id="31" name="Rounded Rectangle 30"/>
          <p:cNvSpPr/>
          <p:nvPr/>
        </p:nvSpPr>
        <p:spPr>
          <a:xfrm>
            <a:off x="8046719" y="3977639"/>
            <a:ext cx="3566160" cy="2148840"/>
          </a:xfrm>
          <a:prstGeom prst="roundRect">
            <a:avLst>
              <a:gd name="adj" fmla="val 6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8046719" y="4251959"/>
            <a:ext cx="91440" cy="457200"/>
          </a:xfrm>
          <a:prstGeom prst="rect">
            <a:avLst/>
          </a:prstGeom>
          <a:solidFill>
            <a:srgbClr val="60717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66759" y="4233672"/>
            <a:ext cx="3108960" cy="457200"/>
          </a:xfrm>
          <a:prstGeom prst="rect">
            <a:avLst/>
          </a:prstGeom>
          <a:noFill/>
        </p:spPr>
        <p:txBody>
          <a:bodyPr wrap="square" anchor="t" lIns="45720" rIns="45720">
            <a:spAutoFit/>
          </a:bodyPr>
          <a:lstStyle/>
          <a:p>
            <a:pPr algn="l">
              <a:lnSpc>
                <a:spcPct val="115000"/>
              </a:lnSpc>
            </a:pPr>
            <a:r>
              <a:rPr sz="1800" b="1">
                <a:solidFill>
                  <a:srgbClr val="60717B"/>
                </a:solidFill>
                <a:latin typeface="맑은 고딕"/>
                <a:ea typeface="맑은 고딕"/>
                <a:cs typeface="맑은 고딕"/>
              </a:rPr>
              <a:t>Infra</a:t>
            </a:r>
          </a:p>
        </p:txBody>
      </p:sp>
      <p:sp>
        <p:nvSpPr>
          <p:cNvPr id="34" name="TextBox 33"/>
          <p:cNvSpPr txBox="1"/>
          <p:nvPr/>
        </p:nvSpPr>
        <p:spPr>
          <a:xfrm>
            <a:off x="8366759" y="4800600"/>
            <a:ext cx="3108960" cy="1280160"/>
          </a:xfrm>
          <a:prstGeom prst="rect">
            <a:avLst/>
          </a:prstGeom>
          <a:noFill/>
        </p:spPr>
        <p:txBody>
          <a:bodyPr wrap="square" anchor="t" lIns="45720" rIns="45720">
            <a:spAutoFit/>
          </a:bodyPr>
          <a:lstStyle/>
          <a:p>
            <a:pPr algn="l">
              <a:lnSpc>
                <a:spcPct val="140000"/>
              </a:lnSpc>
            </a:pPr>
            <a:r>
              <a:rPr sz="1300" b="0">
                <a:solidFill>
                  <a:srgbClr val="213440"/>
                </a:solidFill>
                <a:latin typeface="맑은 고딕"/>
                <a:ea typeface="맑은 고딕"/>
                <a:cs typeface="맑은 고딕"/>
              </a:rPr>
              <a:t>Render (Docker)
AWS EC2 · nginx · Let's Encrypt
DuckDNS</a:t>
            </a:r>
          </a:p>
        </p:txBody>
      </p:sp>
      <p:sp>
        <p:nvSpPr>
          <p:cNvPr id="35" name="Rectangle 34"/>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03  빅데이터 수집 &amp; AI 분석</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빅데이터 수집 — 공공데이터 API 크롤링</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박미금</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8 / 20</a:t>
            </a:r>
          </a:p>
        </p:txBody>
      </p:sp>
      <p:sp>
        <p:nvSpPr>
          <p:cNvPr id="11" name="Rounded Rectangle 10"/>
          <p:cNvSpPr/>
          <p:nvPr/>
        </p:nvSpPr>
        <p:spPr>
          <a:xfrm>
            <a:off x="548640" y="1600200"/>
            <a:ext cx="2651760" cy="141732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1737360"/>
            <a:ext cx="2651760" cy="685800"/>
          </a:xfrm>
          <a:prstGeom prst="rect">
            <a:avLst/>
          </a:prstGeom>
          <a:noFill/>
        </p:spPr>
        <p:txBody>
          <a:bodyPr wrap="square" anchor="t" lIns="45720" rIns="45720">
            <a:spAutoFit/>
          </a:bodyPr>
          <a:lstStyle/>
          <a:p>
            <a:pPr algn="ctr">
              <a:lnSpc>
                <a:spcPct val="115000"/>
              </a:lnSpc>
            </a:pPr>
            <a:r>
              <a:rPr sz="3400" b="1">
                <a:solidFill>
                  <a:srgbClr val="086B9B"/>
                </a:solidFill>
                <a:latin typeface="맑은 고딕"/>
                <a:ea typeface="맑은 고딕"/>
                <a:cs typeface="맑은 고딕"/>
              </a:rPr>
              <a:t>83</a:t>
            </a:r>
            <a:r>
              <a:rPr sz="1500" b="1">
                <a:solidFill>
                  <a:srgbClr val="086B9B"/>
                </a:solidFill>
                <a:latin typeface="맑은 고딕"/>
                <a:ea typeface="맑은 고딕"/>
                <a:cs typeface="맑은 고딕"/>
              </a:rPr>
              <a:t> 개 지역</a:t>
            </a:r>
          </a:p>
        </p:txBody>
      </p:sp>
      <p:sp>
        <p:nvSpPr>
          <p:cNvPr id="13" name="TextBox 12"/>
          <p:cNvSpPr txBox="1"/>
          <p:nvPr/>
        </p:nvSpPr>
        <p:spPr>
          <a:xfrm>
            <a:off x="548640" y="2423160"/>
            <a:ext cx="2651760" cy="365760"/>
          </a:xfrm>
          <a:prstGeom prst="rect">
            <a:avLst/>
          </a:prstGeom>
          <a:noFill/>
        </p:spPr>
        <p:txBody>
          <a:bodyPr wrap="square" anchor="t" lIns="45720" rIns="45720">
            <a:spAutoFit/>
          </a:bodyPr>
          <a:lstStyle/>
          <a:p>
            <a:pPr algn="ctr">
              <a:lnSpc>
                <a:spcPct val="115000"/>
              </a:lnSpc>
            </a:pPr>
            <a:r>
              <a:rPr sz="1200" b="0">
                <a:solidFill>
                  <a:srgbClr val="60717B"/>
                </a:solidFill>
                <a:latin typeface="맑은 고딕"/>
                <a:ea typeface="맑은 고딕"/>
                <a:cs typeface="맑은 고딕"/>
              </a:rPr>
              <a:t>서울 25 · 인천 11 · 경기 47</a:t>
            </a:r>
          </a:p>
        </p:txBody>
      </p:sp>
      <p:sp>
        <p:nvSpPr>
          <p:cNvPr id="14" name="Rounded Rectangle 13"/>
          <p:cNvSpPr/>
          <p:nvPr/>
        </p:nvSpPr>
        <p:spPr>
          <a:xfrm>
            <a:off x="3364992" y="1600200"/>
            <a:ext cx="2651760" cy="141732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364992" y="1737360"/>
            <a:ext cx="2651760" cy="685800"/>
          </a:xfrm>
          <a:prstGeom prst="rect">
            <a:avLst/>
          </a:prstGeom>
          <a:noFill/>
        </p:spPr>
        <p:txBody>
          <a:bodyPr wrap="square" anchor="t" lIns="45720" rIns="45720">
            <a:spAutoFit/>
          </a:bodyPr>
          <a:lstStyle/>
          <a:p>
            <a:pPr algn="ctr">
              <a:lnSpc>
                <a:spcPct val="115000"/>
              </a:lnSpc>
            </a:pPr>
            <a:r>
              <a:rPr sz="3400" b="1">
                <a:solidFill>
                  <a:srgbClr val="086B9B"/>
                </a:solidFill>
                <a:latin typeface="맑은 고딕"/>
                <a:ea typeface="맑은 고딕"/>
                <a:cs typeface="맑은 고딕"/>
              </a:rPr>
              <a:t>6</a:t>
            </a:r>
            <a:r>
              <a:rPr sz="1500" b="1">
                <a:solidFill>
                  <a:srgbClr val="086B9B"/>
                </a:solidFill>
                <a:latin typeface="맑은 고딕"/>
                <a:ea typeface="맑은 고딕"/>
                <a:cs typeface="맑은 고딕"/>
              </a:rPr>
              <a:t> 개월</a:t>
            </a:r>
          </a:p>
        </p:txBody>
      </p:sp>
      <p:sp>
        <p:nvSpPr>
          <p:cNvPr id="16" name="TextBox 15"/>
          <p:cNvSpPr txBox="1"/>
          <p:nvPr/>
        </p:nvSpPr>
        <p:spPr>
          <a:xfrm>
            <a:off x="3364992" y="2423160"/>
            <a:ext cx="2651760" cy="365760"/>
          </a:xfrm>
          <a:prstGeom prst="rect">
            <a:avLst/>
          </a:prstGeom>
          <a:noFill/>
        </p:spPr>
        <p:txBody>
          <a:bodyPr wrap="square" anchor="t" lIns="45720" rIns="45720">
            <a:spAutoFit/>
          </a:bodyPr>
          <a:lstStyle/>
          <a:p>
            <a:pPr algn="ctr">
              <a:lnSpc>
                <a:spcPct val="115000"/>
              </a:lnSpc>
            </a:pPr>
            <a:r>
              <a:rPr sz="1200" b="0">
                <a:solidFill>
                  <a:srgbClr val="60717B"/>
                </a:solidFill>
                <a:latin typeface="맑은 고딕"/>
                <a:ea typeface="맑은 고딕"/>
                <a:cs typeface="맑은 고딕"/>
              </a:rPr>
              <a:t>2026.04 ~ 2026.09</a:t>
            </a:r>
          </a:p>
        </p:txBody>
      </p:sp>
      <p:sp>
        <p:nvSpPr>
          <p:cNvPr id="17" name="Rounded Rectangle 16"/>
          <p:cNvSpPr/>
          <p:nvPr/>
        </p:nvSpPr>
        <p:spPr>
          <a:xfrm>
            <a:off x="6181344" y="1600200"/>
            <a:ext cx="2651760" cy="141732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81344" y="1737360"/>
            <a:ext cx="2651760" cy="685800"/>
          </a:xfrm>
          <a:prstGeom prst="rect">
            <a:avLst/>
          </a:prstGeom>
          <a:noFill/>
        </p:spPr>
        <p:txBody>
          <a:bodyPr wrap="square" anchor="t" lIns="45720" rIns="45720">
            <a:spAutoFit/>
          </a:bodyPr>
          <a:lstStyle/>
          <a:p>
            <a:pPr algn="ctr">
              <a:lnSpc>
                <a:spcPct val="115000"/>
              </a:lnSpc>
            </a:pPr>
            <a:r>
              <a:rPr sz="3400" b="1">
                <a:solidFill>
                  <a:srgbClr val="086B9B"/>
                </a:solidFill>
                <a:latin typeface="맑은 고딕"/>
                <a:ea typeface="맑은 고딕"/>
                <a:cs typeface="맑은 고딕"/>
              </a:rPr>
              <a:t>498</a:t>
            </a:r>
            <a:r>
              <a:rPr sz="1500" b="1">
                <a:solidFill>
                  <a:srgbClr val="086B9B"/>
                </a:solidFill>
                <a:latin typeface="맑은 고딕"/>
                <a:ea typeface="맑은 고딕"/>
                <a:cs typeface="맑은 고딕"/>
              </a:rPr>
              <a:t> 회</a:t>
            </a:r>
          </a:p>
        </p:txBody>
      </p:sp>
      <p:sp>
        <p:nvSpPr>
          <p:cNvPr id="19" name="TextBox 18"/>
          <p:cNvSpPr txBox="1"/>
          <p:nvPr/>
        </p:nvSpPr>
        <p:spPr>
          <a:xfrm>
            <a:off x="6181344" y="2423160"/>
            <a:ext cx="2651760" cy="365760"/>
          </a:xfrm>
          <a:prstGeom prst="rect">
            <a:avLst/>
          </a:prstGeom>
          <a:noFill/>
        </p:spPr>
        <p:txBody>
          <a:bodyPr wrap="square" anchor="t" lIns="45720" rIns="45720">
            <a:spAutoFit/>
          </a:bodyPr>
          <a:lstStyle/>
          <a:p>
            <a:pPr algn="ctr">
              <a:lnSpc>
                <a:spcPct val="115000"/>
              </a:lnSpc>
            </a:pPr>
            <a:r>
              <a:rPr sz="1200" b="0">
                <a:solidFill>
                  <a:srgbClr val="60717B"/>
                </a:solidFill>
                <a:latin typeface="맑은 고딕"/>
                <a:ea typeface="맑은 고딕"/>
                <a:cs typeface="맑은 고딕"/>
              </a:rPr>
              <a:t>지역 x 월 API 요청</a:t>
            </a:r>
          </a:p>
        </p:txBody>
      </p:sp>
      <p:sp>
        <p:nvSpPr>
          <p:cNvPr id="20" name="Rounded Rectangle 19"/>
          <p:cNvSpPr/>
          <p:nvPr/>
        </p:nvSpPr>
        <p:spPr>
          <a:xfrm>
            <a:off x="8997696" y="1600200"/>
            <a:ext cx="2651760" cy="141732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97696" y="1737360"/>
            <a:ext cx="2651760" cy="685800"/>
          </a:xfrm>
          <a:prstGeom prst="rect">
            <a:avLst/>
          </a:prstGeom>
          <a:noFill/>
        </p:spPr>
        <p:txBody>
          <a:bodyPr wrap="square" anchor="t" lIns="45720" rIns="45720">
            <a:spAutoFit/>
          </a:bodyPr>
          <a:lstStyle/>
          <a:p>
            <a:pPr algn="ctr">
              <a:lnSpc>
                <a:spcPct val="115000"/>
              </a:lnSpc>
            </a:pPr>
            <a:r>
              <a:rPr sz="3400" b="1">
                <a:solidFill>
                  <a:srgbClr val="BD7148"/>
                </a:solidFill>
                <a:latin typeface="맑은 고딕"/>
                <a:ea typeface="맑은 고딕"/>
                <a:cs typeface="맑은 고딕"/>
              </a:rPr>
              <a:t>128,941</a:t>
            </a:r>
            <a:r>
              <a:rPr sz="1500" b="1">
                <a:solidFill>
                  <a:srgbClr val="BD7148"/>
                </a:solidFill>
                <a:latin typeface="맑은 고딕"/>
                <a:ea typeface="맑은 고딕"/>
                <a:cs typeface="맑은 고딕"/>
              </a:rPr>
              <a:t> 건</a:t>
            </a:r>
          </a:p>
        </p:txBody>
      </p:sp>
      <p:sp>
        <p:nvSpPr>
          <p:cNvPr id="22" name="TextBox 21"/>
          <p:cNvSpPr txBox="1"/>
          <p:nvPr/>
        </p:nvSpPr>
        <p:spPr>
          <a:xfrm>
            <a:off x="8997696" y="2423160"/>
            <a:ext cx="2651760" cy="365760"/>
          </a:xfrm>
          <a:prstGeom prst="rect">
            <a:avLst/>
          </a:prstGeom>
          <a:noFill/>
        </p:spPr>
        <p:txBody>
          <a:bodyPr wrap="square" anchor="t" lIns="45720" rIns="45720">
            <a:spAutoFit/>
          </a:bodyPr>
          <a:lstStyle/>
          <a:p>
            <a:pPr algn="ctr">
              <a:lnSpc>
                <a:spcPct val="115000"/>
              </a:lnSpc>
            </a:pPr>
            <a:r>
              <a:rPr sz="1200" b="0">
                <a:solidFill>
                  <a:srgbClr val="60717B"/>
                </a:solidFill>
                <a:latin typeface="맑은 고딕"/>
                <a:ea typeface="맑은 고딕"/>
                <a:cs typeface="맑은 고딕"/>
              </a:rPr>
              <a:t>실거래 · 18,129개 단지</a:t>
            </a:r>
          </a:p>
        </p:txBody>
      </p:sp>
      <p:sp>
        <p:nvSpPr>
          <p:cNvPr id="23" name="TextBox 22"/>
          <p:cNvSpPr txBox="1"/>
          <p:nvPr/>
        </p:nvSpPr>
        <p:spPr>
          <a:xfrm>
            <a:off x="548640" y="3291840"/>
            <a:ext cx="548640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수집 방식</a:t>
            </a:r>
          </a:p>
        </p:txBody>
      </p:sp>
      <p:sp>
        <p:nvSpPr>
          <p:cNvPr id="24" name="TextBox 23"/>
          <p:cNvSpPr txBox="1"/>
          <p:nvPr/>
        </p:nvSpPr>
        <p:spPr>
          <a:xfrm>
            <a:off x="548640" y="3657600"/>
            <a:ext cx="5486400" cy="2560320"/>
          </a:xfrm>
          <a:prstGeom prst="rect">
            <a:avLst/>
          </a:prstGeom>
          <a:noFill/>
        </p:spPr>
        <p:txBody>
          <a:bodyPr wrap="square" anchor="t" lIns="45720" rIns="45720">
            <a:spAutoFit/>
          </a:bodyPr>
          <a:lstStyle/>
          <a:p>
            <a:pPr algn="l">
              <a:lnSpc>
                <a:spcPct val="150000"/>
              </a:lnSpc>
            </a:pPr>
            <a:r>
              <a:rPr sz="750" b="1">
                <a:solidFill>
                  <a:srgbClr val="086B9B"/>
                </a:solidFill>
                <a:latin typeface="맑은 고딕"/>
                <a:ea typeface="맑은 고딕"/>
                <a:cs typeface="맑은 고딕"/>
              </a:rPr>
              <a:t>●  </a:t>
            </a:r>
            <a:r>
              <a:rPr sz="1350" b="0">
                <a:solidFill>
                  <a:srgbClr val="213440"/>
                </a:solidFill>
                <a:latin typeface="맑은 고딕"/>
                <a:ea typeface="맑은 고딕"/>
                <a:cs typeface="맑은 고딕"/>
              </a:rPr>
              <a:t>출처: 국토교통부 아파트 매매 실거래가 API (data.go.kr)</a:t>
            </a:r>
          </a:p>
          <a:p>
            <a:pPr algn="l">
              <a:lnSpc>
                <a:spcPct val="150000"/>
              </a:lnSpc>
            </a:pPr>
            <a:r>
              <a:rPr sz="750" b="1">
                <a:solidFill>
                  <a:srgbClr val="086B9B"/>
                </a:solidFill>
                <a:latin typeface="맑은 고딕"/>
                <a:ea typeface="맑은 고딕"/>
                <a:cs typeface="맑은 고딕"/>
              </a:rPr>
              <a:t>●  </a:t>
            </a:r>
            <a:r>
              <a:rPr sz="1350" b="0">
                <a:solidFill>
                  <a:srgbClr val="213440"/>
                </a:solidFill>
                <a:latin typeface="맑은 고딕"/>
                <a:ea typeface="맑은 고딕"/>
                <a:cs typeface="맑은 고딕"/>
              </a:rPr>
              <a:t>법정동 코드 5자리 기준, 행정구역 개편(인천 · 화성) 반영</a:t>
            </a:r>
          </a:p>
          <a:p>
            <a:pPr algn="l">
              <a:lnSpc>
                <a:spcPct val="150000"/>
              </a:lnSpc>
            </a:pPr>
            <a:r>
              <a:rPr sz="750" b="1">
                <a:solidFill>
                  <a:srgbClr val="086B9B"/>
                </a:solidFill>
                <a:latin typeface="맑은 고딕"/>
                <a:ea typeface="맑은 고딕"/>
                <a:cs typeface="맑은 고딕"/>
              </a:rPr>
              <a:t>●  </a:t>
            </a:r>
            <a:r>
              <a:rPr sz="1350" b="0">
                <a:solidFill>
                  <a:srgbClr val="213440"/>
                </a:solidFill>
                <a:latin typeface="맑은 고딕"/>
                <a:ea typeface="맑은 고딕"/>
                <a:cs typeface="맑은 고딕"/>
              </a:rPr>
              <a:t>8건 동시 병렬 요청 (ThreadPool) + 실패 시 1·2·4초 재시도</a:t>
            </a:r>
          </a:p>
          <a:p>
            <a:pPr algn="l">
              <a:lnSpc>
                <a:spcPct val="150000"/>
              </a:lnSpc>
            </a:pPr>
            <a:r>
              <a:rPr sz="750" b="1">
                <a:solidFill>
                  <a:srgbClr val="086B9B"/>
                </a:solidFill>
                <a:latin typeface="맑은 고딕"/>
                <a:ea typeface="맑은 고딕"/>
                <a:cs typeface="맑은 고딕"/>
              </a:rPr>
              <a:t>●  </a:t>
            </a:r>
            <a:r>
              <a:rPr sz="1350" b="0">
                <a:solidFill>
                  <a:srgbClr val="213440"/>
                </a:solidFill>
                <a:latin typeface="맑은 고딕"/>
                <a:ea typeface="맑은 고딕"/>
                <a:cs typeface="맑은 고딕"/>
              </a:rPr>
              <a:t>실패 비율이 높으면 중단하고 원인을 로그 · 화면에 출력</a:t>
            </a:r>
          </a:p>
        </p:txBody>
      </p:sp>
      <p:sp>
        <p:nvSpPr>
          <p:cNvPr id="25" name="Rounded Rectangle 24"/>
          <p:cNvSpPr/>
          <p:nvPr/>
        </p:nvSpPr>
        <p:spPr>
          <a:xfrm>
            <a:off x="6355080" y="3291840"/>
            <a:ext cx="5303520" cy="2834640"/>
          </a:xfrm>
          <a:prstGeom prst="roundRect">
            <a:avLst>
              <a:gd name="adj" fmla="val 6000"/>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675120" y="3474720"/>
            <a:ext cx="4754880" cy="365760"/>
          </a:xfrm>
          <a:prstGeom prst="rect">
            <a:avLst/>
          </a:prstGeom>
          <a:noFill/>
        </p:spPr>
        <p:txBody>
          <a:bodyPr wrap="square" anchor="t" lIns="45720" rIns="45720">
            <a:spAutoFit/>
          </a:bodyPr>
          <a:lstStyle/>
          <a:p>
            <a:pPr algn="l">
              <a:lnSpc>
                <a:spcPct val="115000"/>
              </a:lnSpc>
            </a:pPr>
            <a:r>
              <a:rPr sz="1500" b="1">
                <a:solidFill>
                  <a:srgbClr val="F5C59F"/>
                </a:solidFill>
                <a:latin typeface="맑은 고딕"/>
                <a:ea typeface="맑은 고딕"/>
                <a:cs typeface="맑은 고딕"/>
              </a:rPr>
              <a:t>병렬 크롤링 성능 개선</a:t>
            </a:r>
          </a:p>
        </p:txBody>
      </p:sp>
      <p:sp>
        <p:nvSpPr>
          <p:cNvPr id="27" name="TextBox 26"/>
          <p:cNvSpPr txBox="1"/>
          <p:nvPr/>
        </p:nvSpPr>
        <p:spPr>
          <a:xfrm>
            <a:off x="6675120" y="3977639"/>
            <a:ext cx="2194560" cy="365760"/>
          </a:xfrm>
          <a:prstGeom prst="rect">
            <a:avLst/>
          </a:prstGeom>
          <a:noFill/>
        </p:spPr>
        <p:txBody>
          <a:bodyPr wrap="square" anchor="t" lIns="45720" rIns="45720">
            <a:spAutoFit/>
          </a:bodyPr>
          <a:lstStyle/>
          <a:p>
            <a:pPr algn="l">
              <a:lnSpc>
                <a:spcPct val="115000"/>
              </a:lnSpc>
            </a:pPr>
            <a:r>
              <a:rPr sz="1200" b="0">
                <a:solidFill>
                  <a:srgbClr val="DAEAF0"/>
                </a:solidFill>
                <a:latin typeface="맑은 고딕"/>
                <a:ea typeface="맑은 고딕"/>
                <a:cs typeface="맑은 고딕"/>
              </a:rPr>
              <a:t>개선 전 (순차 요청)</a:t>
            </a:r>
          </a:p>
        </p:txBody>
      </p:sp>
      <p:sp>
        <p:nvSpPr>
          <p:cNvPr id="28" name="TextBox 27"/>
          <p:cNvSpPr txBox="1"/>
          <p:nvPr/>
        </p:nvSpPr>
        <p:spPr>
          <a:xfrm>
            <a:off x="6675120" y="4297680"/>
            <a:ext cx="2194560" cy="731520"/>
          </a:xfrm>
          <a:prstGeom prst="rect">
            <a:avLst/>
          </a:prstGeom>
          <a:noFill/>
        </p:spPr>
        <p:txBody>
          <a:bodyPr wrap="square" anchor="t" lIns="45720" rIns="45720">
            <a:spAutoFit/>
          </a:bodyPr>
          <a:lstStyle/>
          <a:p>
            <a:pPr algn="l">
              <a:lnSpc>
                <a:spcPct val="115000"/>
              </a:lnSpc>
            </a:pPr>
            <a:r>
              <a:rPr sz="4000" b="1">
                <a:solidFill>
                  <a:srgbClr val="FFFFFF"/>
                </a:solidFill>
                <a:latin typeface="맑은 고딕"/>
                <a:ea typeface="맑은 고딕"/>
                <a:cs typeface="맑은 고딕"/>
              </a:rPr>
              <a:t>28분+</a:t>
            </a:r>
          </a:p>
        </p:txBody>
      </p:sp>
      <p:sp>
        <p:nvSpPr>
          <p:cNvPr id="29" name="TextBox 28"/>
          <p:cNvSpPr txBox="1"/>
          <p:nvPr/>
        </p:nvSpPr>
        <p:spPr>
          <a:xfrm>
            <a:off x="8732520" y="4343400"/>
            <a:ext cx="548640" cy="731520"/>
          </a:xfrm>
          <a:prstGeom prst="rect">
            <a:avLst/>
          </a:prstGeom>
          <a:noFill/>
        </p:spPr>
        <p:txBody>
          <a:bodyPr wrap="square" anchor="t" lIns="45720" rIns="45720">
            <a:spAutoFit/>
          </a:bodyPr>
          <a:lstStyle/>
          <a:p>
            <a:pPr algn="ctr">
              <a:lnSpc>
                <a:spcPct val="115000"/>
              </a:lnSpc>
            </a:pPr>
            <a:r>
              <a:rPr sz="3200" b="1">
                <a:solidFill>
                  <a:srgbClr val="F5C59F"/>
                </a:solidFill>
                <a:latin typeface="맑은 고딕"/>
                <a:ea typeface="맑은 고딕"/>
                <a:cs typeface="맑은 고딕"/>
              </a:rPr>
              <a:t>→</a:t>
            </a:r>
          </a:p>
        </p:txBody>
      </p:sp>
      <p:sp>
        <p:nvSpPr>
          <p:cNvPr id="30" name="TextBox 29"/>
          <p:cNvSpPr txBox="1"/>
          <p:nvPr/>
        </p:nvSpPr>
        <p:spPr>
          <a:xfrm>
            <a:off x="9326880" y="3977639"/>
            <a:ext cx="2194560" cy="365760"/>
          </a:xfrm>
          <a:prstGeom prst="rect">
            <a:avLst/>
          </a:prstGeom>
          <a:noFill/>
        </p:spPr>
        <p:txBody>
          <a:bodyPr wrap="square" anchor="t" lIns="45720" rIns="45720">
            <a:spAutoFit/>
          </a:bodyPr>
          <a:lstStyle/>
          <a:p>
            <a:pPr algn="l">
              <a:lnSpc>
                <a:spcPct val="115000"/>
              </a:lnSpc>
            </a:pPr>
            <a:r>
              <a:rPr sz="1200" b="0">
                <a:solidFill>
                  <a:srgbClr val="DAEAF0"/>
                </a:solidFill>
                <a:latin typeface="맑은 고딕"/>
                <a:ea typeface="맑은 고딕"/>
                <a:cs typeface="맑은 고딕"/>
              </a:rPr>
              <a:t>개선 후 (8건 병렬)</a:t>
            </a:r>
          </a:p>
        </p:txBody>
      </p:sp>
      <p:sp>
        <p:nvSpPr>
          <p:cNvPr id="31" name="TextBox 30"/>
          <p:cNvSpPr txBox="1"/>
          <p:nvPr/>
        </p:nvSpPr>
        <p:spPr>
          <a:xfrm>
            <a:off x="9326880" y="4297680"/>
            <a:ext cx="2194560" cy="731520"/>
          </a:xfrm>
          <a:prstGeom prst="rect">
            <a:avLst/>
          </a:prstGeom>
          <a:noFill/>
        </p:spPr>
        <p:txBody>
          <a:bodyPr wrap="square" anchor="t" lIns="45720" rIns="45720">
            <a:spAutoFit/>
          </a:bodyPr>
          <a:lstStyle/>
          <a:p>
            <a:pPr algn="l">
              <a:lnSpc>
                <a:spcPct val="115000"/>
              </a:lnSpc>
            </a:pPr>
            <a:r>
              <a:rPr sz="4000" b="1">
                <a:solidFill>
                  <a:srgbClr val="F5C59F"/>
                </a:solidFill>
                <a:latin typeface="맑은 고딕"/>
                <a:ea typeface="맑은 고딕"/>
                <a:cs typeface="맑은 고딕"/>
              </a:rPr>
              <a:t>27초</a:t>
            </a:r>
          </a:p>
        </p:txBody>
      </p:sp>
      <p:sp>
        <p:nvSpPr>
          <p:cNvPr id="32" name="TextBox 31"/>
          <p:cNvSpPr txBox="1"/>
          <p:nvPr/>
        </p:nvSpPr>
        <p:spPr>
          <a:xfrm>
            <a:off x="6675120" y="5212080"/>
            <a:ext cx="4754880" cy="822960"/>
          </a:xfrm>
          <a:prstGeom prst="rect">
            <a:avLst/>
          </a:prstGeom>
          <a:noFill/>
        </p:spPr>
        <p:txBody>
          <a:bodyPr wrap="square" anchor="t" lIns="45720" rIns="45720">
            <a:spAutoFit/>
          </a:bodyPr>
          <a:lstStyle/>
          <a:p>
            <a:pPr algn="l">
              <a:lnSpc>
                <a:spcPct val="135000"/>
              </a:lnSpc>
            </a:pPr>
            <a:r>
              <a:rPr sz="1200" b="0">
                <a:solidFill>
                  <a:srgbClr val="DAEAF0"/>
                </a:solidFill>
                <a:latin typeface="맑은 고딕"/>
                <a:ea typeface="맑은 고딕"/>
                <a:cs typeface="맑은 고딕"/>
              </a:rPr>
              <a:t>API 응답이 건당 0.7~14.6초로 느렸던 날, 498건을 하나씩 보내면서 재시도 대기까지 쌓인 것이 원인이었습니다.</a:t>
            </a:r>
          </a:p>
        </p:txBody>
      </p:sp>
      <p:sp>
        <p:nvSpPr>
          <p:cNvPr id="33" name="Rectangle 32"/>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push dir="l"/>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03  빅데이터 수집 &amp; AI 분석</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전처리와 탐색적 데이터 분석 (EDA)</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박미금</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9 / 20</a:t>
            </a:r>
          </a:p>
        </p:txBody>
      </p:sp>
      <p:sp>
        <p:nvSpPr>
          <p:cNvPr id="11" name="TextBox 10"/>
          <p:cNvSpPr txBox="1"/>
          <p:nvPr/>
        </p:nvSpPr>
        <p:spPr>
          <a:xfrm>
            <a:off x="548640" y="1554480"/>
            <a:ext cx="457200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전처리 단계</a:t>
            </a:r>
          </a:p>
        </p:txBody>
      </p:sp>
      <p:sp>
        <p:nvSpPr>
          <p:cNvPr id="12" name="Oval 11"/>
          <p:cNvSpPr/>
          <p:nvPr/>
        </p:nvSpPr>
        <p:spPr>
          <a:xfrm>
            <a:off x="548640" y="1965960"/>
            <a:ext cx="502920" cy="502920"/>
          </a:xfrm>
          <a:prstGeom prst="ellipse">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965960"/>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1</a:t>
            </a:r>
          </a:p>
        </p:txBody>
      </p:sp>
      <p:sp>
        <p:nvSpPr>
          <p:cNvPr id="14" name="TextBox 13"/>
          <p:cNvSpPr txBox="1"/>
          <p:nvPr/>
        </p:nvSpPr>
        <p:spPr>
          <a:xfrm>
            <a:off x="1234440" y="1920240"/>
            <a:ext cx="384048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정제</a:t>
            </a:r>
          </a:p>
        </p:txBody>
      </p:sp>
      <p:sp>
        <p:nvSpPr>
          <p:cNvPr id="15" name="TextBox 14"/>
          <p:cNvSpPr txBox="1"/>
          <p:nvPr/>
        </p:nvSpPr>
        <p:spPr>
          <a:xfrm>
            <a:off x="1234440" y="2267712"/>
            <a:ext cx="3840480" cy="365760"/>
          </a:xfrm>
          <a:prstGeom prst="rect">
            <a:avLst/>
          </a:prstGeom>
          <a:noFill/>
        </p:spPr>
        <p:txBody>
          <a:bodyPr wrap="square" anchor="t" lIns="45720" rIns="45720">
            <a:spAutoFit/>
          </a:bodyPr>
          <a:lstStyle/>
          <a:p>
            <a:pPr algn="l">
              <a:lnSpc>
                <a:spcPct val="115000"/>
              </a:lnSpc>
            </a:pPr>
            <a:r>
              <a:rPr sz="1250" b="0">
                <a:solidFill>
                  <a:srgbClr val="60717B"/>
                </a:solidFill>
                <a:latin typeface="맑은 고딕"/>
                <a:ea typeface="맑은 고딕"/>
                <a:cs typeface="맑은 고딕"/>
              </a:rPr>
              <a:t>금액 쉼표 · 공백 제거, 숫자 변환</a:t>
            </a:r>
          </a:p>
        </p:txBody>
      </p:sp>
      <p:sp>
        <p:nvSpPr>
          <p:cNvPr id="16" name="Oval 15"/>
          <p:cNvSpPr/>
          <p:nvPr/>
        </p:nvSpPr>
        <p:spPr>
          <a:xfrm>
            <a:off x="548640" y="2990088"/>
            <a:ext cx="502920" cy="502920"/>
          </a:xfrm>
          <a:prstGeom prst="ellipse">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2990088"/>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2</a:t>
            </a:r>
          </a:p>
        </p:txBody>
      </p:sp>
      <p:sp>
        <p:nvSpPr>
          <p:cNvPr id="18" name="TextBox 17"/>
          <p:cNvSpPr txBox="1"/>
          <p:nvPr/>
        </p:nvSpPr>
        <p:spPr>
          <a:xfrm>
            <a:off x="1234440" y="2944368"/>
            <a:ext cx="384048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이상치 제거</a:t>
            </a:r>
          </a:p>
        </p:txBody>
      </p:sp>
      <p:sp>
        <p:nvSpPr>
          <p:cNvPr id="19" name="TextBox 18"/>
          <p:cNvSpPr txBox="1"/>
          <p:nvPr/>
        </p:nvSpPr>
        <p:spPr>
          <a:xfrm>
            <a:off x="1234440" y="3291840"/>
            <a:ext cx="3840480" cy="365760"/>
          </a:xfrm>
          <a:prstGeom prst="rect">
            <a:avLst/>
          </a:prstGeom>
          <a:noFill/>
        </p:spPr>
        <p:txBody>
          <a:bodyPr wrap="square" anchor="t" lIns="45720" rIns="45720">
            <a:spAutoFit/>
          </a:bodyPr>
          <a:lstStyle/>
          <a:p>
            <a:pPr algn="l">
              <a:lnSpc>
                <a:spcPct val="115000"/>
              </a:lnSpc>
            </a:pPr>
            <a:r>
              <a:rPr sz="1250" b="0">
                <a:solidFill>
                  <a:srgbClr val="60717B"/>
                </a:solidFill>
                <a:latin typeface="맑은 고딕"/>
                <a:ea typeface="맑은 고딕"/>
                <a:cs typeface="맑은 고딕"/>
              </a:rPr>
              <a:t>면적 · 가격 극단값, 해제된 거래 제외</a:t>
            </a:r>
          </a:p>
        </p:txBody>
      </p:sp>
      <p:sp>
        <p:nvSpPr>
          <p:cNvPr id="20" name="Oval 19"/>
          <p:cNvSpPr/>
          <p:nvPr/>
        </p:nvSpPr>
        <p:spPr>
          <a:xfrm>
            <a:off x="548640" y="4014216"/>
            <a:ext cx="502920" cy="502920"/>
          </a:xfrm>
          <a:prstGeom prst="ellipse">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4014216"/>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3</a:t>
            </a:r>
          </a:p>
        </p:txBody>
      </p:sp>
      <p:sp>
        <p:nvSpPr>
          <p:cNvPr id="22" name="TextBox 21"/>
          <p:cNvSpPr txBox="1"/>
          <p:nvPr/>
        </p:nvSpPr>
        <p:spPr>
          <a:xfrm>
            <a:off x="1234440" y="3968496"/>
            <a:ext cx="384048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파생 변수</a:t>
            </a:r>
          </a:p>
        </p:txBody>
      </p:sp>
      <p:sp>
        <p:nvSpPr>
          <p:cNvPr id="23" name="TextBox 22"/>
          <p:cNvSpPr txBox="1"/>
          <p:nvPr/>
        </p:nvSpPr>
        <p:spPr>
          <a:xfrm>
            <a:off x="1234440" y="4315968"/>
            <a:ext cx="3840480" cy="365760"/>
          </a:xfrm>
          <a:prstGeom prst="rect">
            <a:avLst/>
          </a:prstGeom>
          <a:noFill/>
        </p:spPr>
        <p:txBody>
          <a:bodyPr wrap="square" anchor="t" lIns="45720" rIns="45720">
            <a:spAutoFit/>
          </a:bodyPr>
          <a:lstStyle/>
          <a:p>
            <a:pPr algn="l">
              <a:lnSpc>
                <a:spcPct val="115000"/>
              </a:lnSpc>
            </a:pPr>
            <a:r>
              <a:rPr sz="1250" b="0">
                <a:solidFill>
                  <a:srgbClr val="60717B"/>
                </a:solidFill>
                <a:latin typeface="맑은 고딕"/>
                <a:ea typeface="맑은 고딕"/>
                <a:cs typeface="맑은 고딕"/>
              </a:rPr>
              <a:t>평당가, 건물 연식, 계약일</a:t>
            </a:r>
          </a:p>
        </p:txBody>
      </p:sp>
      <p:sp>
        <p:nvSpPr>
          <p:cNvPr id="24" name="Oval 23"/>
          <p:cNvSpPr/>
          <p:nvPr/>
        </p:nvSpPr>
        <p:spPr>
          <a:xfrm>
            <a:off x="548640" y="5038344"/>
            <a:ext cx="502920" cy="502920"/>
          </a:xfrm>
          <a:prstGeom prst="ellipse">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5038344"/>
            <a:ext cx="502920" cy="502920"/>
          </a:xfrm>
          <a:prstGeom prst="rect">
            <a:avLst/>
          </a:prstGeom>
          <a:noFill/>
        </p:spPr>
        <p:txBody>
          <a:bodyPr wrap="square" anchor="ctr" lIns="73152" rIns="73152" tIns="73152" bIns="73152">
            <a:spAutoFit/>
          </a:bodyPr>
          <a:lstStyle/>
          <a:p>
            <a:pPr algn="ctr">
              <a:lnSpc>
                <a:spcPct val="115000"/>
              </a:lnSpc>
            </a:pPr>
            <a:r>
              <a:rPr sz="1600" b="1">
                <a:solidFill>
                  <a:srgbClr val="FFFFFF"/>
                </a:solidFill>
                <a:latin typeface="맑은 고딕"/>
                <a:ea typeface="맑은 고딕"/>
                <a:cs typeface="맑은 고딕"/>
              </a:rPr>
              <a:t>4</a:t>
            </a:r>
          </a:p>
        </p:txBody>
      </p:sp>
      <p:sp>
        <p:nvSpPr>
          <p:cNvPr id="26" name="TextBox 25"/>
          <p:cNvSpPr txBox="1"/>
          <p:nvPr/>
        </p:nvSpPr>
        <p:spPr>
          <a:xfrm>
            <a:off x="1234440" y="4992624"/>
            <a:ext cx="384048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방 수 추정</a:t>
            </a:r>
          </a:p>
        </p:txBody>
      </p:sp>
      <p:sp>
        <p:nvSpPr>
          <p:cNvPr id="27" name="TextBox 26"/>
          <p:cNvSpPr txBox="1"/>
          <p:nvPr/>
        </p:nvSpPr>
        <p:spPr>
          <a:xfrm>
            <a:off x="1234440" y="5340096"/>
            <a:ext cx="3840480" cy="365760"/>
          </a:xfrm>
          <a:prstGeom prst="rect">
            <a:avLst/>
          </a:prstGeom>
          <a:noFill/>
        </p:spPr>
        <p:txBody>
          <a:bodyPr wrap="square" anchor="t" lIns="45720" rIns="45720">
            <a:spAutoFit/>
          </a:bodyPr>
          <a:lstStyle/>
          <a:p>
            <a:pPr algn="l">
              <a:lnSpc>
                <a:spcPct val="115000"/>
              </a:lnSpc>
            </a:pPr>
            <a:r>
              <a:rPr sz="1250" b="0">
                <a:solidFill>
                  <a:srgbClr val="60717B"/>
                </a:solidFill>
                <a:latin typeface="맑은 고딕"/>
                <a:ea typeface="맑은 고딕"/>
                <a:cs typeface="맑은 고딕"/>
              </a:rPr>
              <a:t>전용면적 40·60·85㎡ 기준 1~4방+</a:t>
            </a:r>
          </a:p>
        </p:txBody>
      </p:sp>
      <p:graphicFrame>
        <p:nvGraphicFramePr>
          <p:cNvPr id="28" name="Chart 27"/>
          <p:cNvGraphicFramePr>
            <a:graphicFrameLocks noGrp="1"/>
          </p:cNvGraphicFramePr>
          <p:nvPr/>
        </p:nvGraphicFramePr>
        <p:xfrm>
          <a:off x="5394960" y="1783080"/>
          <a:ext cx="6263640" cy="3383280"/>
        </p:xfrm>
        <a:graphic>
          <a:graphicData uri="http://schemas.openxmlformats.org/drawingml/2006/chart">
            <c:chart xmlns:c="http://schemas.openxmlformats.org/drawingml/2006/chart" r:id="rId2"/>
          </a:graphicData>
        </a:graphic>
      </p:graphicFrame>
      <p:sp>
        <p:nvSpPr>
          <p:cNvPr id="29" name="TextBox 28"/>
          <p:cNvSpPr txBox="1"/>
          <p:nvPr/>
        </p:nvSpPr>
        <p:spPr>
          <a:xfrm>
            <a:off x="5394960" y="1508760"/>
            <a:ext cx="6217920" cy="320040"/>
          </a:xfrm>
          <a:prstGeom prst="rect">
            <a:avLst/>
          </a:prstGeom>
          <a:noFill/>
        </p:spPr>
        <p:txBody>
          <a:bodyPr wrap="square" anchor="t" lIns="45720" rIns="45720">
            <a:spAutoFit/>
          </a:bodyPr>
          <a:lstStyle/>
          <a:p>
            <a:pPr algn="l">
              <a:lnSpc>
                <a:spcPct val="115000"/>
              </a:lnSpc>
            </a:pPr>
            <a:r>
              <a:rPr sz="1300" b="1">
                <a:solidFill>
                  <a:srgbClr val="173649"/>
                </a:solidFill>
                <a:latin typeface="맑은 고딕"/>
                <a:ea typeface="맑은 고딕"/>
                <a:cs typeface="맑은 고딕"/>
              </a:rPr>
              <a:t>수도권 월별 실거래 건수</a:t>
            </a:r>
          </a:p>
        </p:txBody>
      </p:sp>
      <p:sp>
        <p:nvSpPr>
          <p:cNvPr id="30" name="TextBox 29"/>
          <p:cNvSpPr txBox="1"/>
          <p:nvPr/>
        </p:nvSpPr>
        <p:spPr>
          <a:xfrm>
            <a:off x="5394960" y="5257800"/>
            <a:ext cx="6263640" cy="1005840"/>
          </a:xfrm>
          <a:prstGeom prst="rect">
            <a:avLst/>
          </a:prstGeom>
          <a:noFill/>
        </p:spPr>
        <p:txBody>
          <a:bodyPr wrap="square" anchor="t" lIns="45720" rIns="45720">
            <a:spAutoFit/>
          </a:bodyPr>
          <a:lstStyle/>
          <a:p>
            <a:pPr algn="l">
              <a:lnSpc>
                <a:spcPct val="135000"/>
              </a:lnSpc>
            </a:pPr>
            <a:r>
              <a:rPr sz="1200" b="1">
                <a:solidFill>
                  <a:srgbClr val="BD7148"/>
                </a:solidFill>
                <a:latin typeface="맑은 고딕"/>
                <a:ea typeface="맑은 고딕"/>
                <a:cs typeface="맑은 고딕"/>
              </a:rPr>
              <a:t>인사이트  </a:t>
            </a:r>
            <a:r>
              <a:rPr sz="1200" b="0">
                <a:solidFill>
                  <a:srgbClr val="213440"/>
                </a:solidFill>
                <a:latin typeface="맑은 고딕"/>
                <a:ea typeface="맑은 고딕"/>
                <a:cs typeface="맑은 고딕"/>
              </a:rPr>
              <a:t>중위 거래가 6.3억(5월) → 5.8억(7월)로 하락, 거래가 가장 활발했던 달은 5월(27,171건). </a:t>
            </a:r>
          </a:p>
          <a:p>
            <a:pPr algn="l">
              <a:lnSpc>
                <a:spcPct val="135000"/>
              </a:lnSpc>
            </a:pPr>
            <a:r>
              <a:rPr sz="1150" b="0">
                <a:solidFill>
                  <a:srgbClr val="60717B"/>
                </a:solidFill>
                <a:latin typeface="맑은 고딕"/>
                <a:ea typeface="맑은 고딕"/>
                <a:cs typeface="맑은 고딕"/>
              </a:rPr>
              <a:t>최근 2개월(연한 막대)은 실거래 신고 기한(30일) 때문에 아직 덜 집계된 값입니다.</a:t>
            </a:r>
          </a:p>
        </p:txBody>
      </p:sp>
      <p:sp>
        <p:nvSpPr>
          <p:cNvPr id="31" name="Rectangle 30"/>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03  빅데이터 수집 &amp; AI 분석</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AI 모델 ① RandomForest — 적정 거래가 예측</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박미금</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10 / 20</a:t>
            </a:r>
          </a:p>
        </p:txBody>
      </p:sp>
      <p:sp>
        <p:nvSpPr>
          <p:cNvPr id="11" name="Rounded Rectangle 10"/>
          <p:cNvSpPr/>
          <p:nvPr/>
        </p:nvSpPr>
        <p:spPr>
          <a:xfrm>
            <a:off x="548640" y="1600200"/>
            <a:ext cx="1737360" cy="146304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1737360"/>
            <a:ext cx="1737360" cy="640080"/>
          </a:xfrm>
          <a:prstGeom prst="rect">
            <a:avLst/>
          </a:prstGeom>
          <a:noFill/>
        </p:spPr>
        <p:txBody>
          <a:bodyPr wrap="square" anchor="t" lIns="45720" rIns="45720">
            <a:spAutoFit/>
          </a:bodyPr>
          <a:lstStyle/>
          <a:p>
            <a:pPr algn="ctr">
              <a:lnSpc>
                <a:spcPct val="115000"/>
              </a:lnSpc>
            </a:pPr>
            <a:r>
              <a:rPr sz="2800" b="1">
                <a:solidFill>
                  <a:srgbClr val="086B9B"/>
                </a:solidFill>
                <a:latin typeface="맑은 고딕"/>
                <a:ea typeface="맑은 고딕"/>
                <a:cs typeface="맑은 고딕"/>
              </a:rPr>
              <a:t>0.938</a:t>
            </a:r>
            <a:r>
              <a:rPr sz="1200" b="1">
                <a:solidFill>
                  <a:srgbClr val="086B9B"/>
                </a:solidFill>
                <a:latin typeface="맑은 고딕"/>
                <a:ea typeface="맑은 고딕"/>
                <a:cs typeface="맑은 고딕"/>
              </a:rPr>
              <a:t/>
            </a:r>
          </a:p>
        </p:txBody>
      </p:sp>
      <p:sp>
        <p:nvSpPr>
          <p:cNvPr id="13" name="TextBox 12"/>
          <p:cNvSpPr txBox="1"/>
          <p:nvPr/>
        </p:nvSpPr>
        <p:spPr>
          <a:xfrm>
            <a:off x="640080" y="2377440"/>
            <a:ext cx="1554480" cy="640080"/>
          </a:xfrm>
          <a:prstGeom prst="rect">
            <a:avLst/>
          </a:prstGeom>
          <a:noFill/>
        </p:spPr>
        <p:txBody>
          <a:bodyPr wrap="square" anchor="t" lIns="45720" rIns="45720">
            <a:spAutoFit/>
          </a:bodyPr>
          <a:lstStyle/>
          <a:p>
            <a:pPr algn="ctr">
              <a:lnSpc>
                <a:spcPct val="115000"/>
              </a:lnSpc>
            </a:pPr>
            <a:r>
              <a:rPr sz="1100" b="0">
                <a:solidFill>
                  <a:srgbClr val="60717B"/>
                </a:solidFill>
                <a:latin typeface="맑은 고딕"/>
                <a:ea typeface="맑은 고딕"/>
                <a:cs typeface="맑은 고딕"/>
              </a:rPr>
              <a:t>결정계수 R² (예측력)</a:t>
            </a:r>
          </a:p>
        </p:txBody>
      </p:sp>
      <p:sp>
        <p:nvSpPr>
          <p:cNvPr id="14" name="Rounded Rectangle 13"/>
          <p:cNvSpPr/>
          <p:nvPr/>
        </p:nvSpPr>
        <p:spPr>
          <a:xfrm>
            <a:off x="2423160" y="1600200"/>
            <a:ext cx="1737360" cy="146304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423160" y="1737360"/>
            <a:ext cx="1737360" cy="640080"/>
          </a:xfrm>
          <a:prstGeom prst="rect">
            <a:avLst/>
          </a:prstGeom>
          <a:noFill/>
        </p:spPr>
        <p:txBody>
          <a:bodyPr wrap="square" anchor="t" lIns="45720" rIns="45720">
            <a:spAutoFit/>
          </a:bodyPr>
          <a:lstStyle/>
          <a:p>
            <a:pPr algn="ctr">
              <a:lnSpc>
                <a:spcPct val="115000"/>
              </a:lnSpc>
            </a:pPr>
            <a:r>
              <a:rPr sz="2800" b="1">
                <a:solidFill>
                  <a:srgbClr val="173649"/>
                </a:solidFill>
                <a:latin typeface="맑은 고딕"/>
                <a:ea typeface="맑은 고딕"/>
                <a:cs typeface="맑은 고딕"/>
              </a:rPr>
              <a:t>7,333</a:t>
            </a:r>
            <a:r>
              <a:rPr sz="1200" b="1">
                <a:solidFill>
                  <a:srgbClr val="173649"/>
                </a:solidFill>
                <a:latin typeface="맑은 고딕"/>
                <a:ea typeface="맑은 고딕"/>
                <a:cs typeface="맑은 고딕"/>
              </a:rPr>
              <a:t>만원</a:t>
            </a:r>
          </a:p>
        </p:txBody>
      </p:sp>
      <p:sp>
        <p:nvSpPr>
          <p:cNvPr id="16" name="TextBox 15"/>
          <p:cNvSpPr txBox="1"/>
          <p:nvPr/>
        </p:nvSpPr>
        <p:spPr>
          <a:xfrm>
            <a:off x="2514600" y="2377440"/>
            <a:ext cx="1554480" cy="640080"/>
          </a:xfrm>
          <a:prstGeom prst="rect">
            <a:avLst/>
          </a:prstGeom>
          <a:noFill/>
        </p:spPr>
        <p:txBody>
          <a:bodyPr wrap="square" anchor="t" lIns="45720" rIns="45720">
            <a:spAutoFit/>
          </a:bodyPr>
          <a:lstStyle/>
          <a:p>
            <a:pPr algn="ctr">
              <a:lnSpc>
                <a:spcPct val="115000"/>
              </a:lnSpc>
            </a:pPr>
            <a:r>
              <a:rPr sz="1100" b="0">
                <a:solidFill>
                  <a:srgbClr val="60717B"/>
                </a:solidFill>
                <a:latin typeface="맑은 고딕"/>
                <a:ea typeface="맑은 고딕"/>
                <a:cs typeface="맑은 고딕"/>
              </a:rPr>
              <a:t>평균 절대 오차 (MAE)</a:t>
            </a:r>
          </a:p>
        </p:txBody>
      </p:sp>
      <p:sp>
        <p:nvSpPr>
          <p:cNvPr id="17" name="Rounded Rectangle 16"/>
          <p:cNvSpPr/>
          <p:nvPr/>
        </p:nvSpPr>
        <p:spPr>
          <a:xfrm>
            <a:off x="4297679" y="1600200"/>
            <a:ext cx="1737360" cy="146304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297679" y="1737360"/>
            <a:ext cx="1737360" cy="640080"/>
          </a:xfrm>
          <a:prstGeom prst="rect">
            <a:avLst/>
          </a:prstGeom>
          <a:noFill/>
        </p:spPr>
        <p:txBody>
          <a:bodyPr wrap="square" anchor="t" lIns="45720" rIns="45720">
            <a:spAutoFit/>
          </a:bodyPr>
          <a:lstStyle/>
          <a:p>
            <a:pPr algn="ctr">
              <a:lnSpc>
                <a:spcPct val="115000"/>
              </a:lnSpc>
            </a:pPr>
            <a:r>
              <a:rPr sz="2800" b="1">
                <a:solidFill>
                  <a:srgbClr val="BD7148"/>
                </a:solidFill>
                <a:latin typeface="맑은 고딕"/>
                <a:ea typeface="맑은 고딕"/>
                <a:cs typeface="맑은 고딕"/>
              </a:rPr>
              <a:t>33</a:t>
            </a:r>
            <a:r>
              <a:rPr sz="1200" b="1">
                <a:solidFill>
                  <a:srgbClr val="BD7148"/>
                </a:solidFill>
                <a:latin typeface="맑은 고딕"/>
                <a:ea typeface="맑은 고딕"/>
                <a:cs typeface="맑은 고딕"/>
              </a:rPr>
              <a:t>%</a:t>
            </a:r>
          </a:p>
        </p:txBody>
      </p:sp>
      <p:sp>
        <p:nvSpPr>
          <p:cNvPr id="19" name="TextBox 18"/>
          <p:cNvSpPr txBox="1"/>
          <p:nvPr/>
        </p:nvSpPr>
        <p:spPr>
          <a:xfrm>
            <a:off x="4389119" y="2377440"/>
            <a:ext cx="1554480" cy="640080"/>
          </a:xfrm>
          <a:prstGeom prst="rect">
            <a:avLst/>
          </a:prstGeom>
          <a:noFill/>
        </p:spPr>
        <p:txBody>
          <a:bodyPr wrap="square" anchor="t" lIns="45720" rIns="45720">
            <a:spAutoFit/>
          </a:bodyPr>
          <a:lstStyle/>
          <a:p>
            <a:pPr algn="ctr">
              <a:lnSpc>
                <a:spcPct val="115000"/>
              </a:lnSpc>
            </a:pPr>
            <a:r>
              <a:rPr sz="1100" b="0">
                <a:solidFill>
                  <a:srgbClr val="60717B"/>
                </a:solidFill>
                <a:latin typeface="맑은 고딕"/>
                <a:ea typeface="맑은 고딕"/>
                <a:cs typeface="맑은 고딕"/>
              </a:rPr>
              <a:t>저평가 거래 비율 (적정가보다 5%↓)</a:t>
            </a:r>
          </a:p>
        </p:txBody>
      </p:sp>
      <p:sp>
        <p:nvSpPr>
          <p:cNvPr id="20" name="TextBox 19"/>
          <p:cNvSpPr txBox="1"/>
          <p:nvPr/>
        </p:nvSpPr>
        <p:spPr>
          <a:xfrm>
            <a:off x="548640" y="3337560"/>
            <a:ext cx="548640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모델 구성</a:t>
            </a:r>
          </a:p>
        </p:txBody>
      </p:sp>
      <p:sp>
        <p:nvSpPr>
          <p:cNvPr id="21" name="TextBox 20"/>
          <p:cNvSpPr txBox="1"/>
          <p:nvPr/>
        </p:nvSpPr>
        <p:spPr>
          <a:xfrm>
            <a:off x="548640" y="3703320"/>
            <a:ext cx="5486400" cy="2560320"/>
          </a:xfrm>
          <a:prstGeom prst="rect">
            <a:avLst/>
          </a:prstGeom>
          <a:noFill/>
        </p:spPr>
        <p:txBody>
          <a:bodyPr wrap="square" anchor="t" lIns="45720" rIns="45720">
            <a:spAutoFit/>
          </a:bodyPr>
          <a:lstStyle/>
          <a:p>
            <a:pPr algn="l">
              <a:lnSpc>
                <a:spcPct val="150000"/>
              </a:lnSpc>
            </a:pPr>
            <a:r>
              <a:rPr sz="750" b="1">
                <a:solidFill>
                  <a:srgbClr val="086B9B"/>
                </a:solidFill>
                <a:latin typeface="맑은 고딕"/>
                <a:ea typeface="맑은 고딕"/>
                <a:cs typeface="맑은 고딕"/>
              </a:rPr>
              <a:t>●  </a:t>
            </a:r>
            <a:r>
              <a:rPr sz="1350" b="0">
                <a:solidFill>
                  <a:srgbClr val="213440"/>
                </a:solidFill>
                <a:latin typeface="맑은 고딕"/>
                <a:ea typeface="맑은 고딕"/>
                <a:cs typeface="맑은 고딕"/>
              </a:rPr>
              <a:t>입력: 전용면적 · 층 · 건물 연식 + 지역(One-Hot)</a:t>
            </a:r>
          </a:p>
          <a:p>
            <a:pPr algn="l">
              <a:lnSpc>
                <a:spcPct val="150000"/>
              </a:lnSpc>
            </a:pPr>
            <a:r>
              <a:rPr sz="750" b="1">
                <a:solidFill>
                  <a:srgbClr val="086B9B"/>
                </a:solidFill>
                <a:latin typeface="맑은 고딕"/>
                <a:ea typeface="맑은 고딕"/>
                <a:cs typeface="맑은 고딕"/>
              </a:rPr>
              <a:t>●  </a:t>
            </a:r>
            <a:r>
              <a:rPr sz="1350" b="0">
                <a:solidFill>
                  <a:srgbClr val="213440"/>
                </a:solidFill>
                <a:latin typeface="맑은 고딕"/>
                <a:ea typeface="맑은 고딕"/>
                <a:cs typeface="맑은 고딕"/>
              </a:rPr>
              <a:t>RandomForestRegressor (트리 200개, 최소 리프 3)</a:t>
            </a:r>
          </a:p>
          <a:p>
            <a:pPr algn="l">
              <a:lnSpc>
                <a:spcPct val="150000"/>
              </a:lnSpc>
            </a:pPr>
            <a:r>
              <a:rPr sz="750" b="1">
                <a:solidFill>
                  <a:srgbClr val="086B9B"/>
                </a:solidFill>
                <a:latin typeface="맑은 고딕"/>
                <a:ea typeface="맑은 고딕"/>
                <a:cs typeface="맑은 고딕"/>
              </a:rPr>
              <a:t>●  </a:t>
            </a:r>
            <a:r>
              <a:rPr sz="1350" b="0">
                <a:solidFill>
                  <a:srgbClr val="213440"/>
                </a:solidFill>
                <a:latin typeface="맑은 고딕"/>
                <a:ea typeface="맑은 고딕"/>
                <a:cs typeface="맑은 고딕"/>
              </a:rPr>
              <a:t>저평가 점수(valueScore) = </a:t>
            </a:r>
            <a:r>
              <a:rPr sz="1350" b="1">
                <a:solidFill>
                  <a:srgbClr val="BD7148"/>
                </a:solidFill>
                <a:latin typeface="맑은 고딕"/>
                <a:ea typeface="맑은 고딕"/>
                <a:cs typeface="맑은 고딕"/>
              </a:rPr>
              <a:t>AI 적정가 ÷ 실제 거래가</a:t>
            </a:r>
          </a:p>
          <a:p>
            <a:pPr algn="l">
              <a:lnSpc>
                <a:spcPct val="150000"/>
              </a:lnSpc>
            </a:pPr>
            <a:r>
              <a:rPr sz="750" b="1">
                <a:solidFill>
                  <a:srgbClr val="086B9B"/>
                </a:solidFill>
                <a:latin typeface="맑은 고딕"/>
                <a:ea typeface="맑은 고딕"/>
                <a:cs typeface="맑은 고딕"/>
              </a:rPr>
              <a:t>●  </a:t>
            </a:r>
            <a:r>
              <a:rPr sz="1350" b="0">
                <a:solidFill>
                  <a:srgbClr val="213440"/>
                </a:solidFill>
                <a:latin typeface="맑은 고딕"/>
                <a:ea typeface="맑은 고딕"/>
                <a:cs typeface="맑은 고딕"/>
              </a:rPr>
              <a:t>1보다 크면 적정가보다 싸게 거래된 단지</a:t>
            </a:r>
          </a:p>
        </p:txBody>
      </p:sp>
      <p:graphicFrame>
        <p:nvGraphicFramePr>
          <p:cNvPr id="22" name="Chart 21"/>
          <p:cNvGraphicFramePr>
            <a:graphicFrameLocks noGrp="1"/>
          </p:cNvGraphicFramePr>
          <p:nvPr/>
        </p:nvGraphicFramePr>
        <p:xfrm>
          <a:off x="6400800" y="1920240"/>
          <a:ext cx="5257800" cy="3108960"/>
        </p:xfrm>
        <a:graphic>
          <a:graphicData uri="http://schemas.openxmlformats.org/drawingml/2006/chart">
            <c:chart xmlns:c="http://schemas.openxmlformats.org/drawingml/2006/chart" r:id="rId2"/>
          </a:graphicData>
        </a:graphic>
      </p:graphicFrame>
      <p:sp>
        <p:nvSpPr>
          <p:cNvPr id="23" name="TextBox 22"/>
          <p:cNvSpPr txBox="1"/>
          <p:nvPr/>
        </p:nvSpPr>
        <p:spPr>
          <a:xfrm>
            <a:off x="6400800" y="1554480"/>
            <a:ext cx="5212080" cy="365760"/>
          </a:xfrm>
          <a:prstGeom prst="rect">
            <a:avLst/>
          </a:prstGeom>
          <a:noFill/>
        </p:spPr>
        <p:txBody>
          <a:bodyPr wrap="square" anchor="t" lIns="45720" rIns="45720">
            <a:spAutoFit/>
          </a:bodyPr>
          <a:lstStyle/>
          <a:p>
            <a:pPr algn="l">
              <a:lnSpc>
                <a:spcPct val="115000"/>
              </a:lnSpc>
            </a:pPr>
            <a:r>
              <a:rPr sz="1300" b="1">
                <a:solidFill>
                  <a:srgbClr val="173649"/>
                </a:solidFill>
                <a:latin typeface="맑은 고딕"/>
                <a:ea typeface="맑은 고딕"/>
                <a:cs typeface="맑은 고딕"/>
              </a:rPr>
              <a:t>AI가 본 가격 결정 요인 (Feature Importance)</a:t>
            </a:r>
          </a:p>
        </p:txBody>
      </p:sp>
      <p:sp>
        <p:nvSpPr>
          <p:cNvPr id="24" name="TextBox 23"/>
          <p:cNvSpPr txBox="1"/>
          <p:nvPr/>
        </p:nvSpPr>
        <p:spPr>
          <a:xfrm>
            <a:off x="6400800" y="5120640"/>
            <a:ext cx="5257800" cy="1097280"/>
          </a:xfrm>
          <a:prstGeom prst="rect">
            <a:avLst/>
          </a:prstGeom>
          <a:noFill/>
        </p:spPr>
        <p:txBody>
          <a:bodyPr wrap="square" anchor="t" lIns="45720" rIns="45720">
            <a:spAutoFit/>
          </a:bodyPr>
          <a:lstStyle/>
          <a:p>
            <a:pPr algn="l">
              <a:lnSpc>
                <a:spcPct val="135000"/>
              </a:lnSpc>
            </a:pPr>
            <a:r>
              <a:rPr sz="1250" b="0">
                <a:solidFill>
                  <a:srgbClr val="213440"/>
                </a:solidFill>
                <a:latin typeface="맑은 고딕"/>
                <a:ea typeface="맑은 고딕"/>
                <a:cs typeface="맑은 고딕"/>
              </a:rPr>
              <a:t>→ 가격은 </a:t>
            </a:r>
            <a:r>
              <a:rPr sz="1250" b="1">
                <a:solidFill>
                  <a:srgbClr val="086B9B"/>
                </a:solidFill>
                <a:latin typeface="맑은 고딕"/>
                <a:ea typeface="맑은 고딕"/>
                <a:cs typeface="맑은 고딕"/>
              </a:rPr>
              <a:t>지역(63%)</a:t>
            </a:r>
            <a:r>
              <a:rPr sz="1250" b="0">
                <a:solidFill>
                  <a:srgbClr val="213440"/>
                </a:solidFill>
                <a:latin typeface="맑은 고딕"/>
                <a:ea typeface="맑은 고딕"/>
                <a:cs typeface="맑은 고딕"/>
              </a:rPr>
              <a:t> 과 </a:t>
            </a:r>
            <a:r>
              <a:rPr sz="1250" b="1">
                <a:solidFill>
                  <a:srgbClr val="086B9B"/>
                </a:solidFill>
                <a:latin typeface="맑은 고딕"/>
                <a:ea typeface="맑은 고딕"/>
                <a:cs typeface="맑은 고딕"/>
              </a:rPr>
              <a:t>전용면적(26%)</a:t>
            </a:r>
            <a:r>
              <a:rPr sz="1250" b="0">
                <a:solidFill>
                  <a:srgbClr val="213440"/>
                </a:solidFill>
                <a:latin typeface="맑은 고딕"/>
                <a:ea typeface="맑은 고딕"/>
                <a:cs typeface="맑은 고딕"/>
              </a:rPr>
              <a:t> 이 대부분 결정하고, 층은 거의 영향이 없었습니다.</a:t>
            </a:r>
          </a:p>
        </p:txBody>
      </p:sp>
      <p:sp>
        <p:nvSpPr>
          <p:cNvPr id="25" name="Rectangle 24"/>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03  빅데이터 수집 &amp; AI 분석</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AI 모델 ② KMeans 단지 유형 &amp; 추천 점수</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박미금</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11 / 20</a:t>
            </a:r>
          </a:p>
        </p:txBody>
      </p:sp>
      <p:sp>
        <p:nvSpPr>
          <p:cNvPr id="11" name="TextBox 10"/>
          <p:cNvSpPr txBox="1"/>
          <p:nvPr/>
        </p:nvSpPr>
        <p:spPr>
          <a:xfrm>
            <a:off x="548640" y="1554480"/>
            <a:ext cx="594360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KMeans 군집 → 사람이 읽는 단지 유형 이름</a:t>
            </a:r>
          </a:p>
        </p:txBody>
      </p:sp>
      <p:graphicFrame>
        <p:nvGraphicFramePr>
          <p:cNvPr id="12" name="Table 11"/>
          <p:cNvGraphicFramePr>
            <a:graphicFrameLocks noGrp="1"/>
          </p:cNvGraphicFramePr>
          <p:nvPr/>
        </p:nvGraphicFramePr>
        <p:xfrm>
          <a:off x="548640" y="1965960"/>
          <a:ext cx="5943600" cy="3017520"/>
        </p:xfrm>
        <a:graphic>
          <a:graphicData uri="http://schemas.openxmlformats.org/drawingml/2006/table">
            <a:tbl>
              <a:tblPr firstRow="1" bandRow="1">
                <a:tableStyleId>{5C22544A-7EE6-4342-B048-85BDC9FD1C3A}</a:tableStyleId>
              </a:tblPr>
              <a:tblGrid>
                <a:gridCol w="1737360"/>
                <a:gridCol w="1188720"/>
                <a:gridCol w="1325880"/>
                <a:gridCol w="1691640"/>
              </a:tblGrid>
              <a:tr h="502920">
                <a:tc>
                  <a:txBody>
                    <a:bodyPr wrap="square"/>
                    <a:lstStyle/>
                    <a:p>
                      <a:r>
                        <a:rPr sz="1200" b="1">
                          <a:solidFill>
                            <a:srgbClr val="FFFFFF"/>
                          </a:solidFill>
                          <a:latin typeface="맑은 고딕"/>
                          <a:ea typeface="맑은 고딕"/>
                          <a:cs typeface="맑은 고딕"/>
                        </a:rPr>
                        <a:t>단지 유형</a:t>
                      </a:r>
                    </a:p>
                  </a:txBody>
                  <a:tcPr marL="73152" marR="73152" marT="36576" marB="36576" anchor="ctr">
                    <a:solidFill>
                      <a:srgbClr val="173649"/>
                    </a:solidFill>
                  </a:tcPr>
                </a:tc>
                <a:tc>
                  <a:txBody>
                    <a:bodyPr wrap="square"/>
                    <a:lstStyle/>
                    <a:p>
                      <a:r>
                        <a:rPr sz="1200" b="1">
                          <a:solidFill>
                            <a:srgbClr val="FFFFFF"/>
                          </a:solidFill>
                          <a:latin typeface="맑은 고딕"/>
                          <a:ea typeface="맑은 고딕"/>
                          <a:cs typeface="맑은 고딕"/>
                        </a:rPr>
                        <a:t>중위 거래가</a:t>
                      </a:r>
                    </a:p>
                  </a:txBody>
                  <a:tcPr marL="73152" marR="73152" marT="36576" marB="36576" anchor="ctr">
                    <a:solidFill>
                      <a:srgbClr val="173649"/>
                    </a:solidFill>
                  </a:tcPr>
                </a:tc>
                <a:tc>
                  <a:txBody>
                    <a:bodyPr wrap="square"/>
                    <a:lstStyle/>
                    <a:p>
                      <a:r>
                        <a:rPr sz="1200" b="1">
                          <a:solidFill>
                            <a:srgbClr val="FFFFFF"/>
                          </a:solidFill>
                          <a:latin typeface="맑은 고딕"/>
                          <a:ea typeface="맑은 고딕"/>
                          <a:cs typeface="맑은 고딕"/>
                        </a:rPr>
                        <a:t>면적 · 연식</a:t>
                      </a:r>
                    </a:p>
                  </a:txBody>
                  <a:tcPr marL="73152" marR="73152" marT="36576" marB="36576" anchor="ctr">
                    <a:solidFill>
                      <a:srgbClr val="173649"/>
                    </a:solidFill>
                  </a:tcPr>
                </a:tc>
                <a:tc>
                  <a:txBody>
                    <a:bodyPr wrap="square"/>
                    <a:lstStyle/>
                    <a:p>
                      <a:r>
                        <a:rPr sz="1200" b="1">
                          <a:solidFill>
                            <a:srgbClr val="FFFFFF"/>
                          </a:solidFill>
                          <a:latin typeface="맑은 고딕"/>
                          <a:ea typeface="맑은 고딕"/>
                          <a:cs typeface="맑은 고딕"/>
                        </a:rPr>
                        <a:t>대표 지역</a:t>
                      </a:r>
                    </a:p>
                  </a:txBody>
                  <a:tcPr marL="73152" marR="73152" marT="36576" marB="36576" anchor="ctr">
                    <a:solidFill>
                      <a:srgbClr val="173649"/>
                    </a:solidFill>
                  </a:tcPr>
                </a:tc>
              </a:tr>
              <a:tr h="502920">
                <a:tc>
                  <a:txBody>
                    <a:bodyPr wrap="square"/>
                    <a:lstStyle/>
                    <a:p>
                      <a:r>
                        <a:rPr sz="1150" b="1">
                          <a:solidFill>
                            <a:srgbClr val="173649"/>
                          </a:solidFill>
                          <a:latin typeface="맑은 고딕"/>
                          <a:ea typeface="맑은 고딕"/>
                          <a:cs typeface="맑은 고딕"/>
                        </a:rPr>
                        <a:t>구축·대형·고가</a:t>
                      </a:r>
                    </a:p>
                  </a:txBody>
                  <a:tcPr marL="73152" marR="73152" marT="36576" marB="36576" anchor="ctr">
                    <a:solidFill>
                      <a:srgbClr val="FFFFFF"/>
                    </a:solidFill>
                  </a:tcPr>
                </a:tc>
                <a:tc>
                  <a:txBody>
                    <a:bodyPr wrap="square"/>
                    <a:lstStyle/>
                    <a:p>
                      <a:r>
                        <a:rPr sz="1150" b="0">
                          <a:solidFill>
                            <a:srgbClr val="213440"/>
                          </a:solidFill>
                          <a:latin typeface="맑은 고딕"/>
                          <a:ea typeface="맑은 고딕"/>
                          <a:cs typeface="맑은 고딕"/>
                        </a:rPr>
                        <a:t>35억</a:t>
                      </a:r>
                    </a:p>
                  </a:txBody>
                  <a:tcPr marL="73152" marR="73152" marT="36576" marB="36576" anchor="ctr">
                    <a:solidFill>
                      <a:srgbClr val="FFFFFF"/>
                    </a:solidFill>
                  </a:tcPr>
                </a:tc>
                <a:tc>
                  <a:txBody>
                    <a:bodyPr wrap="square"/>
                    <a:lstStyle/>
                    <a:p>
                      <a:r>
                        <a:rPr sz="1150" b="0">
                          <a:solidFill>
                            <a:srgbClr val="213440"/>
                          </a:solidFill>
                          <a:latin typeface="맑은 고딕"/>
                          <a:ea typeface="맑은 고딕"/>
                          <a:cs typeface="맑은 고딕"/>
                        </a:rPr>
                        <a:t>131㎡ · 24년</a:t>
                      </a:r>
                    </a:p>
                  </a:txBody>
                  <a:tcPr marL="73152" marR="73152" marT="36576" marB="36576" anchor="ctr">
                    <a:solidFill>
                      <a:srgbClr val="FFFFFF"/>
                    </a:solidFill>
                  </a:tcPr>
                </a:tc>
                <a:tc>
                  <a:txBody>
                    <a:bodyPr wrap="square"/>
                    <a:lstStyle/>
                    <a:p>
                      <a:r>
                        <a:rPr sz="1150" b="0">
                          <a:solidFill>
                            <a:srgbClr val="213440"/>
                          </a:solidFill>
                          <a:latin typeface="맑은 고딕"/>
                          <a:ea typeface="맑은 고딕"/>
                          <a:cs typeface="맑은 고딕"/>
                        </a:rPr>
                        <a:t>서울 강남구</a:t>
                      </a:r>
                    </a:p>
                  </a:txBody>
                  <a:tcPr marL="73152" marR="73152" marT="36576" marB="36576" anchor="ctr">
                    <a:solidFill>
                      <a:srgbClr val="FFFFFF"/>
                    </a:solidFill>
                  </a:tcPr>
                </a:tc>
              </a:tr>
              <a:tr h="502920">
                <a:tc>
                  <a:txBody>
                    <a:bodyPr wrap="square"/>
                    <a:lstStyle/>
                    <a:p>
                      <a:r>
                        <a:rPr sz="1150" b="1">
                          <a:solidFill>
                            <a:srgbClr val="173649"/>
                          </a:solidFill>
                          <a:latin typeface="맑은 고딕"/>
                          <a:ea typeface="맑은 고딕"/>
                          <a:cs typeface="맑은 고딕"/>
                        </a:rPr>
                        <a:t>준신축·중형·고가</a:t>
                      </a:r>
                    </a:p>
                  </a:txBody>
                  <a:tcPr marL="73152" marR="73152" marT="36576" marB="36576" anchor="ctr">
                    <a:solidFill>
                      <a:srgbClr val="F3F0E9"/>
                    </a:solidFill>
                  </a:tcPr>
                </a:tc>
                <a:tc>
                  <a:txBody>
                    <a:bodyPr wrap="square"/>
                    <a:lstStyle/>
                    <a:p>
                      <a:r>
                        <a:rPr sz="1150" b="0">
                          <a:solidFill>
                            <a:srgbClr val="213440"/>
                          </a:solidFill>
                          <a:latin typeface="맑은 고딕"/>
                          <a:ea typeface="맑은 고딕"/>
                          <a:cs typeface="맑은 고딕"/>
                        </a:rPr>
                        <a:t>18.2억</a:t>
                      </a:r>
                    </a:p>
                  </a:txBody>
                  <a:tcPr marL="73152" marR="73152" marT="36576" marB="36576" anchor="ctr">
                    <a:solidFill>
                      <a:srgbClr val="F3F0E9"/>
                    </a:solidFill>
                  </a:tcPr>
                </a:tc>
                <a:tc>
                  <a:txBody>
                    <a:bodyPr wrap="square"/>
                    <a:lstStyle/>
                    <a:p>
                      <a:r>
                        <a:rPr sz="1150" b="0">
                          <a:solidFill>
                            <a:srgbClr val="213440"/>
                          </a:solidFill>
                          <a:latin typeface="맑은 고딕"/>
                          <a:ea typeface="맑은 고딕"/>
                          <a:cs typeface="맑은 고딕"/>
                        </a:rPr>
                        <a:t>85㎡ · 11년</a:t>
                      </a:r>
                    </a:p>
                  </a:txBody>
                  <a:tcPr marL="73152" marR="73152" marT="36576" marB="36576" anchor="ctr">
                    <a:solidFill>
                      <a:srgbClr val="F3F0E9"/>
                    </a:solidFill>
                  </a:tcPr>
                </a:tc>
                <a:tc>
                  <a:txBody>
                    <a:bodyPr wrap="square"/>
                    <a:lstStyle/>
                    <a:p>
                      <a:r>
                        <a:rPr sz="1150" b="0">
                          <a:solidFill>
                            <a:srgbClr val="213440"/>
                          </a:solidFill>
                          <a:latin typeface="맑은 고딕"/>
                          <a:ea typeface="맑은 고딕"/>
                          <a:cs typeface="맑은 고딕"/>
                        </a:rPr>
                        <a:t>서울 서초구</a:t>
                      </a:r>
                    </a:p>
                  </a:txBody>
                  <a:tcPr marL="73152" marR="73152" marT="36576" marB="36576" anchor="ctr">
                    <a:solidFill>
                      <a:srgbClr val="F3F0E9"/>
                    </a:solidFill>
                  </a:tcPr>
                </a:tc>
              </a:tr>
              <a:tr h="502920">
                <a:tc>
                  <a:txBody>
                    <a:bodyPr wrap="square"/>
                    <a:lstStyle/>
                    <a:p>
                      <a:r>
                        <a:rPr sz="1150" b="1">
                          <a:solidFill>
                            <a:srgbClr val="173649"/>
                          </a:solidFill>
                          <a:latin typeface="맑은 고딕"/>
                          <a:ea typeface="맑은 고딕"/>
                          <a:cs typeface="맑은 고딕"/>
                        </a:rPr>
                        <a:t>구축·중형·고가</a:t>
                      </a:r>
                    </a:p>
                  </a:txBody>
                  <a:tcPr marL="73152" marR="73152" marT="36576" marB="36576" anchor="ctr">
                    <a:solidFill>
                      <a:srgbClr val="FFFFFF"/>
                    </a:solidFill>
                  </a:tcPr>
                </a:tc>
                <a:tc>
                  <a:txBody>
                    <a:bodyPr wrap="square"/>
                    <a:lstStyle/>
                    <a:p>
                      <a:r>
                        <a:rPr sz="1150" b="0">
                          <a:solidFill>
                            <a:srgbClr val="213440"/>
                          </a:solidFill>
                          <a:latin typeface="맑은 고딕"/>
                          <a:ea typeface="맑은 고딕"/>
                          <a:cs typeface="맑은 고딕"/>
                        </a:rPr>
                        <a:t>15.4억</a:t>
                      </a:r>
                    </a:p>
                  </a:txBody>
                  <a:tcPr marL="73152" marR="73152" marT="36576" marB="36576" anchor="ctr">
                    <a:solidFill>
                      <a:srgbClr val="FFFFFF"/>
                    </a:solidFill>
                  </a:tcPr>
                </a:tc>
                <a:tc>
                  <a:txBody>
                    <a:bodyPr wrap="square"/>
                    <a:lstStyle/>
                    <a:p>
                      <a:r>
                        <a:rPr sz="1150" b="0">
                          <a:solidFill>
                            <a:srgbClr val="213440"/>
                          </a:solidFill>
                          <a:latin typeface="맑은 고딕"/>
                          <a:ea typeface="맑은 고딕"/>
                          <a:cs typeface="맑은 고딕"/>
                        </a:rPr>
                        <a:t>84㎡ · 30년</a:t>
                      </a:r>
                    </a:p>
                  </a:txBody>
                  <a:tcPr marL="73152" marR="73152" marT="36576" marB="36576" anchor="ctr">
                    <a:solidFill>
                      <a:srgbClr val="FFFFFF"/>
                    </a:solidFill>
                  </a:tcPr>
                </a:tc>
                <a:tc>
                  <a:txBody>
                    <a:bodyPr wrap="square"/>
                    <a:lstStyle/>
                    <a:p>
                      <a:r>
                        <a:rPr sz="1150" b="0">
                          <a:solidFill>
                            <a:srgbClr val="213440"/>
                          </a:solidFill>
                          <a:latin typeface="맑은 고딕"/>
                          <a:ea typeface="맑은 고딕"/>
                          <a:cs typeface="맑은 고딕"/>
                        </a:rPr>
                        <a:t>경기 성남시 분당구</a:t>
                      </a:r>
                    </a:p>
                  </a:txBody>
                  <a:tcPr marL="73152" marR="73152" marT="36576" marB="36576" anchor="ctr">
                    <a:solidFill>
                      <a:srgbClr val="FFFFFF"/>
                    </a:solidFill>
                  </a:tcPr>
                </a:tc>
              </a:tr>
              <a:tr h="502920">
                <a:tc>
                  <a:txBody>
                    <a:bodyPr wrap="square"/>
                    <a:lstStyle/>
                    <a:p>
                      <a:r>
                        <a:rPr sz="1150" b="1">
                          <a:solidFill>
                            <a:srgbClr val="173649"/>
                          </a:solidFill>
                          <a:latin typeface="맑은 고딕"/>
                          <a:ea typeface="맑은 고딕"/>
                          <a:cs typeface="맑은 고딕"/>
                        </a:rPr>
                        <a:t>구축·대형·중간가</a:t>
                      </a:r>
                    </a:p>
                  </a:txBody>
                  <a:tcPr marL="73152" marR="73152" marT="36576" marB="36576" anchor="ctr">
                    <a:solidFill>
                      <a:srgbClr val="F3F0E9"/>
                    </a:solidFill>
                  </a:tcPr>
                </a:tc>
                <a:tc>
                  <a:txBody>
                    <a:bodyPr wrap="square"/>
                    <a:lstStyle/>
                    <a:p>
                      <a:r>
                        <a:rPr sz="1150" b="0">
                          <a:solidFill>
                            <a:srgbClr val="213440"/>
                          </a:solidFill>
                          <a:latin typeface="맑은 고딕"/>
                          <a:ea typeface="맑은 고딕"/>
                          <a:cs typeface="맑은 고딕"/>
                        </a:rPr>
                        <a:t>8.3억</a:t>
                      </a:r>
                    </a:p>
                  </a:txBody>
                  <a:tcPr marL="73152" marR="73152" marT="36576" marB="36576" anchor="ctr">
                    <a:solidFill>
                      <a:srgbClr val="F3F0E9"/>
                    </a:solidFill>
                  </a:tcPr>
                </a:tc>
                <a:tc>
                  <a:txBody>
                    <a:bodyPr wrap="square"/>
                    <a:lstStyle/>
                    <a:p>
                      <a:r>
                        <a:rPr sz="1150" b="0">
                          <a:solidFill>
                            <a:srgbClr val="213440"/>
                          </a:solidFill>
                          <a:latin typeface="맑은 고딕"/>
                          <a:ea typeface="맑은 고딕"/>
                          <a:cs typeface="맑은 고딕"/>
                        </a:rPr>
                        <a:t>122㎡ · 23년</a:t>
                      </a:r>
                    </a:p>
                  </a:txBody>
                  <a:tcPr marL="73152" marR="73152" marT="36576" marB="36576" anchor="ctr">
                    <a:solidFill>
                      <a:srgbClr val="F3F0E9"/>
                    </a:solidFill>
                  </a:tcPr>
                </a:tc>
                <a:tc>
                  <a:txBody>
                    <a:bodyPr wrap="square"/>
                    <a:lstStyle/>
                    <a:p>
                      <a:r>
                        <a:rPr sz="1150" b="0">
                          <a:solidFill>
                            <a:srgbClr val="213440"/>
                          </a:solidFill>
                          <a:latin typeface="맑은 고딕"/>
                          <a:ea typeface="맑은 고딕"/>
                          <a:cs typeface="맑은 고딕"/>
                        </a:rPr>
                        <a:t>경기 용인시 수지구</a:t>
                      </a:r>
                    </a:p>
                  </a:txBody>
                  <a:tcPr marL="73152" marR="73152" marT="36576" marB="36576" anchor="ctr">
                    <a:solidFill>
                      <a:srgbClr val="F3F0E9"/>
                    </a:solidFill>
                  </a:tcPr>
                </a:tc>
              </a:tr>
              <a:tr h="502920">
                <a:tc>
                  <a:txBody>
                    <a:bodyPr wrap="square"/>
                    <a:lstStyle/>
                    <a:p>
                      <a:r>
                        <a:rPr sz="1150" b="1">
                          <a:solidFill>
                            <a:srgbClr val="173649"/>
                          </a:solidFill>
                          <a:latin typeface="맑은 고딕"/>
                          <a:ea typeface="맑은 고딕"/>
                          <a:cs typeface="맑은 고딕"/>
                        </a:rPr>
                        <a:t>신축·중소형·중간가</a:t>
                      </a:r>
                    </a:p>
                  </a:txBody>
                  <a:tcPr marL="73152" marR="73152" marT="36576" marB="36576" anchor="ctr">
                    <a:solidFill>
                      <a:srgbClr val="FFFFFF"/>
                    </a:solidFill>
                  </a:tcPr>
                </a:tc>
                <a:tc>
                  <a:txBody>
                    <a:bodyPr wrap="square"/>
                    <a:lstStyle/>
                    <a:p>
                      <a:r>
                        <a:rPr sz="1150" b="0">
                          <a:solidFill>
                            <a:srgbClr val="213440"/>
                          </a:solidFill>
                          <a:latin typeface="맑은 고딕"/>
                          <a:ea typeface="맑은 고딕"/>
                          <a:cs typeface="맑은 고딕"/>
                        </a:rPr>
                        <a:t>5.7억</a:t>
                      </a:r>
                    </a:p>
                  </a:txBody>
                  <a:tcPr marL="73152" marR="73152" marT="36576" marB="36576" anchor="ctr">
                    <a:solidFill>
                      <a:srgbClr val="FFFFFF"/>
                    </a:solidFill>
                  </a:tcPr>
                </a:tc>
                <a:tc>
                  <a:txBody>
                    <a:bodyPr wrap="square"/>
                    <a:lstStyle/>
                    <a:p>
                      <a:r>
                        <a:rPr sz="1150" b="0">
                          <a:solidFill>
                            <a:srgbClr val="213440"/>
                          </a:solidFill>
                          <a:latin typeface="맑은 고딕"/>
                          <a:ea typeface="맑은 고딕"/>
                          <a:cs typeface="맑은 고딕"/>
                        </a:rPr>
                        <a:t>75㎡ · 7년</a:t>
                      </a:r>
                    </a:p>
                  </a:txBody>
                  <a:tcPr marL="73152" marR="73152" marT="36576" marB="36576" anchor="ctr">
                    <a:solidFill>
                      <a:srgbClr val="FFFFFF"/>
                    </a:solidFill>
                  </a:tcPr>
                </a:tc>
                <a:tc>
                  <a:txBody>
                    <a:bodyPr wrap="square"/>
                    <a:lstStyle/>
                    <a:p>
                      <a:r>
                        <a:rPr sz="1150" b="0">
                          <a:solidFill>
                            <a:srgbClr val="213440"/>
                          </a:solidFill>
                          <a:latin typeface="맑은 고딕"/>
                          <a:ea typeface="맑은 고딕"/>
                          <a:cs typeface="맑은 고딕"/>
                        </a:rPr>
                        <a:t>경기 평택시</a:t>
                      </a:r>
                    </a:p>
                  </a:txBody>
                  <a:tcPr marL="73152" marR="73152" marT="36576" marB="36576" anchor="ctr">
                    <a:solidFill>
                      <a:srgbClr val="FFFFFF"/>
                    </a:solidFill>
                  </a:tcPr>
                </a:tc>
              </a:tr>
            </a:tbl>
          </a:graphicData>
        </a:graphic>
      </p:graphicFrame>
      <p:sp>
        <p:nvSpPr>
          <p:cNvPr id="13" name="TextBox 12"/>
          <p:cNvSpPr txBox="1"/>
          <p:nvPr/>
        </p:nvSpPr>
        <p:spPr>
          <a:xfrm>
            <a:off x="548640" y="5166360"/>
            <a:ext cx="5943600" cy="1005840"/>
          </a:xfrm>
          <a:prstGeom prst="rect">
            <a:avLst/>
          </a:prstGeom>
          <a:noFill/>
        </p:spPr>
        <p:txBody>
          <a:bodyPr wrap="square" anchor="t" lIns="45720" rIns="45720">
            <a:spAutoFit/>
          </a:bodyPr>
          <a:lstStyle/>
          <a:p>
            <a:pPr algn="l">
              <a:lnSpc>
                <a:spcPct val="135000"/>
              </a:lnSpc>
            </a:pPr>
            <a:r>
              <a:rPr sz="1200" b="0">
                <a:solidFill>
                  <a:srgbClr val="60717B"/>
                </a:solidFill>
                <a:latin typeface="맑은 고딕"/>
                <a:ea typeface="맑은 고딕"/>
                <a:cs typeface="맑은 고딕"/>
              </a:rPr>
              <a:t>가격 · 면적 · 연식이 비슷한 단지끼리 자동으로 묶고, 군집 중심값으로 '신축 / 구축', '중소형 / 대형', '중간가 / 고가' 이름을 붙였습니다.</a:t>
            </a:r>
          </a:p>
        </p:txBody>
      </p:sp>
      <p:sp>
        <p:nvSpPr>
          <p:cNvPr id="14" name="Rounded Rectangle 13"/>
          <p:cNvSpPr/>
          <p:nvPr/>
        </p:nvSpPr>
        <p:spPr>
          <a:xfrm>
            <a:off x="6858000" y="1554480"/>
            <a:ext cx="4800600" cy="4617720"/>
          </a:xfrm>
          <a:prstGeom prst="roundRect">
            <a:avLst>
              <a:gd name="adj" fmla="val 5000"/>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78040" y="1783080"/>
            <a:ext cx="4206240" cy="365760"/>
          </a:xfrm>
          <a:prstGeom prst="rect">
            <a:avLst/>
          </a:prstGeom>
          <a:noFill/>
        </p:spPr>
        <p:txBody>
          <a:bodyPr wrap="square" anchor="t" lIns="45720" rIns="45720">
            <a:spAutoFit/>
          </a:bodyPr>
          <a:lstStyle/>
          <a:p>
            <a:pPr algn="l">
              <a:lnSpc>
                <a:spcPct val="115000"/>
              </a:lnSpc>
            </a:pPr>
            <a:r>
              <a:rPr sz="1600" b="1">
                <a:solidFill>
                  <a:srgbClr val="F5C59F"/>
                </a:solidFill>
                <a:latin typeface="맑은 고딕"/>
                <a:ea typeface="맑은 고딕"/>
                <a:cs typeface="맑은 고딕"/>
              </a:rPr>
              <a:t>AI 추천 점수 (100점)</a:t>
            </a:r>
          </a:p>
        </p:txBody>
      </p:sp>
      <p:sp>
        <p:nvSpPr>
          <p:cNvPr id="16" name="TextBox 15"/>
          <p:cNvSpPr txBox="1"/>
          <p:nvPr/>
        </p:nvSpPr>
        <p:spPr>
          <a:xfrm>
            <a:off x="7178040" y="2377440"/>
            <a:ext cx="1280160" cy="640080"/>
          </a:xfrm>
          <a:prstGeom prst="rect">
            <a:avLst/>
          </a:prstGeom>
          <a:noFill/>
        </p:spPr>
        <p:txBody>
          <a:bodyPr wrap="square" anchor="t" lIns="45720" rIns="45720">
            <a:spAutoFit/>
          </a:bodyPr>
          <a:lstStyle/>
          <a:p>
            <a:pPr algn="l">
              <a:lnSpc>
                <a:spcPct val="115000"/>
              </a:lnSpc>
            </a:pPr>
            <a:r>
              <a:rPr sz="3200" b="1">
                <a:solidFill>
                  <a:srgbClr val="FFFFFF"/>
                </a:solidFill>
                <a:latin typeface="맑은 고딕"/>
                <a:ea typeface="맑은 고딕"/>
                <a:cs typeface="맑은 고딕"/>
              </a:rPr>
              <a:t>50%</a:t>
            </a:r>
          </a:p>
        </p:txBody>
      </p:sp>
      <p:sp>
        <p:nvSpPr>
          <p:cNvPr id="17" name="TextBox 16"/>
          <p:cNvSpPr txBox="1"/>
          <p:nvPr/>
        </p:nvSpPr>
        <p:spPr>
          <a:xfrm>
            <a:off x="8503920" y="2404872"/>
            <a:ext cx="29260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조건 근접도</a:t>
            </a:r>
          </a:p>
        </p:txBody>
      </p:sp>
      <p:sp>
        <p:nvSpPr>
          <p:cNvPr id="18" name="TextBox 17"/>
          <p:cNvSpPr txBox="1"/>
          <p:nvPr/>
        </p:nvSpPr>
        <p:spPr>
          <a:xfrm>
            <a:off x="8503920" y="2761488"/>
            <a:ext cx="2926080" cy="365760"/>
          </a:xfrm>
          <a:prstGeom prst="rect">
            <a:avLst/>
          </a:prstGeom>
          <a:noFill/>
        </p:spPr>
        <p:txBody>
          <a:bodyPr wrap="square" anchor="t" lIns="45720" rIns="45720">
            <a:spAutoFit/>
          </a:bodyPr>
          <a:lstStyle/>
          <a:p>
            <a:pPr algn="l">
              <a:lnSpc>
                <a:spcPct val="115000"/>
              </a:lnSpc>
            </a:pPr>
            <a:r>
              <a:rPr sz="1150" b="0">
                <a:solidFill>
                  <a:srgbClr val="DAEAF0"/>
                </a:solidFill>
                <a:latin typeface="맑은 고딕"/>
                <a:ea typeface="맑은 고딕"/>
                <a:cs typeface="맑은 고딕"/>
              </a:rPr>
              <a:t>예산 · 면적에 가까울수록</a:t>
            </a:r>
          </a:p>
        </p:txBody>
      </p:sp>
      <p:sp>
        <p:nvSpPr>
          <p:cNvPr id="19" name="Rectangle 18"/>
          <p:cNvSpPr/>
          <p:nvPr/>
        </p:nvSpPr>
        <p:spPr>
          <a:xfrm>
            <a:off x="7178040" y="3182112"/>
            <a:ext cx="4206240" cy="73152"/>
          </a:xfrm>
          <a:prstGeom prst="rect">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78040" y="3474720"/>
            <a:ext cx="1280160" cy="640080"/>
          </a:xfrm>
          <a:prstGeom prst="rect">
            <a:avLst/>
          </a:prstGeom>
          <a:noFill/>
        </p:spPr>
        <p:txBody>
          <a:bodyPr wrap="square" anchor="t" lIns="45720" rIns="45720">
            <a:spAutoFit/>
          </a:bodyPr>
          <a:lstStyle/>
          <a:p>
            <a:pPr algn="l">
              <a:lnSpc>
                <a:spcPct val="115000"/>
              </a:lnSpc>
            </a:pPr>
            <a:r>
              <a:rPr sz="3200" b="1">
                <a:solidFill>
                  <a:srgbClr val="FFFFFF"/>
                </a:solidFill>
                <a:latin typeface="맑은 고딕"/>
                <a:ea typeface="맑은 고딕"/>
                <a:cs typeface="맑은 고딕"/>
              </a:rPr>
              <a:t>35%</a:t>
            </a:r>
          </a:p>
        </p:txBody>
      </p:sp>
      <p:sp>
        <p:nvSpPr>
          <p:cNvPr id="21" name="TextBox 20"/>
          <p:cNvSpPr txBox="1"/>
          <p:nvPr/>
        </p:nvSpPr>
        <p:spPr>
          <a:xfrm>
            <a:off x="8503920" y="3502151"/>
            <a:ext cx="29260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저평가 점수</a:t>
            </a:r>
          </a:p>
        </p:txBody>
      </p:sp>
      <p:sp>
        <p:nvSpPr>
          <p:cNvPr id="22" name="TextBox 21"/>
          <p:cNvSpPr txBox="1"/>
          <p:nvPr/>
        </p:nvSpPr>
        <p:spPr>
          <a:xfrm>
            <a:off x="8503920" y="3858768"/>
            <a:ext cx="2926080" cy="365760"/>
          </a:xfrm>
          <a:prstGeom prst="rect">
            <a:avLst/>
          </a:prstGeom>
          <a:noFill/>
        </p:spPr>
        <p:txBody>
          <a:bodyPr wrap="square" anchor="t" lIns="45720" rIns="45720">
            <a:spAutoFit/>
          </a:bodyPr>
          <a:lstStyle/>
          <a:p>
            <a:pPr algn="l">
              <a:lnSpc>
                <a:spcPct val="115000"/>
              </a:lnSpc>
            </a:pPr>
            <a:r>
              <a:rPr sz="1150" b="0">
                <a:solidFill>
                  <a:srgbClr val="DAEAF0"/>
                </a:solidFill>
                <a:latin typeface="맑은 고딕"/>
                <a:ea typeface="맑은 고딕"/>
                <a:cs typeface="맑은 고딕"/>
              </a:rPr>
              <a:t>AI 적정가보다 싸게 거래될수록</a:t>
            </a:r>
          </a:p>
        </p:txBody>
      </p:sp>
      <p:sp>
        <p:nvSpPr>
          <p:cNvPr id="23" name="Rectangle 22"/>
          <p:cNvSpPr/>
          <p:nvPr/>
        </p:nvSpPr>
        <p:spPr>
          <a:xfrm>
            <a:off x="7178040" y="4279392"/>
            <a:ext cx="2944368" cy="73152"/>
          </a:xfrm>
          <a:prstGeom prst="rect">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178040" y="4572000"/>
            <a:ext cx="1280160" cy="640080"/>
          </a:xfrm>
          <a:prstGeom prst="rect">
            <a:avLst/>
          </a:prstGeom>
          <a:noFill/>
        </p:spPr>
        <p:txBody>
          <a:bodyPr wrap="square" anchor="t" lIns="45720" rIns="45720">
            <a:spAutoFit/>
          </a:bodyPr>
          <a:lstStyle/>
          <a:p>
            <a:pPr algn="l">
              <a:lnSpc>
                <a:spcPct val="115000"/>
              </a:lnSpc>
            </a:pPr>
            <a:r>
              <a:rPr sz="3200" b="1">
                <a:solidFill>
                  <a:srgbClr val="FFFFFF"/>
                </a:solidFill>
                <a:latin typeface="맑은 고딕"/>
                <a:ea typeface="맑은 고딕"/>
                <a:cs typeface="맑은 고딕"/>
              </a:rPr>
              <a:t>15%</a:t>
            </a:r>
          </a:p>
        </p:txBody>
      </p:sp>
      <p:sp>
        <p:nvSpPr>
          <p:cNvPr id="25" name="TextBox 24"/>
          <p:cNvSpPr txBox="1"/>
          <p:nvPr/>
        </p:nvSpPr>
        <p:spPr>
          <a:xfrm>
            <a:off x="8503920" y="4599432"/>
            <a:ext cx="2926080" cy="365760"/>
          </a:xfrm>
          <a:prstGeom prst="rect">
            <a:avLst/>
          </a:prstGeom>
          <a:noFill/>
        </p:spPr>
        <p:txBody>
          <a:bodyPr wrap="square" anchor="t" lIns="45720" rIns="45720">
            <a:spAutoFit/>
          </a:bodyPr>
          <a:lstStyle/>
          <a:p>
            <a:pPr algn="l">
              <a:lnSpc>
                <a:spcPct val="115000"/>
              </a:lnSpc>
            </a:pPr>
            <a:r>
              <a:rPr sz="1500" b="1">
                <a:solidFill>
                  <a:srgbClr val="FFFFFF"/>
                </a:solidFill>
                <a:latin typeface="맑은 고딕"/>
                <a:ea typeface="맑은 고딕"/>
                <a:cs typeface="맑은 고딕"/>
              </a:rPr>
              <a:t>최근 거래</a:t>
            </a:r>
          </a:p>
        </p:txBody>
      </p:sp>
      <p:sp>
        <p:nvSpPr>
          <p:cNvPr id="26" name="TextBox 25"/>
          <p:cNvSpPr txBox="1"/>
          <p:nvPr/>
        </p:nvSpPr>
        <p:spPr>
          <a:xfrm>
            <a:off x="8503920" y="4956048"/>
            <a:ext cx="2926080" cy="365760"/>
          </a:xfrm>
          <a:prstGeom prst="rect">
            <a:avLst/>
          </a:prstGeom>
          <a:noFill/>
        </p:spPr>
        <p:txBody>
          <a:bodyPr wrap="square" anchor="t" lIns="45720" rIns="45720">
            <a:spAutoFit/>
          </a:bodyPr>
          <a:lstStyle/>
          <a:p>
            <a:pPr algn="l">
              <a:lnSpc>
                <a:spcPct val="115000"/>
              </a:lnSpc>
            </a:pPr>
            <a:r>
              <a:rPr sz="1150" b="0">
                <a:solidFill>
                  <a:srgbClr val="DAEAF0"/>
                </a:solidFill>
                <a:latin typeface="맑은 고딕"/>
                <a:ea typeface="맑은 고딕"/>
                <a:cs typeface="맑은 고딕"/>
              </a:rPr>
              <a:t>최근에 거래된 단지일수록</a:t>
            </a:r>
          </a:p>
        </p:txBody>
      </p:sp>
      <p:sp>
        <p:nvSpPr>
          <p:cNvPr id="27" name="Rectangle 26"/>
          <p:cNvSpPr/>
          <p:nvPr/>
        </p:nvSpPr>
        <p:spPr>
          <a:xfrm>
            <a:off x="7178040" y="5376672"/>
            <a:ext cx="1261872" cy="73152"/>
          </a:xfrm>
          <a:prstGeom prst="rect">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78040" y="5623560"/>
            <a:ext cx="4206240" cy="457200"/>
          </a:xfrm>
          <a:prstGeom prst="rect">
            <a:avLst/>
          </a:prstGeom>
          <a:noFill/>
        </p:spPr>
        <p:txBody>
          <a:bodyPr wrap="square" anchor="t" lIns="45720" rIns="45720">
            <a:spAutoFit/>
          </a:bodyPr>
          <a:lstStyle/>
          <a:p>
            <a:pPr algn="l">
              <a:lnSpc>
                <a:spcPct val="115000"/>
              </a:lnSpc>
            </a:pPr>
            <a:r>
              <a:rPr sz="1200" b="0">
                <a:solidFill>
                  <a:srgbClr val="DAEAF0"/>
                </a:solidFill>
                <a:latin typeface="맑은 고딕"/>
                <a:ea typeface="맑은 고딕"/>
                <a:cs typeface="맑은 고딕"/>
              </a:rPr>
              <a:t>필터: 희망 지역 → 예산 이하 → 방 수 일치</a:t>
            </a:r>
          </a:p>
        </p:txBody>
      </p:sp>
      <p:sp>
        <p:nvSpPr>
          <p:cNvPr id="29" name="Rectangle 28"/>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04  자동화 &amp; 백엔드</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원클릭 AI 재학습 자동화 (GitHub Actions)</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홍길동</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12 / 20</a:t>
            </a:r>
          </a:p>
        </p:txBody>
      </p:sp>
      <p:sp>
        <p:nvSpPr>
          <p:cNvPr id="11" name="Pentagon 10"/>
          <p:cNvSpPr/>
          <p:nvPr/>
        </p:nvSpPr>
        <p:spPr>
          <a:xfrm>
            <a:off x="548640" y="1691640"/>
            <a:ext cx="1572768" cy="731520"/>
          </a:xfrm>
          <a:prstGeom prst="homePlate">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클릭</a:t>
            </a:r>
          </a:p>
        </p:txBody>
      </p:sp>
      <p:sp>
        <p:nvSpPr>
          <p:cNvPr id="13" name="TextBox 12"/>
          <p:cNvSpPr txBox="1"/>
          <p:nvPr/>
        </p:nvSpPr>
        <p:spPr>
          <a:xfrm>
            <a:off x="594360" y="2514600"/>
            <a:ext cx="1463040" cy="685800"/>
          </a:xfrm>
          <a:prstGeom prst="rect">
            <a:avLst/>
          </a:prstGeom>
          <a:noFill/>
        </p:spPr>
        <p:txBody>
          <a:bodyPr wrap="square" anchor="t" lIns="45720" rIns="45720">
            <a:spAutoFit/>
          </a:bodyPr>
          <a:lstStyle/>
          <a:p>
            <a:pPr algn="ctr">
              <a:lnSpc>
                <a:spcPct val="115000"/>
              </a:lnSpc>
            </a:pPr>
            <a:r>
              <a:rPr sz="1100" b="0">
                <a:solidFill>
                  <a:srgbClr val="173649"/>
                </a:solidFill>
                <a:latin typeface="맑은 고딕"/>
                <a:ea typeface="맑은 고딕"/>
                <a:cs typeface="맑은 고딕"/>
              </a:rPr>
              <a:t>로그인 사용자
재학습 버튼</a:t>
            </a:r>
          </a:p>
        </p:txBody>
      </p:sp>
      <p:sp>
        <p:nvSpPr>
          <p:cNvPr id="14" name="Chevron 13"/>
          <p:cNvSpPr/>
          <p:nvPr/>
        </p:nvSpPr>
        <p:spPr>
          <a:xfrm>
            <a:off x="2121408" y="1691640"/>
            <a:ext cx="1572768" cy="731520"/>
          </a:xfrm>
          <a:prstGeom prst="chevron">
            <a:avLst/>
          </a:prstGeom>
          <a:solidFill>
            <a:srgbClr val="60717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304288"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준비</a:t>
            </a:r>
          </a:p>
        </p:txBody>
      </p:sp>
      <p:sp>
        <p:nvSpPr>
          <p:cNvPr id="16" name="TextBox 15"/>
          <p:cNvSpPr txBox="1"/>
          <p:nvPr/>
        </p:nvSpPr>
        <p:spPr>
          <a:xfrm>
            <a:off x="2167127" y="2514600"/>
            <a:ext cx="1463040" cy="685800"/>
          </a:xfrm>
          <a:prstGeom prst="rect">
            <a:avLst/>
          </a:prstGeom>
          <a:noFill/>
        </p:spPr>
        <p:txBody>
          <a:bodyPr wrap="square" anchor="t" lIns="45720" rIns="45720">
            <a:spAutoFit/>
          </a:bodyPr>
          <a:lstStyle/>
          <a:p>
            <a:pPr algn="ctr">
              <a:lnSpc>
                <a:spcPct val="115000"/>
              </a:lnSpc>
            </a:pPr>
            <a:r>
              <a:rPr sz="1250" b="1">
                <a:solidFill>
                  <a:srgbClr val="213440"/>
                </a:solidFill>
                <a:latin typeface="맑은 고딕"/>
                <a:ea typeface="맑은 고딕"/>
                <a:cs typeface="맑은 고딕"/>
              </a:rPr>
              <a:t>35초</a:t>
            </a:r>
          </a:p>
        </p:txBody>
      </p:sp>
      <p:sp>
        <p:nvSpPr>
          <p:cNvPr id="17" name="Chevron 16"/>
          <p:cNvSpPr/>
          <p:nvPr/>
        </p:nvSpPr>
        <p:spPr>
          <a:xfrm>
            <a:off x="3694176" y="1691640"/>
            <a:ext cx="1572768" cy="731520"/>
          </a:xfrm>
          <a:prstGeom prst="chevron">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877056"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크롤링</a:t>
            </a:r>
          </a:p>
        </p:txBody>
      </p:sp>
      <p:sp>
        <p:nvSpPr>
          <p:cNvPr id="19" name="TextBox 18"/>
          <p:cNvSpPr txBox="1"/>
          <p:nvPr/>
        </p:nvSpPr>
        <p:spPr>
          <a:xfrm>
            <a:off x="3739896" y="2514600"/>
            <a:ext cx="1463040" cy="685800"/>
          </a:xfrm>
          <a:prstGeom prst="rect">
            <a:avLst/>
          </a:prstGeom>
          <a:noFill/>
        </p:spPr>
        <p:txBody>
          <a:bodyPr wrap="square" anchor="t" lIns="45720" rIns="45720">
            <a:spAutoFit/>
          </a:bodyPr>
          <a:lstStyle/>
          <a:p>
            <a:pPr algn="ctr">
              <a:lnSpc>
                <a:spcPct val="115000"/>
              </a:lnSpc>
            </a:pPr>
            <a:r>
              <a:rPr sz="1250" b="1">
                <a:solidFill>
                  <a:srgbClr val="086B9B"/>
                </a:solidFill>
                <a:latin typeface="맑은 고딕"/>
                <a:ea typeface="맑은 고딕"/>
                <a:cs typeface="맑은 고딕"/>
              </a:rPr>
              <a:t>27초</a:t>
            </a:r>
          </a:p>
        </p:txBody>
      </p:sp>
      <p:sp>
        <p:nvSpPr>
          <p:cNvPr id="20" name="Chevron 19"/>
          <p:cNvSpPr/>
          <p:nvPr/>
        </p:nvSpPr>
        <p:spPr>
          <a:xfrm>
            <a:off x="5266944" y="1691640"/>
            <a:ext cx="1572768" cy="731520"/>
          </a:xfrm>
          <a:prstGeom prst="chevron">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49824"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전처리</a:t>
            </a:r>
          </a:p>
        </p:txBody>
      </p:sp>
      <p:sp>
        <p:nvSpPr>
          <p:cNvPr id="22" name="TextBox 21"/>
          <p:cNvSpPr txBox="1"/>
          <p:nvPr/>
        </p:nvSpPr>
        <p:spPr>
          <a:xfrm>
            <a:off x="5312664" y="2514600"/>
            <a:ext cx="1463040" cy="685800"/>
          </a:xfrm>
          <a:prstGeom prst="rect">
            <a:avLst/>
          </a:prstGeom>
          <a:noFill/>
        </p:spPr>
        <p:txBody>
          <a:bodyPr wrap="square" anchor="t" lIns="45720" rIns="45720">
            <a:spAutoFit/>
          </a:bodyPr>
          <a:lstStyle/>
          <a:p>
            <a:pPr algn="ctr">
              <a:lnSpc>
                <a:spcPct val="115000"/>
              </a:lnSpc>
            </a:pPr>
            <a:r>
              <a:rPr sz="1250" b="1">
                <a:solidFill>
                  <a:srgbClr val="086B9B"/>
                </a:solidFill>
                <a:latin typeface="맑은 고딕"/>
                <a:ea typeface="맑은 고딕"/>
                <a:cs typeface="맑은 고딕"/>
              </a:rPr>
              <a:t>4초</a:t>
            </a:r>
          </a:p>
        </p:txBody>
      </p:sp>
      <p:sp>
        <p:nvSpPr>
          <p:cNvPr id="23" name="Chevron 22"/>
          <p:cNvSpPr/>
          <p:nvPr/>
        </p:nvSpPr>
        <p:spPr>
          <a:xfrm>
            <a:off x="6839712" y="1691640"/>
            <a:ext cx="1572768" cy="731520"/>
          </a:xfrm>
          <a:prstGeom prst="chevron">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22592"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AI 학습</a:t>
            </a:r>
          </a:p>
        </p:txBody>
      </p:sp>
      <p:sp>
        <p:nvSpPr>
          <p:cNvPr id="25" name="TextBox 24"/>
          <p:cNvSpPr txBox="1"/>
          <p:nvPr/>
        </p:nvSpPr>
        <p:spPr>
          <a:xfrm>
            <a:off x="6885431" y="2514600"/>
            <a:ext cx="1463040" cy="685800"/>
          </a:xfrm>
          <a:prstGeom prst="rect">
            <a:avLst/>
          </a:prstGeom>
          <a:noFill/>
        </p:spPr>
        <p:txBody>
          <a:bodyPr wrap="square" anchor="t" lIns="45720" rIns="45720">
            <a:spAutoFit/>
          </a:bodyPr>
          <a:lstStyle/>
          <a:p>
            <a:pPr algn="ctr">
              <a:lnSpc>
                <a:spcPct val="115000"/>
              </a:lnSpc>
            </a:pPr>
            <a:r>
              <a:rPr sz="1250" b="1">
                <a:solidFill>
                  <a:srgbClr val="BD7148"/>
                </a:solidFill>
                <a:latin typeface="맑은 고딕"/>
                <a:ea typeface="맑은 고딕"/>
                <a:cs typeface="맑은 고딕"/>
              </a:rPr>
              <a:t>70초</a:t>
            </a:r>
          </a:p>
        </p:txBody>
      </p:sp>
      <p:sp>
        <p:nvSpPr>
          <p:cNvPr id="26" name="Chevron 25"/>
          <p:cNvSpPr/>
          <p:nvPr/>
        </p:nvSpPr>
        <p:spPr>
          <a:xfrm>
            <a:off x="8412480" y="1691640"/>
            <a:ext cx="1572768" cy="731520"/>
          </a:xfrm>
          <a:prstGeom prst="chevron">
            <a:avLst/>
          </a:prstGeom>
          <a:solidFill>
            <a:srgbClr val="60717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595359"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커밋</a:t>
            </a:r>
          </a:p>
        </p:txBody>
      </p:sp>
      <p:sp>
        <p:nvSpPr>
          <p:cNvPr id="28" name="TextBox 27"/>
          <p:cNvSpPr txBox="1"/>
          <p:nvPr/>
        </p:nvSpPr>
        <p:spPr>
          <a:xfrm>
            <a:off x="8458200" y="2514600"/>
            <a:ext cx="1463040" cy="685800"/>
          </a:xfrm>
          <a:prstGeom prst="rect">
            <a:avLst/>
          </a:prstGeom>
          <a:noFill/>
        </p:spPr>
        <p:txBody>
          <a:bodyPr wrap="square" anchor="t" lIns="45720" rIns="45720">
            <a:spAutoFit/>
          </a:bodyPr>
          <a:lstStyle/>
          <a:p>
            <a:pPr algn="ctr">
              <a:lnSpc>
                <a:spcPct val="115000"/>
              </a:lnSpc>
            </a:pPr>
            <a:r>
              <a:rPr sz="1250" b="1">
                <a:solidFill>
                  <a:srgbClr val="213440"/>
                </a:solidFill>
                <a:latin typeface="맑은 고딕"/>
                <a:ea typeface="맑은 고딕"/>
                <a:cs typeface="맑은 고딕"/>
              </a:rPr>
              <a:t>2초</a:t>
            </a:r>
          </a:p>
        </p:txBody>
      </p:sp>
      <p:sp>
        <p:nvSpPr>
          <p:cNvPr id="29" name="Chevron 28"/>
          <p:cNvSpPr/>
          <p:nvPr/>
        </p:nvSpPr>
        <p:spPr>
          <a:xfrm>
            <a:off x="9985248" y="1691640"/>
            <a:ext cx="1572768" cy="731520"/>
          </a:xfrm>
          <a:prstGeom prst="chevron">
            <a:avLst/>
          </a:prstGeom>
          <a:solidFill>
            <a:srgbClr val="357E72"/>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168128" y="1691640"/>
            <a:ext cx="1280160" cy="731520"/>
          </a:xfrm>
          <a:prstGeom prst="rect">
            <a:avLst/>
          </a:prstGeom>
          <a:noFill/>
        </p:spPr>
        <p:txBody>
          <a:bodyPr wrap="square" anchor="ctr" lIns="45720" rIns="45720">
            <a:spAutoFit/>
          </a:bodyPr>
          <a:lstStyle/>
          <a:p>
            <a:pPr algn="ctr">
              <a:lnSpc>
                <a:spcPct val="115000"/>
              </a:lnSpc>
            </a:pPr>
            <a:r>
              <a:rPr sz="1400" b="1">
                <a:solidFill>
                  <a:srgbClr val="FFFFFF"/>
                </a:solidFill>
                <a:latin typeface="맑은 고딕"/>
                <a:ea typeface="맑은 고딕"/>
                <a:cs typeface="맑은 고딕"/>
              </a:rPr>
              <a:t>서버 반영</a:t>
            </a:r>
          </a:p>
        </p:txBody>
      </p:sp>
      <p:sp>
        <p:nvSpPr>
          <p:cNvPr id="31" name="TextBox 30"/>
          <p:cNvSpPr txBox="1"/>
          <p:nvPr/>
        </p:nvSpPr>
        <p:spPr>
          <a:xfrm>
            <a:off x="10030968" y="2514600"/>
            <a:ext cx="1463040" cy="685800"/>
          </a:xfrm>
          <a:prstGeom prst="rect">
            <a:avLst/>
          </a:prstGeom>
          <a:noFill/>
        </p:spPr>
        <p:txBody>
          <a:bodyPr wrap="square" anchor="t" lIns="45720" rIns="45720">
            <a:spAutoFit/>
          </a:bodyPr>
          <a:lstStyle/>
          <a:p>
            <a:pPr algn="ctr">
              <a:lnSpc>
                <a:spcPct val="115000"/>
              </a:lnSpc>
            </a:pPr>
            <a:r>
              <a:rPr sz="1100" b="0">
                <a:solidFill>
                  <a:srgbClr val="357E72"/>
                </a:solidFill>
                <a:latin typeface="맑은 고딕"/>
                <a:ea typeface="맑은 고딕"/>
                <a:cs typeface="맑은 고딕"/>
              </a:rPr>
              <a:t>Render · EC2
동시 적용</a:t>
            </a:r>
          </a:p>
        </p:txBody>
      </p:sp>
      <p:sp>
        <p:nvSpPr>
          <p:cNvPr id="32" name="Rounded Rectangle 31"/>
          <p:cNvSpPr/>
          <p:nvPr/>
        </p:nvSpPr>
        <p:spPr>
          <a:xfrm>
            <a:off x="548640" y="3337560"/>
            <a:ext cx="3566160" cy="2834640"/>
          </a:xfrm>
          <a:prstGeom prst="roundRect">
            <a:avLst>
              <a:gd name="adj" fmla="val 6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520440"/>
            <a:ext cx="3566160" cy="365760"/>
          </a:xfrm>
          <a:prstGeom prst="rect">
            <a:avLst/>
          </a:prstGeom>
          <a:noFill/>
        </p:spPr>
        <p:txBody>
          <a:bodyPr wrap="square" anchor="t" lIns="45720" rIns="45720">
            <a:spAutoFit/>
          </a:bodyPr>
          <a:lstStyle/>
          <a:p>
            <a:pPr algn="ctr">
              <a:lnSpc>
                <a:spcPct val="115000"/>
              </a:lnSpc>
            </a:pPr>
            <a:r>
              <a:rPr sz="1300" b="1">
                <a:solidFill>
                  <a:srgbClr val="60717B"/>
                </a:solidFill>
                <a:latin typeface="맑은 고딕"/>
                <a:ea typeface="맑은 고딕"/>
                <a:cs typeface="맑은 고딕"/>
              </a:rPr>
              <a:t>전체 소요 시간</a:t>
            </a:r>
          </a:p>
        </p:txBody>
      </p:sp>
      <p:sp>
        <p:nvSpPr>
          <p:cNvPr id="34" name="TextBox 33"/>
          <p:cNvSpPr txBox="1"/>
          <p:nvPr/>
        </p:nvSpPr>
        <p:spPr>
          <a:xfrm>
            <a:off x="548640" y="3931920"/>
            <a:ext cx="3566160" cy="822960"/>
          </a:xfrm>
          <a:prstGeom prst="rect">
            <a:avLst/>
          </a:prstGeom>
          <a:noFill/>
        </p:spPr>
        <p:txBody>
          <a:bodyPr wrap="square" anchor="t" lIns="45720" rIns="45720">
            <a:spAutoFit/>
          </a:bodyPr>
          <a:lstStyle/>
          <a:p>
            <a:pPr algn="ctr">
              <a:lnSpc>
                <a:spcPct val="115000"/>
              </a:lnSpc>
            </a:pPr>
            <a:r>
              <a:rPr sz="3600" b="1">
                <a:solidFill>
                  <a:srgbClr val="086B9B"/>
                </a:solidFill>
                <a:latin typeface="맑은 고딕"/>
                <a:ea typeface="맑은 고딕"/>
                <a:cs typeface="맑은 고딕"/>
              </a:rPr>
              <a:t>약 2분 30초</a:t>
            </a:r>
          </a:p>
        </p:txBody>
      </p:sp>
      <p:sp>
        <p:nvSpPr>
          <p:cNvPr id="35" name="TextBox 34"/>
          <p:cNvSpPr txBox="1"/>
          <p:nvPr/>
        </p:nvSpPr>
        <p:spPr>
          <a:xfrm>
            <a:off x="685800" y="4846320"/>
            <a:ext cx="3291840" cy="1188720"/>
          </a:xfrm>
          <a:prstGeom prst="rect">
            <a:avLst/>
          </a:prstGeom>
          <a:noFill/>
        </p:spPr>
        <p:txBody>
          <a:bodyPr wrap="square" anchor="t" lIns="45720" rIns="45720">
            <a:spAutoFit/>
          </a:bodyPr>
          <a:lstStyle/>
          <a:p>
            <a:pPr algn="ctr">
              <a:lnSpc>
                <a:spcPct val="135000"/>
              </a:lnSpc>
            </a:pPr>
            <a:r>
              <a:rPr sz="1250" b="0">
                <a:solidFill>
                  <a:srgbClr val="213440"/>
                </a:solidFill>
                <a:latin typeface="맑은 고딕"/>
                <a:ea typeface="맑은 고딕"/>
                <a:cs typeface="맑은 고딕"/>
              </a:rPr>
              <a:t>Python 서버 없이 GitHub Actions가</a:t>
            </a:r>
          </a:p>
          <a:p>
            <a:pPr algn="ctr">
              <a:lnSpc>
                <a:spcPct val="135000"/>
              </a:lnSpc>
            </a:pPr>
            <a:r>
              <a:rPr sz="1250" b="0">
                <a:solidFill>
                  <a:srgbClr val="213440"/>
                </a:solidFill>
                <a:latin typeface="맑은 고딕"/>
                <a:ea typeface="맑은 고딕"/>
                <a:cs typeface="맑은 고딕"/>
              </a:rPr>
              <a:t>크롤링 → 학습 → 결과 커밋까지</a:t>
            </a:r>
          </a:p>
          <a:p>
            <a:pPr algn="ctr">
              <a:lnSpc>
                <a:spcPct val="135000"/>
              </a:lnSpc>
            </a:pPr>
            <a:r>
              <a:rPr sz="1250" b="0">
                <a:solidFill>
                  <a:srgbClr val="213440"/>
                </a:solidFill>
                <a:latin typeface="맑은 고딕"/>
                <a:ea typeface="맑은 고딕"/>
                <a:cs typeface="맑은 고딕"/>
              </a:rPr>
              <a:t>전부 자동 실행</a:t>
            </a:r>
          </a:p>
        </p:txBody>
      </p:sp>
      <p:sp>
        <p:nvSpPr>
          <p:cNvPr id="36" name="TextBox 35"/>
          <p:cNvSpPr txBox="1"/>
          <p:nvPr/>
        </p:nvSpPr>
        <p:spPr>
          <a:xfrm>
            <a:off x="4434840" y="3337560"/>
            <a:ext cx="365760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진행 상태 실시간 표시</a:t>
            </a:r>
          </a:p>
        </p:txBody>
      </p:sp>
      <p:sp>
        <p:nvSpPr>
          <p:cNvPr id="37" name="TextBox 36"/>
          <p:cNvSpPr txBox="1"/>
          <p:nvPr/>
        </p:nvSpPr>
        <p:spPr>
          <a:xfrm>
            <a:off x="4434840" y="3703320"/>
            <a:ext cx="3566160" cy="2468880"/>
          </a:xfrm>
          <a:prstGeom prst="rect">
            <a:avLst/>
          </a:prstGeom>
          <a:noFill/>
        </p:spPr>
        <p:txBody>
          <a:bodyPr wrap="square" anchor="t" lIns="45720" rIns="45720">
            <a:spAutoFit/>
          </a:bodyPr>
          <a:lstStyle/>
          <a:p>
            <a:pPr algn="l">
              <a:lnSpc>
                <a:spcPct val="150000"/>
              </a:lnSpc>
            </a:pPr>
            <a:r>
              <a:rPr sz="700" b="1">
                <a:solidFill>
                  <a:srgbClr val="086B9B"/>
                </a:solidFill>
                <a:latin typeface="맑은 고딕"/>
                <a:ea typeface="맑은 고딕"/>
                <a:cs typeface="맑은 고딕"/>
              </a:rPr>
              <a:t>●  </a:t>
            </a:r>
            <a:r>
              <a:rPr sz="1300" b="0">
                <a:solidFill>
                  <a:srgbClr val="213440"/>
                </a:solidFill>
                <a:latin typeface="맑은 고딕"/>
                <a:ea typeface="맑은 고딕"/>
                <a:cs typeface="맑은 고딕"/>
              </a:rPr>
              <a:t>5초마다 GitHub 실행 단계 조회</a:t>
            </a:r>
          </a:p>
          <a:p>
            <a:pPr algn="l">
              <a:lnSpc>
                <a:spcPct val="150000"/>
              </a:lnSpc>
            </a:pPr>
            <a:r>
              <a:rPr sz="700" b="1">
                <a:solidFill>
                  <a:srgbClr val="086B9B"/>
                </a:solidFill>
                <a:latin typeface="맑은 고딕"/>
                <a:ea typeface="맑은 고딕"/>
                <a:cs typeface="맑은 고딕"/>
              </a:rPr>
              <a:t>●  </a:t>
            </a:r>
            <a:r>
              <a:rPr sz="1300" b="0">
                <a:solidFill>
                  <a:srgbClr val="213440"/>
                </a:solidFill>
                <a:latin typeface="맑은 고딕"/>
                <a:ea typeface="맑은 고딕"/>
                <a:cs typeface="맑은 고딕"/>
              </a:rPr>
              <a:t>경과 시간 · 진행 막대 표시</a:t>
            </a:r>
          </a:p>
          <a:p>
            <a:pPr algn="l">
              <a:lnSpc>
                <a:spcPct val="150000"/>
              </a:lnSpc>
            </a:pPr>
            <a:r>
              <a:rPr sz="700" b="1">
                <a:solidFill>
                  <a:srgbClr val="086B9B"/>
                </a:solidFill>
                <a:latin typeface="맑은 고딕"/>
                <a:ea typeface="맑은 고딕"/>
                <a:cs typeface="맑은 고딕"/>
              </a:rPr>
              <a:t>●  </a:t>
            </a:r>
            <a:r>
              <a:rPr sz="1300" b="0">
                <a:solidFill>
                  <a:srgbClr val="213440"/>
                </a:solidFill>
                <a:latin typeface="맑은 고딕"/>
                <a:ea typeface="맑은 고딕"/>
                <a:cs typeface="맑은 고딕"/>
              </a:rPr>
              <a:t>단계가 뒤로 가지 않게 보정</a:t>
            </a:r>
          </a:p>
          <a:p>
            <a:pPr algn="l">
              <a:lnSpc>
                <a:spcPct val="150000"/>
              </a:lnSpc>
            </a:pPr>
            <a:r>
              <a:rPr sz="700" b="1">
                <a:solidFill>
                  <a:srgbClr val="086B9B"/>
                </a:solidFill>
                <a:latin typeface="맑은 고딕"/>
                <a:ea typeface="맑은 고딕"/>
                <a:cs typeface="맑은 고딕"/>
              </a:rPr>
              <a:t>●  </a:t>
            </a:r>
            <a:r>
              <a:rPr sz="1300" b="0">
                <a:solidFill>
                  <a:srgbClr val="213440"/>
                </a:solidFill>
                <a:latin typeface="맑은 고딕"/>
                <a:ea typeface="맑은 고딕"/>
                <a:cs typeface="맑은 고딕"/>
              </a:rPr>
              <a:t>실패 시 실패 단계와 원인 출력</a:t>
            </a:r>
          </a:p>
        </p:txBody>
      </p:sp>
      <p:sp>
        <p:nvSpPr>
          <p:cNvPr id="38" name="TextBox 37"/>
          <p:cNvSpPr txBox="1"/>
          <p:nvPr/>
        </p:nvSpPr>
        <p:spPr>
          <a:xfrm>
            <a:off x="8183879" y="3337560"/>
            <a:ext cx="365760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안전 장치</a:t>
            </a:r>
          </a:p>
        </p:txBody>
      </p:sp>
      <p:sp>
        <p:nvSpPr>
          <p:cNvPr id="39" name="TextBox 38"/>
          <p:cNvSpPr txBox="1"/>
          <p:nvPr/>
        </p:nvSpPr>
        <p:spPr>
          <a:xfrm>
            <a:off x="8183879" y="3703320"/>
            <a:ext cx="3474720" cy="2468880"/>
          </a:xfrm>
          <a:prstGeom prst="rect">
            <a:avLst/>
          </a:prstGeom>
          <a:noFill/>
        </p:spPr>
        <p:txBody>
          <a:bodyPr wrap="square" anchor="t" lIns="45720" rIns="45720">
            <a:spAutoFit/>
          </a:bodyPr>
          <a:lstStyle/>
          <a:p>
            <a:pPr algn="l">
              <a:lnSpc>
                <a:spcPct val="150000"/>
              </a:lnSpc>
            </a:pPr>
            <a:r>
              <a:rPr sz="700" b="1">
                <a:solidFill>
                  <a:srgbClr val="BD7148"/>
                </a:solidFill>
                <a:latin typeface="맑은 고딕"/>
                <a:ea typeface="맑은 고딕"/>
                <a:cs typeface="맑은 고딕"/>
              </a:rPr>
              <a:t>●  </a:t>
            </a:r>
            <a:r>
              <a:rPr sz="1300" b="0">
                <a:solidFill>
                  <a:srgbClr val="213440"/>
                </a:solidFill>
                <a:latin typeface="맑은 고딕"/>
                <a:ea typeface="맑은 고딕"/>
                <a:cs typeface="맑은 고딕"/>
              </a:rPr>
              <a:t>로그인 사용자만 실행 (비로그인 401)</a:t>
            </a:r>
          </a:p>
          <a:p>
            <a:pPr algn="l">
              <a:lnSpc>
                <a:spcPct val="150000"/>
              </a:lnSpc>
            </a:pPr>
            <a:r>
              <a:rPr sz="700" b="1">
                <a:solidFill>
                  <a:srgbClr val="BD7148"/>
                </a:solidFill>
                <a:latin typeface="맑은 고딕"/>
                <a:ea typeface="맑은 고딕"/>
                <a:cs typeface="맑은 고딕"/>
              </a:rPr>
              <a:t>●  </a:t>
            </a:r>
            <a:r>
              <a:rPr sz="1300" b="0">
                <a:solidFill>
                  <a:srgbClr val="213440"/>
                </a:solidFill>
                <a:latin typeface="맑은 고딕"/>
                <a:ea typeface="맑은 고딕"/>
                <a:cs typeface="맑은 고딕"/>
              </a:rPr>
              <a:t>10분 내 재요청 · 중복 실행 차단</a:t>
            </a:r>
          </a:p>
          <a:p>
            <a:pPr algn="l">
              <a:lnSpc>
                <a:spcPct val="150000"/>
              </a:lnSpc>
            </a:pPr>
            <a:r>
              <a:rPr sz="700" b="1">
                <a:solidFill>
                  <a:srgbClr val="BD7148"/>
                </a:solidFill>
                <a:latin typeface="맑은 고딕"/>
                <a:ea typeface="맑은 고딕"/>
                <a:cs typeface="맑은 고딕"/>
              </a:rPr>
              <a:t>●  </a:t>
            </a:r>
            <a:r>
              <a:rPr sz="1300" b="0">
                <a:solidFill>
                  <a:srgbClr val="213440"/>
                </a:solidFill>
                <a:latin typeface="맑은 고딕"/>
                <a:ea typeface="맑은 고딕"/>
                <a:cs typeface="맑은 고딕"/>
              </a:rPr>
              <a:t>크롤링 20분 · 전체 30분 제한</a:t>
            </a:r>
          </a:p>
          <a:p>
            <a:pPr algn="l">
              <a:lnSpc>
                <a:spcPct val="150000"/>
              </a:lnSpc>
            </a:pPr>
            <a:r>
              <a:rPr sz="700" b="1">
                <a:solidFill>
                  <a:srgbClr val="BD7148"/>
                </a:solidFill>
                <a:latin typeface="맑은 고딕"/>
                <a:ea typeface="맑은 고딕"/>
                <a:cs typeface="맑은 고딕"/>
              </a:rPr>
              <a:t>●  </a:t>
            </a:r>
            <a:r>
              <a:rPr sz="1300" b="0">
                <a:solidFill>
                  <a:srgbClr val="213440"/>
                </a:solidFill>
                <a:latin typeface="맑은 고딕"/>
                <a:ea typeface="맑은 고딕"/>
                <a:cs typeface="맑은 고딕"/>
              </a:rPr>
              <a:t>GitHub 장애 시 내장 JSON 사용</a:t>
            </a:r>
          </a:p>
        </p:txBody>
      </p:sp>
      <p:sp>
        <p:nvSpPr>
          <p:cNvPr id="40" name="Rectangle 39"/>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push dir="l"/>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04  자동화 &amp; 백엔드</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회원가입 · 로그인 · 보안</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홍길동</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13 / 20</a:t>
            </a:r>
          </a:p>
        </p:txBody>
      </p:sp>
      <p:sp>
        <p:nvSpPr>
          <p:cNvPr id="11" name="TextBox 10"/>
          <p:cNvSpPr txBox="1"/>
          <p:nvPr/>
        </p:nvSpPr>
        <p:spPr>
          <a:xfrm>
            <a:off x="548640" y="1554480"/>
            <a:ext cx="640080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4단계 회원가입</a:t>
            </a:r>
          </a:p>
        </p:txBody>
      </p:sp>
      <p:sp>
        <p:nvSpPr>
          <p:cNvPr id="12" name="Pentagon 11"/>
          <p:cNvSpPr/>
          <p:nvPr/>
        </p:nvSpPr>
        <p:spPr>
          <a:xfrm>
            <a:off x="548640" y="1965960"/>
            <a:ext cx="1572768" cy="594360"/>
          </a:xfrm>
          <a:prstGeom prst="homePlate">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1. 약관 동의</a:t>
            </a:r>
          </a:p>
        </p:txBody>
      </p:sp>
      <p:sp>
        <p:nvSpPr>
          <p:cNvPr id="14" name="TextBox 13"/>
          <p:cNvSpPr txBox="1"/>
          <p:nvPr/>
        </p:nvSpPr>
        <p:spPr>
          <a:xfrm>
            <a:off x="548640" y="2651760"/>
            <a:ext cx="1572768" cy="731520"/>
          </a:xfrm>
          <a:prstGeom prst="rect">
            <a:avLst/>
          </a:prstGeom>
          <a:noFill/>
        </p:spPr>
        <p:txBody>
          <a:bodyPr wrap="square" anchor="t" lIns="45720" rIns="45720">
            <a:spAutoFit/>
          </a:bodyPr>
          <a:lstStyle/>
          <a:p>
            <a:pPr algn="ctr">
              <a:lnSpc>
                <a:spcPct val="130000"/>
              </a:lnSpc>
            </a:pPr>
            <a:r>
              <a:rPr sz="1100" b="0">
                <a:solidFill>
                  <a:srgbClr val="60717B"/>
                </a:solidFill>
                <a:latin typeface="맑은 고딕"/>
                <a:ea typeface="맑은 고딕"/>
                <a:cs typeface="맑은 고딕"/>
              </a:rPr>
              <a:t>필수 2 · 선택 2
전체 동의 연동</a:t>
            </a:r>
          </a:p>
        </p:txBody>
      </p:sp>
      <p:sp>
        <p:nvSpPr>
          <p:cNvPr id="15" name="Chevron 14"/>
          <p:cNvSpPr/>
          <p:nvPr/>
        </p:nvSpPr>
        <p:spPr>
          <a:xfrm>
            <a:off x="2176272" y="1965960"/>
            <a:ext cx="1572768" cy="594360"/>
          </a:xfrm>
          <a:prstGeom prst="chevron">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313432"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2. 기본 정보</a:t>
            </a:r>
          </a:p>
        </p:txBody>
      </p:sp>
      <p:sp>
        <p:nvSpPr>
          <p:cNvPr id="17" name="TextBox 16"/>
          <p:cNvSpPr txBox="1"/>
          <p:nvPr/>
        </p:nvSpPr>
        <p:spPr>
          <a:xfrm>
            <a:off x="2176272" y="2651760"/>
            <a:ext cx="1572768" cy="731520"/>
          </a:xfrm>
          <a:prstGeom prst="rect">
            <a:avLst/>
          </a:prstGeom>
          <a:noFill/>
        </p:spPr>
        <p:txBody>
          <a:bodyPr wrap="square" anchor="t" lIns="45720" rIns="45720">
            <a:spAutoFit/>
          </a:bodyPr>
          <a:lstStyle/>
          <a:p>
            <a:pPr algn="ctr">
              <a:lnSpc>
                <a:spcPct val="130000"/>
              </a:lnSpc>
            </a:pPr>
            <a:r>
              <a:rPr sz="1100" b="0">
                <a:solidFill>
                  <a:srgbClr val="60717B"/>
                </a:solidFill>
                <a:latin typeface="맑은 고딕"/>
                <a:ea typeface="맑은 고딕"/>
                <a:cs typeface="맑은 고딕"/>
              </a:rPr>
              <a:t>이름 · 생년월일
성별</a:t>
            </a:r>
          </a:p>
        </p:txBody>
      </p:sp>
      <p:sp>
        <p:nvSpPr>
          <p:cNvPr id="18" name="Chevron 17"/>
          <p:cNvSpPr/>
          <p:nvPr/>
        </p:nvSpPr>
        <p:spPr>
          <a:xfrm>
            <a:off x="3803904" y="1965960"/>
            <a:ext cx="1572768" cy="594360"/>
          </a:xfrm>
          <a:prstGeom prst="chevron">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941064"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3. 휴대폰 인증</a:t>
            </a:r>
          </a:p>
        </p:txBody>
      </p:sp>
      <p:sp>
        <p:nvSpPr>
          <p:cNvPr id="20" name="TextBox 19"/>
          <p:cNvSpPr txBox="1"/>
          <p:nvPr/>
        </p:nvSpPr>
        <p:spPr>
          <a:xfrm>
            <a:off x="3803904" y="2651760"/>
            <a:ext cx="1572768" cy="731520"/>
          </a:xfrm>
          <a:prstGeom prst="rect">
            <a:avLst/>
          </a:prstGeom>
          <a:noFill/>
        </p:spPr>
        <p:txBody>
          <a:bodyPr wrap="square" anchor="t" lIns="45720" rIns="45720">
            <a:spAutoFit/>
          </a:bodyPr>
          <a:lstStyle/>
          <a:p>
            <a:pPr algn="ctr">
              <a:lnSpc>
                <a:spcPct val="130000"/>
              </a:lnSpc>
            </a:pPr>
            <a:r>
              <a:rPr sz="1100" b="0">
                <a:solidFill>
                  <a:srgbClr val="60717B"/>
                </a:solidFill>
                <a:latin typeface="맑은 고딕"/>
                <a:ea typeface="맑은 고딕"/>
                <a:cs typeface="맑은 고딕"/>
              </a:rPr>
              <a:t>Firebase SMS
6자리 · 3분</a:t>
            </a:r>
          </a:p>
        </p:txBody>
      </p:sp>
      <p:sp>
        <p:nvSpPr>
          <p:cNvPr id="21" name="Chevron 20"/>
          <p:cNvSpPr/>
          <p:nvPr/>
        </p:nvSpPr>
        <p:spPr>
          <a:xfrm>
            <a:off x="5431536" y="1965960"/>
            <a:ext cx="1572768" cy="594360"/>
          </a:xfrm>
          <a:prstGeom prst="chevron">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568696" y="1965960"/>
            <a:ext cx="1325880" cy="59436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4. 계정 생성</a:t>
            </a:r>
          </a:p>
        </p:txBody>
      </p:sp>
      <p:sp>
        <p:nvSpPr>
          <p:cNvPr id="23" name="TextBox 22"/>
          <p:cNvSpPr txBox="1"/>
          <p:nvPr/>
        </p:nvSpPr>
        <p:spPr>
          <a:xfrm>
            <a:off x="5431536" y="2651760"/>
            <a:ext cx="1572768" cy="731520"/>
          </a:xfrm>
          <a:prstGeom prst="rect">
            <a:avLst/>
          </a:prstGeom>
          <a:noFill/>
        </p:spPr>
        <p:txBody>
          <a:bodyPr wrap="square" anchor="t" lIns="45720" rIns="45720">
            <a:spAutoFit/>
          </a:bodyPr>
          <a:lstStyle/>
          <a:p>
            <a:pPr algn="ctr">
              <a:lnSpc>
                <a:spcPct val="130000"/>
              </a:lnSpc>
            </a:pPr>
            <a:r>
              <a:rPr sz="1100" b="0">
                <a:solidFill>
                  <a:srgbClr val="60717B"/>
                </a:solidFill>
                <a:latin typeface="맑은 고딕"/>
                <a:ea typeface="맑은 고딕"/>
                <a:cs typeface="맑은 고딕"/>
              </a:rPr>
              <a:t>아이디 · 비밀번호
서버 재검증</a:t>
            </a:r>
          </a:p>
        </p:txBody>
      </p:sp>
      <p:sp>
        <p:nvSpPr>
          <p:cNvPr id="24" name="TextBox 23"/>
          <p:cNvSpPr txBox="1"/>
          <p:nvPr/>
        </p:nvSpPr>
        <p:spPr>
          <a:xfrm>
            <a:off x="548640" y="3611880"/>
            <a:ext cx="640080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보안 처리</a:t>
            </a:r>
          </a:p>
        </p:txBody>
      </p:sp>
      <p:sp>
        <p:nvSpPr>
          <p:cNvPr id="25" name="TextBox 24"/>
          <p:cNvSpPr txBox="1"/>
          <p:nvPr/>
        </p:nvSpPr>
        <p:spPr>
          <a:xfrm>
            <a:off x="548640" y="3977639"/>
            <a:ext cx="6400800" cy="2194560"/>
          </a:xfrm>
          <a:prstGeom prst="rect">
            <a:avLst/>
          </a:prstGeom>
          <a:noFill/>
        </p:spPr>
        <p:txBody>
          <a:bodyPr wrap="square" anchor="t" lIns="45720" rIns="45720">
            <a:spAutoFit/>
          </a:bodyPr>
          <a:lstStyle/>
          <a:p>
            <a:pPr algn="l">
              <a:lnSpc>
                <a:spcPct val="150000"/>
              </a:lnSpc>
            </a:pPr>
            <a:r>
              <a:rPr sz="700" b="1">
                <a:solidFill>
                  <a:srgbClr val="086B9B"/>
                </a:solidFill>
                <a:latin typeface="맑은 고딕"/>
                <a:ea typeface="맑은 고딕"/>
                <a:cs typeface="맑은 고딕"/>
              </a:rPr>
              <a:t>●  </a:t>
            </a:r>
            <a:r>
              <a:rPr sz="1300" b="0">
                <a:solidFill>
                  <a:srgbClr val="213440"/>
                </a:solidFill>
                <a:latin typeface="맑은 고딕"/>
                <a:ea typeface="맑은 고딕"/>
                <a:cs typeface="맑은 고딕"/>
              </a:rPr>
              <a:t>비밀번호 </a:t>
            </a:r>
            <a:r>
              <a:rPr sz="1300" b="1">
                <a:solidFill>
                  <a:srgbClr val="086B9B"/>
                </a:solidFill>
                <a:latin typeface="맑은 고딕"/>
                <a:ea typeface="맑은 고딕"/>
                <a:cs typeface="맑은 고딕"/>
              </a:rPr>
              <a:t>BCrypt 해시</a:t>
            </a:r>
            <a:r>
              <a:rPr sz="1300" b="0">
                <a:solidFill>
                  <a:srgbClr val="213440"/>
                </a:solidFill>
                <a:latin typeface="맑은 고딕"/>
                <a:ea typeface="맑은 고딕"/>
                <a:cs typeface="맑은 고딕"/>
              </a:rPr>
              <a:t> 저장 (평문 저장 없음)</a:t>
            </a:r>
          </a:p>
          <a:p>
            <a:pPr algn="l">
              <a:lnSpc>
                <a:spcPct val="150000"/>
              </a:lnSpc>
            </a:pPr>
            <a:r>
              <a:rPr sz="700" b="1">
                <a:solidFill>
                  <a:srgbClr val="086B9B"/>
                </a:solidFill>
                <a:latin typeface="맑은 고딕"/>
                <a:ea typeface="맑은 고딕"/>
                <a:cs typeface="맑은 고딕"/>
              </a:rPr>
              <a:t>●  </a:t>
            </a:r>
            <a:r>
              <a:rPr sz="1300" b="1">
                <a:solidFill>
                  <a:srgbClr val="086B9B"/>
                </a:solidFill>
                <a:latin typeface="맑은 고딕"/>
                <a:ea typeface="맑은 고딕"/>
                <a:cs typeface="맑은 고딕"/>
              </a:rPr>
              <a:t>Firebase 본인인증 UID</a:t>
            </a:r>
            <a:r>
              <a:rPr sz="1300" b="0">
                <a:solidFill>
                  <a:srgbClr val="213440"/>
                </a:solidFill>
                <a:latin typeface="맑은 고딕"/>
                <a:ea typeface="맑은 고딕"/>
                <a:cs typeface="맑은 고딕"/>
              </a:rPr>
              <a:t> 없이는 가입 불가</a:t>
            </a:r>
          </a:p>
          <a:p>
            <a:pPr algn="l">
              <a:lnSpc>
                <a:spcPct val="150000"/>
              </a:lnSpc>
            </a:pPr>
            <a:r>
              <a:rPr sz="700" b="1">
                <a:solidFill>
                  <a:srgbClr val="086B9B"/>
                </a:solidFill>
                <a:latin typeface="맑은 고딕"/>
                <a:ea typeface="맑은 고딕"/>
                <a:cs typeface="맑은 고딕"/>
              </a:rPr>
              <a:t>●  </a:t>
            </a:r>
            <a:r>
              <a:rPr sz="1300" b="0">
                <a:solidFill>
                  <a:srgbClr val="213440"/>
                </a:solidFill>
                <a:latin typeface="맑은 고딕"/>
                <a:ea typeface="맑은 고딕"/>
                <a:cs typeface="맑은 고딕"/>
              </a:rPr>
              <a:t>화면 · 서버 같은 규칙으로 이중 검증 (400 · 409 응답)</a:t>
            </a:r>
          </a:p>
          <a:p>
            <a:pPr algn="l">
              <a:lnSpc>
                <a:spcPct val="150000"/>
              </a:lnSpc>
            </a:pPr>
            <a:r>
              <a:rPr sz="700" b="1">
                <a:solidFill>
                  <a:srgbClr val="086B9B"/>
                </a:solidFill>
                <a:latin typeface="맑은 고딕"/>
                <a:ea typeface="맑은 고딕"/>
                <a:cs typeface="맑은 고딕"/>
              </a:rPr>
              <a:t>●  </a:t>
            </a:r>
            <a:r>
              <a:rPr sz="1300" b="0">
                <a:solidFill>
                  <a:srgbClr val="213440"/>
                </a:solidFill>
                <a:latin typeface="맑은 고딕"/>
                <a:ea typeface="맑은 고딕"/>
                <a:cs typeface="맑은 고딕"/>
              </a:rPr>
              <a:t>API 키 · DB 비밀번호는 .env · 환경변수 · GitHub Secrets로 분리</a:t>
            </a:r>
          </a:p>
        </p:txBody>
      </p:sp>
      <p:sp>
        <p:nvSpPr>
          <p:cNvPr id="26" name="Rounded Rectangle 25"/>
          <p:cNvSpPr/>
          <p:nvPr/>
        </p:nvSpPr>
        <p:spPr>
          <a:xfrm>
            <a:off x="7269480" y="1554480"/>
            <a:ext cx="4389120" cy="4617720"/>
          </a:xfrm>
          <a:prstGeom prst="roundRect">
            <a:avLst>
              <a:gd name="adj" fmla="val 5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43800" y="1737360"/>
            <a:ext cx="393192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소셜 로그인 (OAuth2)</a:t>
            </a:r>
          </a:p>
        </p:txBody>
      </p:sp>
      <p:sp>
        <p:nvSpPr>
          <p:cNvPr id="28" name="Rounded Rectangle 27"/>
          <p:cNvSpPr/>
          <p:nvPr/>
        </p:nvSpPr>
        <p:spPr>
          <a:xfrm>
            <a:off x="7543800" y="2240280"/>
            <a:ext cx="3840480" cy="502920"/>
          </a:xfrm>
          <a:prstGeom prst="roundRect">
            <a:avLst>
              <a:gd name="adj" fmla="val 8000"/>
            </a:avLst>
          </a:prstGeom>
          <a:solidFill>
            <a:srgbClr val="FBE26C"/>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43800" y="2240280"/>
            <a:ext cx="3840480" cy="502920"/>
          </a:xfrm>
          <a:prstGeom prst="rect">
            <a:avLst/>
          </a:prstGeom>
          <a:noFill/>
        </p:spPr>
        <p:txBody>
          <a:bodyPr wrap="square" anchor="ctr" lIns="73152" rIns="73152" tIns="73152" bIns="73152">
            <a:spAutoFit/>
          </a:bodyPr>
          <a:lstStyle/>
          <a:p>
            <a:pPr algn="ctr">
              <a:lnSpc>
                <a:spcPct val="115000"/>
              </a:lnSpc>
            </a:pPr>
            <a:r>
              <a:rPr sz="1300" b="1">
                <a:solidFill>
                  <a:srgbClr val="191919"/>
                </a:solidFill>
                <a:latin typeface="맑은 고딕"/>
                <a:ea typeface="맑은 고딕"/>
                <a:cs typeface="맑은 고딕"/>
              </a:rPr>
              <a:t>카카오 로그인</a:t>
            </a:r>
          </a:p>
        </p:txBody>
      </p:sp>
      <p:sp>
        <p:nvSpPr>
          <p:cNvPr id="30" name="Rounded Rectangle 29"/>
          <p:cNvSpPr/>
          <p:nvPr/>
        </p:nvSpPr>
        <p:spPr>
          <a:xfrm>
            <a:off x="7543800" y="2862072"/>
            <a:ext cx="3840480" cy="502920"/>
          </a:xfrm>
          <a:prstGeom prst="roundRect">
            <a:avLst>
              <a:gd name="adj" fmla="val 8000"/>
            </a:avLst>
          </a:prstGeom>
          <a:solidFill>
            <a:srgbClr val="2CA567"/>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543800" y="2862072"/>
            <a:ext cx="3840480" cy="502920"/>
          </a:xfrm>
          <a:prstGeom prst="rect">
            <a:avLst/>
          </a:prstGeom>
          <a:noFill/>
        </p:spPr>
        <p:txBody>
          <a:bodyPr wrap="square" anchor="ctr" lIns="73152" rIns="73152" tIns="73152" bIns="73152">
            <a:spAutoFit/>
          </a:bodyPr>
          <a:lstStyle/>
          <a:p>
            <a:pPr algn="ctr">
              <a:lnSpc>
                <a:spcPct val="115000"/>
              </a:lnSpc>
            </a:pPr>
            <a:r>
              <a:rPr sz="1300" b="1">
                <a:solidFill>
                  <a:srgbClr val="FFFFFF"/>
                </a:solidFill>
                <a:latin typeface="맑은 고딕"/>
                <a:ea typeface="맑은 고딕"/>
                <a:cs typeface="맑은 고딕"/>
              </a:rPr>
              <a:t>네이버 로그인</a:t>
            </a:r>
          </a:p>
        </p:txBody>
      </p:sp>
      <p:sp>
        <p:nvSpPr>
          <p:cNvPr id="32" name="Rounded Rectangle 31"/>
          <p:cNvSpPr/>
          <p:nvPr/>
        </p:nvSpPr>
        <p:spPr>
          <a:xfrm>
            <a:off x="7543800" y="3483864"/>
            <a:ext cx="3840480" cy="502920"/>
          </a:xfrm>
          <a:prstGeom prst="roundRect">
            <a:avLst>
              <a:gd name="adj" fmla="val 8000"/>
            </a:avLst>
          </a:prstGeom>
          <a:solidFill>
            <a:srgbClr val="FFFFFF"/>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543800" y="3483864"/>
            <a:ext cx="3840480" cy="502920"/>
          </a:xfrm>
          <a:prstGeom prst="rect">
            <a:avLst/>
          </a:prstGeom>
          <a:noFill/>
        </p:spPr>
        <p:txBody>
          <a:bodyPr wrap="square" anchor="ctr" lIns="73152" rIns="73152" tIns="73152" bIns="73152">
            <a:spAutoFit/>
          </a:bodyPr>
          <a:lstStyle/>
          <a:p>
            <a:pPr algn="ctr">
              <a:lnSpc>
                <a:spcPct val="115000"/>
              </a:lnSpc>
            </a:pPr>
            <a:r>
              <a:rPr sz="1300" b="1">
                <a:solidFill>
                  <a:srgbClr val="213440"/>
                </a:solidFill>
                <a:latin typeface="맑은 고딕"/>
                <a:ea typeface="맑은 고딕"/>
                <a:cs typeface="맑은 고딕"/>
              </a:rPr>
              <a:t>구글 로그인</a:t>
            </a:r>
          </a:p>
        </p:txBody>
      </p:sp>
      <p:sp>
        <p:nvSpPr>
          <p:cNvPr id="34" name="TextBox 33"/>
          <p:cNvSpPr txBox="1"/>
          <p:nvPr/>
        </p:nvSpPr>
        <p:spPr>
          <a:xfrm>
            <a:off x="7543800" y="4206240"/>
            <a:ext cx="3931920" cy="1920240"/>
          </a:xfrm>
          <a:prstGeom prst="rect">
            <a:avLst/>
          </a:prstGeom>
          <a:noFill/>
        </p:spPr>
        <p:txBody>
          <a:bodyPr wrap="square" anchor="t" lIns="45720" rIns="45720">
            <a:spAutoFit/>
          </a:bodyPr>
          <a:lstStyle/>
          <a:p>
            <a:pPr algn="l">
              <a:lnSpc>
                <a:spcPct val="145000"/>
              </a:lnSpc>
            </a:pPr>
            <a:r>
              <a:rPr sz="650" b="1">
                <a:solidFill>
                  <a:srgbClr val="086B9B"/>
                </a:solidFill>
                <a:latin typeface="맑은 고딕"/>
                <a:ea typeface="맑은 고딕"/>
                <a:cs typeface="맑은 고딕"/>
              </a:rPr>
              <a:t>●  </a:t>
            </a:r>
            <a:r>
              <a:rPr sz="1250" b="0">
                <a:solidFill>
                  <a:srgbClr val="213440"/>
                </a:solidFill>
                <a:latin typeface="맑은 고딕"/>
                <a:ea typeface="맑은 고딕"/>
                <a:cs typeface="맑은 고딕"/>
              </a:rPr>
              <a:t>처음 로그인 → 자동 회원가입</a:t>
            </a:r>
          </a:p>
          <a:p>
            <a:pPr algn="l">
              <a:lnSpc>
                <a:spcPct val="145000"/>
              </a:lnSpc>
            </a:pPr>
            <a:r>
              <a:rPr sz="650" b="1">
                <a:solidFill>
                  <a:srgbClr val="086B9B"/>
                </a:solidFill>
                <a:latin typeface="맑은 고딕"/>
                <a:ea typeface="맑은 고딕"/>
                <a:cs typeface="맑은 고딕"/>
              </a:rPr>
              <a:t>●  </a:t>
            </a:r>
            <a:r>
              <a:rPr sz="1250" b="0">
                <a:solidFill>
                  <a:srgbClr val="213440"/>
                </a:solidFill>
                <a:latin typeface="맑은 고딕"/>
                <a:ea typeface="맑은 고딕"/>
                <a:cs typeface="맑은 고딕"/>
              </a:rPr>
              <a:t>기존 회원 → 이름 · 이메일 갱신</a:t>
            </a:r>
          </a:p>
          <a:p>
            <a:pPr algn="l">
              <a:lnSpc>
                <a:spcPct val="145000"/>
              </a:lnSpc>
            </a:pPr>
            <a:r>
              <a:rPr sz="650" b="1">
                <a:solidFill>
                  <a:srgbClr val="086B9B"/>
                </a:solidFill>
                <a:latin typeface="맑은 고딕"/>
                <a:ea typeface="맑은 고딕"/>
                <a:cs typeface="맑은 고딕"/>
              </a:rPr>
              <a:t>●  </a:t>
            </a:r>
            <a:r>
              <a:rPr sz="1250" b="0">
                <a:solidFill>
                  <a:srgbClr val="213440"/>
                </a:solidFill>
                <a:latin typeface="맑은 고딕"/>
                <a:ea typeface="맑은 고딕"/>
                <a:cs typeface="맑은 고딕"/>
              </a:rPr>
              <a:t>Spring Security OAuth2 Client</a:t>
            </a:r>
          </a:p>
          <a:p>
            <a:pPr algn="l">
              <a:lnSpc>
                <a:spcPct val="145000"/>
              </a:lnSpc>
            </a:pPr>
            <a:r>
              <a:rPr sz="650" b="1">
                <a:solidFill>
                  <a:srgbClr val="086B9B"/>
                </a:solidFill>
                <a:latin typeface="맑은 고딕"/>
                <a:ea typeface="맑은 고딕"/>
                <a:cs typeface="맑은 고딕"/>
              </a:rPr>
              <a:t>●  </a:t>
            </a:r>
            <a:r>
              <a:rPr sz="1250" b="0">
                <a:solidFill>
                  <a:srgbClr val="213440"/>
                </a:solidFill>
                <a:latin typeface="맑은 고딕"/>
                <a:ea typeface="맑은 고딕"/>
                <a:cs typeface="맑은 고딕"/>
              </a:rPr>
              <a:t>nginx 뒤에서도 https 콜백 주소 생성</a:t>
            </a:r>
          </a:p>
        </p:txBody>
      </p:sp>
      <p:sp>
        <p:nvSpPr>
          <p:cNvPr id="35" name="Rectangle 34"/>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04  자동화 &amp; 백엔드</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데이터베이스 · API 설계</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홍길동</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14 / 20</a:t>
            </a:r>
          </a:p>
        </p:txBody>
      </p:sp>
      <p:sp>
        <p:nvSpPr>
          <p:cNvPr id="11" name="TextBox 10"/>
          <p:cNvSpPr txBox="1"/>
          <p:nvPr/>
        </p:nvSpPr>
        <p:spPr>
          <a:xfrm>
            <a:off x="548640" y="1554480"/>
            <a:ext cx="457200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TiDB 테이블</a:t>
            </a:r>
          </a:p>
        </p:txBody>
      </p:sp>
      <p:graphicFrame>
        <p:nvGraphicFramePr>
          <p:cNvPr id="12" name="Table 11"/>
          <p:cNvGraphicFramePr>
            <a:graphicFrameLocks noGrp="1"/>
          </p:cNvGraphicFramePr>
          <p:nvPr/>
        </p:nvGraphicFramePr>
        <p:xfrm>
          <a:off x="548640" y="1920240"/>
          <a:ext cx="4937760" cy="2743200"/>
        </p:xfrm>
        <a:graphic>
          <a:graphicData uri="http://schemas.openxmlformats.org/drawingml/2006/table">
            <a:tbl>
              <a:tblPr firstRow="1" bandRow="1">
                <a:tableStyleId>{5C22544A-7EE6-4342-B048-85BDC9FD1C3A}</a:tableStyleId>
              </a:tblPr>
              <a:tblGrid>
                <a:gridCol w="2651760"/>
                <a:gridCol w="2286000"/>
              </a:tblGrid>
              <a:tr h="457200">
                <a:tc>
                  <a:txBody>
                    <a:bodyPr wrap="square"/>
                    <a:lstStyle/>
                    <a:p>
                      <a:r>
                        <a:rPr sz="1200" b="1">
                          <a:solidFill>
                            <a:srgbClr val="FFFFFF"/>
                          </a:solidFill>
                          <a:latin typeface="맑은 고딕"/>
                          <a:ea typeface="맑은 고딕"/>
                          <a:cs typeface="맑은 고딕"/>
                        </a:rPr>
                        <a:t>member (회원)</a:t>
                      </a:r>
                    </a:p>
                  </a:txBody>
                  <a:tcPr marL="73152" marR="73152" marT="36576" marB="36576" anchor="ctr">
                    <a:solidFill>
                      <a:srgbClr val="173649"/>
                    </a:solidFill>
                  </a:tcPr>
                </a:tc>
                <a:tc>
                  <a:txBody>
                    <a:bodyPr wrap="square"/>
                    <a:lstStyle/>
                    <a:p>
                      <a:r>
                        <a:rPr sz="1200" b="1">
                          <a:solidFill>
                            <a:srgbClr val="FFFFFF"/>
                          </a:solidFill>
                          <a:latin typeface="맑은 고딕"/>
                          <a:ea typeface="맑은 고딕"/>
                          <a:cs typeface="맑은 고딕"/>
                        </a:rPr>
                        <a:t>설명</a:t>
                      </a:r>
                    </a:p>
                  </a:txBody>
                  <a:tcPr marL="73152" marR="73152" marT="36576" marB="36576" anchor="ctr">
                    <a:solidFill>
                      <a:srgbClr val="173649"/>
                    </a:solidFill>
                  </a:tcPr>
                </a:tc>
              </a:tr>
              <a:tr h="457200">
                <a:tc>
                  <a:txBody>
                    <a:bodyPr wrap="square"/>
                    <a:lstStyle/>
                    <a:p>
                      <a:r>
                        <a:rPr sz="1100" b="1">
                          <a:solidFill>
                            <a:srgbClr val="173649"/>
                          </a:solidFill>
                          <a:latin typeface="맑은 고딕"/>
                          <a:ea typeface="맑은 고딕"/>
                          <a:cs typeface="맑은 고딕"/>
                        </a:rPr>
                        <a:t>user_id  UK</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로그인 아이디</a:t>
                      </a:r>
                    </a:p>
                  </a:txBody>
                  <a:tcPr marL="73152" marR="73152" marT="36576" marB="36576" anchor="ctr">
                    <a:solidFill>
                      <a:srgbClr val="FFFFFF"/>
                    </a:solidFill>
                  </a:tcPr>
                </a:tc>
              </a:tr>
              <a:tr h="457200">
                <a:tc>
                  <a:txBody>
                    <a:bodyPr wrap="square"/>
                    <a:lstStyle/>
                    <a:p>
                      <a:r>
                        <a:rPr sz="1100" b="1">
                          <a:solidFill>
                            <a:srgbClr val="173649"/>
                          </a:solidFill>
                          <a:latin typeface="맑은 고딕"/>
                          <a:ea typeface="맑은 고딕"/>
                          <a:cs typeface="맑은 고딕"/>
                        </a:rPr>
                        <a:t>password_hash</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BCrypt 해시</a:t>
                      </a:r>
                    </a:p>
                  </a:txBody>
                  <a:tcPr marL="73152" marR="73152" marT="36576" marB="36576" anchor="ctr">
                    <a:solidFill>
                      <a:srgbClr val="F3F0E9"/>
                    </a:solidFill>
                  </a:tcPr>
                </a:tc>
              </a:tr>
              <a:tr h="457200">
                <a:tc>
                  <a:txBody>
                    <a:bodyPr wrap="square"/>
                    <a:lstStyle/>
                    <a:p>
                      <a:r>
                        <a:rPr sz="1100" b="1">
                          <a:solidFill>
                            <a:srgbClr val="173649"/>
                          </a:solidFill>
                          <a:latin typeface="맑은 고딕"/>
                          <a:ea typeface="맑은 고딕"/>
                          <a:cs typeface="맑은 고딕"/>
                        </a:rPr>
                        <a:t>name · birth · gender · phone</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기본 정보</a:t>
                      </a:r>
                    </a:p>
                  </a:txBody>
                  <a:tcPr marL="73152" marR="73152" marT="36576" marB="36576" anchor="ctr">
                    <a:solidFill>
                      <a:srgbClr val="FFFFFF"/>
                    </a:solidFill>
                  </a:tcPr>
                </a:tc>
              </a:tr>
              <a:tr h="457200">
                <a:tc>
                  <a:txBody>
                    <a:bodyPr wrap="square"/>
                    <a:lstStyle/>
                    <a:p>
                      <a:r>
                        <a:rPr sz="1100" b="1">
                          <a:solidFill>
                            <a:srgbClr val="173649"/>
                          </a:solidFill>
                          <a:latin typeface="맑은 고딕"/>
                          <a:ea typeface="맑은 고딕"/>
                          <a:cs typeface="맑은 고딕"/>
                        </a:rPr>
                        <a:t>firebase_uid</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휴대폰 본인인증</a:t>
                      </a:r>
                    </a:p>
                  </a:txBody>
                  <a:tcPr marL="73152" marR="73152" marT="36576" marB="36576" anchor="ctr">
                    <a:solidFill>
                      <a:srgbClr val="F3F0E9"/>
                    </a:solidFill>
                  </a:tcPr>
                </a:tc>
              </a:tr>
              <a:tr h="457200">
                <a:tc>
                  <a:txBody>
                    <a:bodyPr wrap="square"/>
                    <a:lstStyle/>
                    <a:p>
                      <a:r>
                        <a:rPr sz="1100" b="1">
                          <a:solidFill>
                            <a:srgbClr val="173649"/>
                          </a:solidFill>
                          <a:latin typeface="맑은 고딕"/>
                          <a:ea typeface="맑은 고딕"/>
                          <a:cs typeface="맑은 고딕"/>
                        </a:rPr>
                        <a:t>sns_type · sns_id  UK</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소셜 로그인 식별</a:t>
                      </a:r>
                    </a:p>
                  </a:txBody>
                  <a:tcPr marL="73152" marR="73152" marT="36576" marB="36576" anchor="ctr">
                    <a:solidFill>
                      <a:srgbClr val="FFFFFF"/>
                    </a:solidFill>
                  </a:tcPr>
                </a:tc>
              </a:tr>
            </a:tbl>
          </a:graphicData>
        </a:graphic>
      </p:graphicFrame>
      <p:graphicFrame>
        <p:nvGraphicFramePr>
          <p:cNvPr id="13" name="Table 12"/>
          <p:cNvGraphicFramePr>
            <a:graphicFrameLocks noGrp="1"/>
          </p:cNvGraphicFramePr>
          <p:nvPr/>
        </p:nvGraphicFramePr>
        <p:xfrm>
          <a:off x="548640" y="4846320"/>
          <a:ext cx="4937760" cy="1325880"/>
        </p:xfrm>
        <a:graphic>
          <a:graphicData uri="http://schemas.openxmlformats.org/drawingml/2006/table">
            <a:tbl>
              <a:tblPr firstRow="1" bandRow="1">
                <a:tableStyleId>{5C22544A-7EE6-4342-B048-85BDC9FD1C3A}</a:tableStyleId>
              </a:tblPr>
              <a:tblGrid>
                <a:gridCol w="2651760"/>
                <a:gridCol w="2286000"/>
              </a:tblGrid>
              <a:tr h="441960">
                <a:tc>
                  <a:txBody>
                    <a:bodyPr wrap="square"/>
                    <a:lstStyle/>
                    <a:p>
                      <a:r>
                        <a:rPr sz="1200" b="1">
                          <a:solidFill>
                            <a:srgbClr val="FFFFFF"/>
                          </a:solidFill>
                          <a:latin typeface="맑은 고딕"/>
                          <a:ea typeface="맑은 고딕"/>
                          <a:cs typeface="맑은 고딕"/>
                        </a:rPr>
                        <a:t>qna (Q&amp;A)</a:t>
                      </a:r>
                    </a:p>
                  </a:txBody>
                  <a:tcPr marL="73152" marR="73152" marT="36576" marB="36576" anchor="ctr">
                    <a:solidFill>
                      <a:srgbClr val="173649"/>
                    </a:solidFill>
                  </a:tcPr>
                </a:tc>
                <a:tc>
                  <a:txBody>
                    <a:bodyPr wrap="square"/>
                    <a:lstStyle/>
                    <a:p>
                      <a:r>
                        <a:rPr sz="1200" b="1">
                          <a:solidFill>
                            <a:srgbClr val="FFFFFF"/>
                          </a:solidFill>
                          <a:latin typeface="맑은 고딕"/>
                          <a:ea typeface="맑은 고딕"/>
                          <a:cs typeface="맑은 고딕"/>
                        </a:rPr>
                        <a:t>설명</a:t>
                      </a:r>
                    </a:p>
                  </a:txBody>
                  <a:tcPr marL="73152" marR="73152" marT="36576" marB="36576" anchor="ctr">
                    <a:solidFill>
                      <a:srgbClr val="173649"/>
                    </a:solidFill>
                  </a:tcPr>
                </a:tc>
              </a:tr>
              <a:tr h="441960">
                <a:tc>
                  <a:txBody>
                    <a:bodyPr wrap="square"/>
                    <a:lstStyle/>
                    <a:p>
                      <a:r>
                        <a:rPr sz="1100" b="1">
                          <a:solidFill>
                            <a:srgbClr val="173649"/>
                          </a:solidFill>
                          <a:latin typeface="맑은 고딕"/>
                          <a:ea typeface="맑은 고딕"/>
                          <a:cs typeface="맑은 고딕"/>
                        </a:rPr>
                        <a:t>title · content · writer</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제목 · 내용 · 작성자</a:t>
                      </a:r>
                    </a:p>
                  </a:txBody>
                  <a:tcPr marL="73152" marR="73152" marT="36576" marB="36576" anchor="ctr">
                    <a:solidFill>
                      <a:srgbClr val="FFFFFF"/>
                    </a:solidFill>
                  </a:tcPr>
                </a:tc>
              </a:tr>
              <a:tr h="441960">
                <a:tc>
                  <a:txBody>
                    <a:bodyPr wrap="square"/>
                    <a:lstStyle/>
                    <a:p>
                      <a:r>
                        <a:rPr sz="1100" b="1">
                          <a:solidFill>
                            <a:srgbClr val="173649"/>
                          </a:solidFill>
                          <a:latin typeface="맑은 고딕"/>
                          <a:ea typeface="맑은 고딕"/>
                          <a:cs typeface="맑은 고딕"/>
                        </a:rPr>
                        <a:t>status · created_at</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상태 · 작성일</a:t>
                      </a:r>
                    </a:p>
                  </a:txBody>
                  <a:tcPr marL="73152" marR="73152" marT="36576" marB="36576" anchor="ctr">
                    <a:solidFill>
                      <a:srgbClr val="F3F0E9"/>
                    </a:solidFill>
                  </a:tcPr>
                </a:tc>
              </a:tr>
            </a:tbl>
          </a:graphicData>
        </a:graphic>
      </p:graphicFrame>
      <p:sp>
        <p:nvSpPr>
          <p:cNvPr id="14" name="TextBox 13"/>
          <p:cNvSpPr txBox="1"/>
          <p:nvPr/>
        </p:nvSpPr>
        <p:spPr>
          <a:xfrm>
            <a:off x="5852160" y="1554480"/>
            <a:ext cx="548640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주요 API</a:t>
            </a:r>
          </a:p>
        </p:txBody>
      </p:sp>
      <p:graphicFrame>
        <p:nvGraphicFramePr>
          <p:cNvPr id="15" name="Table 14"/>
          <p:cNvGraphicFramePr>
            <a:graphicFrameLocks noGrp="1"/>
          </p:cNvGraphicFramePr>
          <p:nvPr/>
        </p:nvGraphicFramePr>
        <p:xfrm>
          <a:off x="5852160" y="1920240"/>
          <a:ext cx="5806440" cy="4251960"/>
        </p:xfrm>
        <a:graphic>
          <a:graphicData uri="http://schemas.openxmlformats.org/drawingml/2006/table">
            <a:tbl>
              <a:tblPr firstRow="1" bandRow="1">
                <a:tableStyleId>{5C22544A-7EE6-4342-B048-85BDC9FD1C3A}</a:tableStyleId>
              </a:tblPr>
              <a:tblGrid>
                <a:gridCol w="822960"/>
                <a:gridCol w="2788920"/>
                <a:gridCol w="2194560"/>
              </a:tblGrid>
              <a:tr h="472440">
                <a:tc>
                  <a:txBody>
                    <a:bodyPr wrap="square"/>
                    <a:lstStyle/>
                    <a:p>
                      <a:r>
                        <a:rPr sz="1200" b="1">
                          <a:solidFill>
                            <a:srgbClr val="FFFFFF"/>
                          </a:solidFill>
                          <a:latin typeface="맑은 고딕"/>
                          <a:ea typeface="맑은 고딕"/>
                          <a:cs typeface="맑은 고딕"/>
                        </a:rPr>
                        <a:t>Method</a:t>
                      </a:r>
                    </a:p>
                  </a:txBody>
                  <a:tcPr marL="73152" marR="73152" marT="36576" marB="36576" anchor="ctr">
                    <a:solidFill>
                      <a:srgbClr val="173649"/>
                    </a:solidFill>
                  </a:tcPr>
                </a:tc>
                <a:tc>
                  <a:txBody>
                    <a:bodyPr wrap="square"/>
                    <a:lstStyle/>
                    <a:p>
                      <a:r>
                        <a:rPr sz="1200" b="1">
                          <a:solidFill>
                            <a:srgbClr val="FFFFFF"/>
                          </a:solidFill>
                          <a:latin typeface="맑은 고딕"/>
                          <a:ea typeface="맑은 고딕"/>
                          <a:cs typeface="맑은 고딕"/>
                        </a:rPr>
                        <a:t>URL</a:t>
                      </a:r>
                    </a:p>
                  </a:txBody>
                  <a:tcPr marL="73152" marR="73152" marT="36576" marB="36576" anchor="ctr">
                    <a:solidFill>
                      <a:srgbClr val="173649"/>
                    </a:solidFill>
                  </a:tcPr>
                </a:tc>
                <a:tc>
                  <a:txBody>
                    <a:bodyPr wrap="square"/>
                    <a:lstStyle/>
                    <a:p>
                      <a:r>
                        <a:rPr sz="1200" b="1">
                          <a:solidFill>
                            <a:srgbClr val="FFFFFF"/>
                          </a:solidFill>
                          <a:latin typeface="맑은 고딕"/>
                          <a:ea typeface="맑은 고딕"/>
                          <a:cs typeface="맑은 고딕"/>
                        </a:rPr>
                        <a:t>설명</a:t>
                      </a:r>
                    </a:p>
                  </a:txBody>
                  <a:tcPr marL="73152" marR="73152" marT="36576" marB="36576" anchor="ctr">
                    <a:solidFill>
                      <a:srgbClr val="173649"/>
                    </a:solidFill>
                  </a:tcPr>
                </a:tc>
              </a:tr>
              <a:tr h="472440">
                <a:tc>
                  <a:txBody>
                    <a:bodyPr wrap="square"/>
                    <a:lstStyle/>
                    <a:p>
                      <a:r>
                        <a:rPr sz="1100" b="0">
                          <a:solidFill>
                            <a:srgbClr val="213440"/>
                          </a:solidFill>
                          <a:latin typeface="맑은 고딕"/>
                          <a:ea typeface="맑은 고딕"/>
                          <a:cs typeface="맑은 고딕"/>
                        </a:rPr>
                        <a:t>POST</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/api/members/register</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회원가입 (JSON)</a:t>
                      </a:r>
                    </a:p>
                  </a:txBody>
                  <a:tcPr marL="73152" marR="73152" marT="36576" marB="36576" anchor="ctr">
                    <a:solidFill>
                      <a:srgbClr val="FFFFFF"/>
                    </a:solidFill>
                  </a:tcPr>
                </a:tc>
              </a:tr>
              <a:tr h="472440">
                <a:tc>
                  <a:txBody>
                    <a:bodyPr wrap="square"/>
                    <a:lstStyle/>
                    <a:p>
                      <a:r>
                        <a:rPr sz="1100" b="0">
                          <a:solidFill>
                            <a:srgbClr val="213440"/>
                          </a:solidFill>
                          <a:latin typeface="맑은 고딕"/>
                          <a:ea typeface="맑은 고딕"/>
                          <a:cs typeface="맑은 고딕"/>
                        </a:rPr>
                        <a:t>POST</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/member/login</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아이디 로그인</a:t>
                      </a:r>
                    </a:p>
                  </a:txBody>
                  <a:tcPr marL="73152" marR="73152" marT="36576" marB="36576" anchor="ctr">
                    <a:solidFill>
                      <a:srgbClr val="F3F0E9"/>
                    </a:solidFill>
                  </a:tcPr>
                </a:tc>
              </a:tr>
              <a:tr h="472440">
                <a:tc>
                  <a:txBody>
                    <a:bodyPr wrap="square"/>
                    <a:lstStyle/>
                    <a:p>
                      <a:r>
                        <a:rPr sz="1100" b="0">
                          <a:solidFill>
                            <a:srgbClr val="213440"/>
                          </a:solidFill>
                          <a:latin typeface="맑은 고딕"/>
                          <a:ea typeface="맑은 고딕"/>
                          <a:cs typeface="맑은 고딕"/>
                        </a:rPr>
                        <a:t>GET</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/oauth2/authorization/{sns}</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소셜 로그인</a:t>
                      </a:r>
                    </a:p>
                  </a:txBody>
                  <a:tcPr marL="73152" marR="73152" marT="36576" marB="36576" anchor="ctr">
                    <a:solidFill>
                      <a:srgbClr val="FFFFFF"/>
                    </a:solidFill>
                  </a:tcPr>
                </a:tc>
              </a:tr>
              <a:tr h="472440">
                <a:tc>
                  <a:txBody>
                    <a:bodyPr wrap="square"/>
                    <a:lstStyle/>
                    <a:p>
                      <a:r>
                        <a:rPr sz="1100" b="0">
                          <a:solidFill>
                            <a:srgbClr val="213440"/>
                          </a:solidFill>
                          <a:latin typeface="맑은 고딕"/>
                          <a:ea typeface="맑은 고딕"/>
                          <a:cs typeface="맑은 고딕"/>
                        </a:rPr>
                        <a:t>GET</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/api/ai-data/apartments</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AI 학습 데이터 (gzip)</a:t>
                      </a:r>
                    </a:p>
                  </a:txBody>
                  <a:tcPr marL="73152" marR="73152" marT="36576" marB="36576" anchor="ctr">
                    <a:solidFill>
                      <a:srgbClr val="F3F0E9"/>
                    </a:solidFill>
                  </a:tcPr>
                </a:tc>
              </a:tr>
              <a:tr h="472440">
                <a:tc>
                  <a:txBody>
                    <a:bodyPr wrap="square"/>
                    <a:lstStyle/>
                    <a:p>
                      <a:r>
                        <a:rPr sz="1100" b="0">
                          <a:solidFill>
                            <a:srgbClr val="213440"/>
                          </a:solidFill>
                          <a:latin typeface="맑은 고딕"/>
                          <a:ea typeface="맑은 고딕"/>
                          <a:cs typeface="맑은 고딕"/>
                        </a:rPr>
                        <a:t>GET</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/api/ai-data/status</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재학습 진행 상태</a:t>
                      </a:r>
                    </a:p>
                  </a:txBody>
                  <a:tcPr marL="73152" marR="73152" marT="36576" marB="36576" anchor="ctr">
                    <a:solidFill>
                      <a:srgbClr val="FFFFFF"/>
                    </a:solidFill>
                  </a:tcPr>
                </a:tc>
              </a:tr>
              <a:tr h="472440">
                <a:tc>
                  <a:txBody>
                    <a:bodyPr wrap="square"/>
                    <a:lstStyle/>
                    <a:p>
                      <a:r>
                        <a:rPr sz="1100" b="0">
                          <a:solidFill>
                            <a:srgbClr val="213440"/>
                          </a:solidFill>
                          <a:latin typeface="맑은 고딕"/>
                          <a:ea typeface="맑은 고딕"/>
                          <a:cs typeface="맑은 고딕"/>
                        </a:rPr>
                        <a:t>POST</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/api/ai-data/refresh</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AI 재학습 (로그인)</a:t>
                      </a:r>
                    </a:p>
                  </a:txBody>
                  <a:tcPr marL="73152" marR="73152" marT="36576" marB="36576" anchor="ctr">
                    <a:solidFill>
                      <a:srgbClr val="F3F0E9"/>
                    </a:solidFill>
                  </a:tcPr>
                </a:tc>
              </a:tr>
              <a:tr h="472440">
                <a:tc>
                  <a:txBody>
                    <a:bodyPr wrap="square"/>
                    <a:lstStyle/>
                    <a:p>
                      <a:r>
                        <a:rPr sz="1100" b="0">
                          <a:solidFill>
                            <a:srgbClr val="213440"/>
                          </a:solidFill>
                          <a:latin typeface="맑은 고딕"/>
                          <a:ea typeface="맑은 고딕"/>
                          <a:cs typeface="맑은 고딕"/>
                        </a:rPr>
                        <a:t>GET</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/qna</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Q&amp;A 목록</a:t>
                      </a:r>
                    </a:p>
                  </a:txBody>
                  <a:tcPr marL="73152" marR="73152" marT="36576" marB="36576" anchor="ctr">
                    <a:solidFill>
                      <a:srgbClr val="FFFFFF"/>
                    </a:solidFill>
                  </a:tcPr>
                </a:tc>
              </a:tr>
              <a:tr h="472440">
                <a:tc>
                  <a:txBody>
                    <a:bodyPr wrap="square"/>
                    <a:lstStyle/>
                    <a:p>
                      <a:r>
                        <a:rPr sz="1100" b="0">
                          <a:solidFill>
                            <a:srgbClr val="213440"/>
                          </a:solidFill>
                          <a:latin typeface="맑은 고딕"/>
                          <a:ea typeface="맑은 고딕"/>
                          <a:cs typeface="맑은 고딕"/>
                        </a:rPr>
                        <a:t>GET</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/healthz</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헬스 체크</a:t>
                      </a:r>
                    </a:p>
                  </a:txBody>
                  <a:tcPr marL="73152" marR="73152" marT="36576" marB="36576" anchor="ctr">
                    <a:solidFill>
                      <a:srgbClr val="F3F0E9"/>
                    </a:solidFill>
                  </a:tcPr>
                </a:tc>
              </a:tr>
            </a:tbl>
          </a:graphicData>
        </a:graphic>
      </p:graphicFrame>
      <p:sp>
        <p:nvSpPr>
          <p:cNvPr id="16" name="Rectangle 15"/>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05  화면 시연</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AI 실거래 단지 추천 화면</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김서연</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15 / 20</a:t>
            </a:r>
          </a:p>
        </p:txBody>
      </p:sp>
      <p:pic>
        <p:nvPicPr>
          <p:cNvPr id="11" name="Picture 10" descr="ai_top.png"/>
          <p:cNvPicPr>
            <a:picLocks noChangeAspect="1"/>
          </p:cNvPicPr>
          <p:nvPr/>
        </p:nvPicPr>
        <p:blipFill>
          <a:blip r:embed="rId2"/>
          <a:stretch>
            <a:fillRect/>
          </a:stretch>
        </p:blipFill>
        <p:spPr>
          <a:xfrm>
            <a:off x="548640" y="1508760"/>
            <a:ext cx="4572000" cy="2368550"/>
          </a:xfrm>
          <a:prstGeom prst="rect">
            <a:avLst/>
          </a:prstGeom>
          <a:ln w="12700">
            <a:solidFill>
              <a:srgbClr val="E0E4E8"/>
            </a:solidFill>
          </a:ln>
        </p:spPr>
      </p:pic>
      <p:pic>
        <p:nvPicPr>
          <p:cNvPr id="12" name="Picture 11" descr="ai_insight.png"/>
          <p:cNvPicPr>
            <a:picLocks noChangeAspect="1"/>
          </p:cNvPicPr>
          <p:nvPr/>
        </p:nvPicPr>
        <p:blipFill>
          <a:blip r:embed="rId3"/>
          <a:stretch>
            <a:fillRect/>
          </a:stretch>
        </p:blipFill>
        <p:spPr>
          <a:xfrm>
            <a:off x="548640" y="3931920"/>
            <a:ext cx="4572000" cy="2317750"/>
          </a:xfrm>
          <a:prstGeom prst="rect">
            <a:avLst/>
          </a:prstGeom>
          <a:ln w="12700">
            <a:solidFill>
              <a:srgbClr val="E0E4E8"/>
            </a:solidFill>
          </a:ln>
        </p:spPr>
      </p:pic>
      <p:sp>
        <p:nvSpPr>
          <p:cNvPr id="13" name="TextBox 12"/>
          <p:cNvSpPr txBox="1"/>
          <p:nvPr/>
        </p:nvSpPr>
        <p:spPr>
          <a:xfrm>
            <a:off x="5577840" y="1554480"/>
            <a:ext cx="457200" cy="457200"/>
          </a:xfrm>
          <a:prstGeom prst="rect">
            <a:avLst/>
          </a:prstGeom>
          <a:noFill/>
        </p:spPr>
        <p:txBody>
          <a:bodyPr wrap="square" anchor="t" lIns="45720" rIns="45720">
            <a:spAutoFit/>
          </a:bodyPr>
          <a:lstStyle/>
          <a:p>
            <a:pPr algn="l">
              <a:lnSpc>
                <a:spcPct val="115000"/>
              </a:lnSpc>
            </a:pPr>
            <a:r>
              <a:rPr sz="2000" b="1">
                <a:solidFill>
                  <a:srgbClr val="BD7148"/>
                </a:solidFill>
                <a:latin typeface="맑은 고딕"/>
                <a:ea typeface="맑은 고딕"/>
                <a:cs typeface="맑은 고딕"/>
              </a:rPr>
              <a:t>①</a:t>
            </a:r>
          </a:p>
        </p:txBody>
      </p:sp>
      <p:sp>
        <p:nvSpPr>
          <p:cNvPr id="14" name="TextBox 13"/>
          <p:cNvSpPr txBox="1"/>
          <p:nvPr/>
        </p:nvSpPr>
        <p:spPr>
          <a:xfrm>
            <a:off x="6080760" y="1554480"/>
            <a:ext cx="5577840" cy="365760"/>
          </a:xfrm>
          <a:prstGeom prst="rect">
            <a:avLst/>
          </a:prstGeom>
          <a:noFill/>
        </p:spPr>
        <p:txBody>
          <a:bodyPr wrap="square" anchor="t" lIns="45720" rIns="45720">
            <a:spAutoFit/>
          </a:bodyPr>
          <a:lstStyle/>
          <a:p>
            <a:pPr algn="l">
              <a:lnSpc>
                <a:spcPct val="115000"/>
              </a:lnSpc>
            </a:pPr>
            <a:r>
              <a:rPr sz="1600" b="1">
                <a:solidFill>
                  <a:srgbClr val="173649"/>
                </a:solidFill>
                <a:latin typeface="맑은 고딕"/>
                <a:ea typeface="맑은 고딕"/>
                <a:cs typeface="맑은 고딕"/>
              </a:rPr>
              <a:t>실거래 기준 안내</a:t>
            </a:r>
          </a:p>
        </p:txBody>
      </p:sp>
      <p:sp>
        <p:nvSpPr>
          <p:cNvPr id="15" name="TextBox 14"/>
          <p:cNvSpPr txBox="1"/>
          <p:nvPr/>
        </p:nvSpPr>
        <p:spPr>
          <a:xfrm>
            <a:off x="6080760" y="1920240"/>
            <a:ext cx="5577840" cy="365760"/>
          </a:xfrm>
          <a:prstGeom prst="rect">
            <a:avLst/>
          </a:prstGeom>
          <a:noFill/>
        </p:spPr>
        <p:txBody>
          <a:bodyPr wrap="square" anchor="t" lIns="45720" rIns="45720">
            <a:spAutoFit/>
          </a:bodyPr>
          <a:lstStyle/>
          <a:p>
            <a:pPr algn="l">
              <a:lnSpc>
                <a:spcPct val="115000"/>
              </a:lnSpc>
            </a:pPr>
            <a:r>
              <a:rPr sz="1300" b="0">
                <a:solidFill>
                  <a:srgbClr val="60717B"/>
                </a:solidFill>
                <a:latin typeface="맑은 고딕"/>
                <a:ea typeface="맑은 고딕"/>
                <a:cs typeface="맑은 고딕"/>
              </a:rPr>
              <a:t>'판매 중인 매물이 아닌 거래 완료 기록' 명시</a:t>
            </a:r>
          </a:p>
        </p:txBody>
      </p:sp>
      <p:sp>
        <p:nvSpPr>
          <p:cNvPr id="16" name="TextBox 15"/>
          <p:cNvSpPr txBox="1"/>
          <p:nvPr/>
        </p:nvSpPr>
        <p:spPr>
          <a:xfrm>
            <a:off x="5577840" y="2322576"/>
            <a:ext cx="457200" cy="457200"/>
          </a:xfrm>
          <a:prstGeom prst="rect">
            <a:avLst/>
          </a:prstGeom>
          <a:noFill/>
        </p:spPr>
        <p:txBody>
          <a:bodyPr wrap="square" anchor="t" lIns="45720" rIns="45720">
            <a:spAutoFit/>
          </a:bodyPr>
          <a:lstStyle/>
          <a:p>
            <a:pPr algn="l">
              <a:lnSpc>
                <a:spcPct val="115000"/>
              </a:lnSpc>
            </a:pPr>
            <a:r>
              <a:rPr sz="2000" b="1">
                <a:solidFill>
                  <a:srgbClr val="BD7148"/>
                </a:solidFill>
                <a:latin typeface="맑은 고딕"/>
                <a:ea typeface="맑은 고딕"/>
                <a:cs typeface="맑은 고딕"/>
              </a:rPr>
              <a:t>②</a:t>
            </a:r>
          </a:p>
        </p:txBody>
      </p:sp>
      <p:sp>
        <p:nvSpPr>
          <p:cNvPr id="17" name="TextBox 16"/>
          <p:cNvSpPr txBox="1"/>
          <p:nvPr/>
        </p:nvSpPr>
        <p:spPr>
          <a:xfrm>
            <a:off x="6080760" y="2322576"/>
            <a:ext cx="5577840" cy="365760"/>
          </a:xfrm>
          <a:prstGeom prst="rect">
            <a:avLst/>
          </a:prstGeom>
          <a:noFill/>
        </p:spPr>
        <p:txBody>
          <a:bodyPr wrap="square" anchor="t" lIns="45720" rIns="45720">
            <a:spAutoFit/>
          </a:bodyPr>
          <a:lstStyle/>
          <a:p>
            <a:pPr algn="l">
              <a:lnSpc>
                <a:spcPct val="115000"/>
              </a:lnSpc>
            </a:pPr>
            <a:r>
              <a:rPr sz="1600" b="1">
                <a:solidFill>
                  <a:srgbClr val="173649"/>
                </a:solidFill>
                <a:latin typeface="맑은 고딕"/>
                <a:ea typeface="맑은 고딕"/>
                <a:cs typeface="맑은 고딕"/>
              </a:rPr>
              <a:t>조건 입력 바</a:t>
            </a:r>
          </a:p>
        </p:txBody>
      </p:sp>
      <p:sp>
        <p:nvSpPr>
          <p:cNvPr id="18" name="TextBox 17"/>
          <p:cNvSpPr txBox="1"/>
          <p:nvPr/>
        </p:nvSpPr>
        <p:spPr>
          <a:xfrm>
            <a:off x="6080760" y="2688336"/>
            <a:ext cx="5577840" cy="365760"/>
          </a:xfrm>
          <a:prstGeom prst="rect">
            <a:avLst/>
          </a:prstGeom>
          <a:noFill/>
        </p:spPr>
        <p:txBody>
          <a:bodyPr wrap="square" anchor="t" lIns="45720" rIns="45720">
            <a:spAutoFit/>
          </a:bodyPr>
          <a:lstStyle/>
          <a:p>
            <a:pPr algn="l">
              <a:lnSpc>
                <a:spcPct val="115000"/>
              </a:lnSpc>
            </a:pPr>
            <a:r>
              <a:rPr sz="1300" b="0">
                <a:solidFill>
                  <a:srgbClr val="60717B"/>
                </a:solidFill>
                <a:latin typeface="맑은 고딕"/>
                <a:ea typeface="맑은 고딕"/>
                <a:cs typeface="맑은 고딕"/>
              </a:rPr>
              <a:t>예산 · 방 수 · 지역 → AI 단지 추천 받기</a:t>
            </a:r>
          </a:p>
        </p:txBody>
      </p:sp>
      <p:sp>
        <p:nvSpPr>
          <p:cNvPr id="19" name="TextBox 18"/>
          <p:cNvSpPr txBox="1"/>
          <p:nvPr/>
        </p:nvSpPr>
        <p:spPr>
          <a:xfrm>
            <a:off x="5577840" y="3090672"/>
            <a:ext cx="457200" cy="457200"/>
          </a:xfrm>
          <a:prstGeom prst="rect">
            <a:avLst/>
          </a:prstGeom>
          <a:noFill/>
        </p:spPr>
        <p:txBody>
          <a:bodyPr wrap="square" anchor="t" lIns="45720" rIns="45720">
            <a:spAutoFit/>
          </a:bodyPr>
          <a:lstStyle/>
          <a:p>
            <a:pPr algn="l">
              <a:lnSpc>
                <a:spcPct val="115000"/>
              </a:lnSpc>
            </a:pPr>
            <a:r>
              <a:rPr sz="2000" b="1">
                <a:solidFill>
                  <a:srgbClr val="BD7148"/>
                </a:solidFill>
                <a:latin typeface="맑은 고딕"/>
                <a:ea typeface="맑은 고딕"/>
                <a:cs typeface="맑은 고딕"/>
              </a:rPr>
              <a:t>③</a:t>
            </a:r>
          </a:p>
        </p:txBody>
      </p:sp>
      <p:sp>
        <p:nvSpPr>
          <p:cNvPr id="20" name="TextBox 19"/>
          <p:cNvSpPr txBox="1"/>
          <p:nvPr/>
        </p:nvSpPr>
        <p:spPr>
          <a:xfrm>
            <a:off x="6080760" y="3090672"/>
            <a:ext cx="5577840" cy="365760"/>
          </a:xfrm>
          <a:prstGeom prst="rect">
            <a:avLst/>
          </a:prstGeom>
          <a:noFill/>
        </p:spPr>
        <p:txBody>
          <a:bodyPr wrap="square" anchor="t" lIns="45720" rIns="45720">
            <a:spAutoFit/>
          </a:bodyPr>
          <a:lstStyle/>
          <a:p>
            <a:pPr algn="l">
              <a:lnSpc>
                <a:spcPct val="115000"/>
              </a:lnSpc>
            </a:pPr>
            <a:r>
              <a:rPr sz="1600" b="1">
                <a:solidFill>
                  <a:srgbClr val="173649"/>
                </a:solidFill>
                <a:latin typeface="맑은 고딕"/>
                <a:ea typeface="맑은 고딕"/>
                <a:cs typeface="맑은 고딕"/>
              </a:rPr>
              <a:t>재학습 버튼 · 진행 표시</a:t>
            </a:r>
          </a:p>
        </p:txBody>
      </p:sp>
      <p:sp>
        <p:nvSpPr>
          <p:cNvPr id="21" name="TextBox 20"/>
          <p:cNvSpPr txBox="1"/>
          <p:nvPr/>
        </p:nvSpPr>
        <p:spPr>
          <a:xfrm>
            <a:off x="6080760" y="3456432"/>
            <a:ext cx="5577840" cy="365760"/>
          </a:xfrm>
          <a:prstGeom prst="rect">
            <a:avLst/>
          </a:prstGeom>
          <a:noFill/>
        </p:spPr>
        <p:txBody>
          <a:bodyPr wrap="square" anchor="t" lIns="45720" rIns="45720">
            <a:spAutoFit/>
          </a:bodyPr>
          <a:lstStyle/>
          <a:p>
            <a:pPr algn="l">
              <a:lnSpc>
                <a:spcPct val="115000"/>
              </a:lnSpc>
            </a:pPr>
            <a:r>
              <a:rPr sz="1300" b="0">
                <a:solidFill>
                  <a:srgbClr val="60717B"/>
                </a:solidFill>
                <a:latin typeface="맑은 고딕"/>
                <a:ea typeface="맑은 고딕"/>
                <a:cs typeface="맑은 고딕"/>
              </a:rPr>
              <a:t>로그인 사용자 전용, 단계 · 경과 시간</a:t>
            </a:r>
          </a:p>
        </p:txBody>
      </p:sp>
      <p:sp>
        <p:nvSpPr>
          <p:cNvPr id="22" name="TextBox 21"/>
          <p:cNvSpPr txBox="1"/>
          <p:nvPr/>
        </p:nvSpPr>
        <p:spPr>
          <a:xfrm>
            <a:off x="5577840" y="3858768"/>
            <a:ext cx="457200" cy="457200"/>
          </a:xfrm>
          <a:prstGeom prst="rect">
            <a:avLst/>
          </a:prstGeom>
          <a:noFill/>
        </p:spPr>
        <p:txBody>
          <a:bodyPr wrap="square" anchor="t" lIns="45720" rIns="45720">
            <a:spAutoFit/>
          </a:bodyPr>
          <a:lstStyle/>
          <a:p>
            <a:pPr algn="l">
              <a:lnSpc>
                <a:spcPct val="115000"/>
              </a:lnSpc>
            </a:pPr>
            <a:r>
              <a:rPr sz="2000" b="1">
                <a:solidFill>
                  <a:srgbClr val="BD7148"/>
                </a:solidFill>
                <a:latin typeface="맑은 고딕"/>
                <a:ea typeface="맑은 고딕"/>
                <a:cs typeface="맑은 고딕"/>
              </a:rPr>
              <a:t>④</a:t>
            </a:r>
          </a:p>
        </p:txBody>
      </p:sp>
      <p:sp>
        <p:nvSpPr>
          <p:cNvPr id="23" name="TextBox 22"/>
          <p:cNvSpPr txBox="1"/>
          <p:nvPr/>
        </p:nvSpPr>
        <p:spPr>
          <a:xfrm>
            <a:off x="6080760" y="3858768"/>
            <a:ext cx="5577840" cy="365760"/>
          </a:xfrm>
          <a:prstGeom prst="rect">
            <a:avLst/>
          </a:prstGeom>
          <a:noFill/>
        </p:spPr>
        <p:txBody>
          <a:bodyPr wrap="square" anchor="t" lIns="45720" rIns="45720">
            <a:spAutoFit/>
          </a:bodyPr>
          <a:lstStyle/>
          <a:p>
            <a:pPr algn="l">
              <a:lnSpc>
                <a:spcPct val="115000"/>
              </a:lnSpc>
            </a:pPr>
            <a:r>
              <a:rPr sz="1600" b="1">
                <a:solidFill>
                  <a:srgbClr val="173649"/>
                </a:solidFill>
                <a:latin typeface="맑은 고딕"/>
                <a:ea typeface="맑은 고딕"/>
                <a:cs typeface="맑은 고딕"/>
              </a:rPr>
              <a:t>AI 실거래 분석 리포트</a:t>
            </a:r>
          </a:p>
        </p:txBody>
      </p:sp>
      <p:sp>
        <p:nvSpPr>
          <p:cNvPr id="24" name="TextBox 23"/>
          <p:cNvSpPr txBox="1"/>
          <p:nvPr/>
        </p:nvSpPr>
        <p:spPr>
          <a:xfrm>
            <a:off x="6080760" y="4224528"/>
            <a:ext cx="5577840" cy="365760"/>
          </a:xfrm>
          <a:prstGeom prst="rect">
            <a:avLst/>
          </a:prstGeom>
          <a:noFill/>
        </p:spPr>
        <p:txBody>
          <a:bodyPr wrap="square" anchor="t" lIns="45720" rIns="45720">
            <a:spAutoFit/>
          </a:bodyPr>
          <a:lstStyle/>
          <a:p>
            <a:pPr algn="l">
              <a:lnSpc>
                <a:spcPct val="115000"/>
              </a:lnSpc>
            </a:pPr>
            <a:r>
              <a:rPr sz="1300" b="0">
                <a:solidFill>
                  <a:srgbClr val="60717B"/>
                </a:solidFill>
                <a:latin typeface="맑은 고딕"/>
                <a:ea typeface="맑은 고딕"/>
                <a:cs typeface="맑은 고딕"/>
              </a:rPr>
              <a:t>추천 단지 / 시장 인사이트 탭</a:t>
            </a:r>
          </a:p>
        </p:txBody>
      </p:sp>
      <p:sp>
        <p:nvSpPr>
          <p:cNvPr id="25" name="TextBox 24"/>
          <p:cNvSpPr txBox="1"/>
          <p:nvPr/>
        </p:nvSpPr>
        <p:spPr>
          <a:xfrm>
            <a:off x="5577840" y="4626864"/>
            <a:ext cx="457200" cy="457200"/>
          </a:xfrm>
          <a:prstGeom prst="rect">
            <a:avLst/>
          </a:prstGeom>
          <a:noFill/>
        </p:spPr>
        <p:txBody>
          <a:bodyPr wrap="square" anchor="t" lIns="45720" rIns="45720">
            <a:spAutoFit/>
          </a:bodyPr>
          <a:lstStyle/>
          <a:p>
            <a:pPr algn="l">
              <a:lnSpc>
                <a:spcPct val="115000"/>
              </a:lnSpc>
            </a:pPr>
            <a:r>
              <a:rPr sz="2000" b="1">
                <a:solidFill>
                  <a:srgbClr val="BD7148"/>
                </a:solidFill>
                <a:latin typeface="맑은 고딕"/>
                <a:ea typeface="맑은 고딕"/>
                <a:cs typeface="맑은 고딕"/>
              </a:rPr>
              <a:t>⑤</a:t>
            </a:r>
          </a:p>
        </p:txBody>
      </p:sp>
      <p:sp>
        <p:nvSpPr>
          <p:cNvPr id="26" name="TextBox 25"/>
          <p:cNvSpPr txBox="1"/>
          <p:nvPr/>
        </p:nvSpPr>
        <p:spPr>
          <a:xfrm>
            <a:off x="6080760" y="4626864"/>
            <a:ext cx="5577840" cy="365760"/>
          </a:xfrm>
          <a:prstGeom prst="rect">
            <a:avLst/>
          </a:prstGeom>
          <a:noFill/>
        </p:spPr>
        <p:txBody>
          <a:bodyPr wrap="square" anchor="t" lIns="45720" rIns="45720">
            <a:spAutoFit/>
          </a:bodyPr>
          <a:lstStyle/>
          <a:p>
            <a:pPr algn="l">
              <a:lnSpc>
                <a:spcPct val="115000"/>
              </a:lnSpc>
            </a:pPr>
            <a:r>
              <a:rPr sz="1600" b="1">
                <a:solidFill>
                  <a:srgbClr val="173649"/>
                </a:solidFill>
                <a:latin typeface="맑은 고딕"/>
                <a:ea typeface="맑은 고딕"/>
                <a:cs typeface="맑은 고딕"/>
              </a:rPr>
              <a:t>시장 인사이트</a:t>
            </a:r>
          </a:p>
        </p:txBody>
      </p:sp>
      <p:sp>
        <p:nvSpPr>
          <p:cNvPr id="27" name="TextBox 26"/>
          <p:cNvSpPr txBox="1"/>
          <p:nvPr/>
        </p:nvSpPr>
        <p:spPr>
          <a:xfrm>
            <a:off x="6080760" y="4992624"/>
            <a:ext cx="5577840" cy="365760"/>
          </a:xfrm>
          <a:prstGeom prst="rect">
            <a:avLst/>
          </a:prstGeom>
          <a:noFill/>
        </p:spPr>
        <p:txBody>
          <a:bodyPr wrap="square" anchor="t" lIns="45720" rIns="45720">
            <a:spAutoFit/>
          </a:bodyPr>
          <a:lstStyle/>
          <a:p>
            <a:pPr algn="l">
              <a:lnSpc>
                <a:spcPct val="115000"/>
              </a:lnSpc>
            </a:pPr>
            <a:r>
              <a:rPr sz="1300" b="0">
                <a:solidFill>
                  <a:srgbClr val="60717B"/>
                </a:solidFill>
                <a:latin typeface="맑은 고딕"/>
                <a:ea typeface="맑은 고딕"/>
                <a:cs typeface="맑은 고딕"/>
              </a:rPr>
              <a:t>수도권 · 서울 · 인천 · 경기 범위 탭, 시장 요약 지표</a:t>
            </a:r>
          </a:p>
        </p:txBody>
      </p:sp>
      <p:sp>
        <p:nvSpPr>
          <p:cNvPr id="28" name="TextBox 27"/>
          <p:cNvSpPr txBox="1"/>
          <p:nvPr/>
        </p:nvSpPr>
        <p:spPr>
          <a:xfrm>
            <a:off x="5577840" y="5394960"/>
            <a:ext cx="457200" cy="457200"/>
          </a:xfrm>
          <a:prstGeom prst="rect">
            <a:avLst/>
          </a:prstGeom>
          <a:noFill/>
        </p:spPr>
        <p:txBody>
          <a:bodyPr wrap="square" anchor="t" lIns="45720" rIns="45720">
            <a:spAutoFit/>
          </a:bodyPr>
          <a:lstStyle/>
          <a:p>
            <a:pPr algn="l">
              <a:lnSpc>
                <a:spcPct val="115000"/>
              </a:lnSpc>
            </a:pPr>
            <a:r>
              <a:rPr sz="2000" b="1">
                <a:solidFill>
                  <a:srgbClr val="BD7148"/>
                </a:solidFill>
                <a:latin typeface="맑은 고딕"/>
                <a:ea typeface="맑은 고딕"/>
                <a:cs typeface="맑은 고딕"/>
              </a:rPr>
              <a:t>⑥</a:t>
            </a:r>
          </a:p>
        </p:txBody>
      </p:sp>
      <p:sp>
        <p:nvSpPr>
          <p:cNvPr id="29" name="TextBox 28"/>
          <p:cNvSpPr txBox="1"/>
          <p:nvPr/>
        </p:nvSpPr>
        <p:spPr>
          <a:xfrm>
            <a:off x="6080760" y="5394960"/>
            <a:ext cx="5577840" cy="365760"/>
          </a:xfrm>
          <a:prstGeom prst="rect">
            <a:avLst/>
          </a:prstGeom>
          <a:noFill/>
        </p:spPr>
        <p:txBody>
          <a:bodyPr wrap="square" anchor="t" lIns="45720" rIns="45720">
            <a:spAutoFit/>
          </a:bodyPr>
          <a:lstStyle/>
          <a:p>
            <a:pPr algn="l">
              <a:lnSpc>
                <a:spcPct val="115000"/>
              </a:lnSpc>
            </a:pPr>
            <a:r>
              <a:rPr sz="1600" b="1">
                <a:solidFill>
                  <a:srgbClr val="173649"/>
                </a:solidFill>
                <a:latin typeface="맑은 고딕"/>
                <a:ea typeface="맑은 고딕"/>
                <a:cs typeface="맑은 고딕"/>
              </a:rPr>
              <a:t>Plotly 그래프</a:t>
            </a:r>
          </a:p>
        </p:txBody>
      </p:sp>
      <p:sp>
        <p:nvSpPr>
          <p:cNvPr id="30" name="TextBox 29"/>
          <p:cNvSpPr txBox="1"/>
          <p:nvPr/>
        </p:nvSpPr>
        <p:spPr>
          <a:xfrm>
            <a:off x="6080760" y="5760720"/>
            <a:ext cx="5577840" cy="365760"/>
          </a:xfrm>
          <a:prstGeom prst="rect">
            <a:avLst/>
          </a:prstGeom>
          <a:noFill/>
        </p:spPr>
        <p:txBody>
          <a:bodyPr wrap="square" anchor="t" lIns="45720" rIns="45720">
            <a:spAutoFit/>
          </a:bodyPr>
          <a:lstStyle/>
          <a:p>
            <a:pPr algn="l">
              <a:lnSpc>
                <a:spcPct val="115000"/>
              </a:lnSpc>
            </a:pPr>
            <a:r>
              <a:rPr sz="1300" b="0">
                <a:solidFill>
                  <a:srgbClr val="60717B"/>
                </a:solidFill>
                <a:latin typeface="맑은 고딕"/>
                <a:ea typeface="맑은 고딕"/>
                <a:cs typeface="맑은 고딕"/>
              </a:rPr>
              <a:t>Python에서 만든 그래프를 plotly.js로 표시</a:t>
            </a:r>
          </a:p>
        </p:txBody>
      </p:sp>
      <p:sp>
        <p:nvSpPr>
          <p:cNvPr id="31" name="Rectangle 30"/>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push dir="l"/>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05  화면 시연</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회원가입 · 로그인 · Q&amp;A 화면</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김서연</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16 / 20</a:t>
            </a:r>
          </a:p>
        </p:txBody>
      </p:sp>
      <p:pic>
        <p:nvPicPr>
          <p:cNvPr id="11" name="Picture 10" descr="register_c.png"/>
          <p:cNvPicPr>
            <a:picLocks noChangeAspect="1"/>
          </p:cNvPicPr>
          <p:nvPr/>
        </p:nvPicPr>
        <p:blipFill>
          <a:blip r:embed="rId2"/>
          <a:stretch>
            <a:fillRect/>
          </a:stretch>
        </p:blipFill>
        <p:spPr>
          <a:xfrm>
            <a:off x="868680" y="1554480"/>
            <a:ext cx="3001031" cy="3520440"/>
          </a:xfrm>
          <a:prstGeom prst="rect">
            <a:avLst/>
          </a:prstGeom>
          <a:ln w="12700">
            <a:solidFill>
              <a:srgbClr val="E0E4E8"/>
            </a:solidFill>
          </a:ln>
        </p:spPr>
      </p:pic>
      <p:sp>
        <p:nvSpPr>
          <p:cNvPr id="12" name="TextBox 11"/>
          <p:cNvSpPr txBox="1"/>
          <p:nvPr/>
        </p:nvSpPr>
        <p:spPr>
          <a:xfrm>
            <a:off x="548640" y="5212080"/>
            <a:ext cx="3611880" cy="365760"/>
          </a:xfrm>
          <a:prstGeom prst="rect">
            <a:avLst/>
          </a:prstGeom>
          <a:noFill/>
        </p:spPr>
        <p:txBody>
          <a:bodyPr wrap="square" anchor="t" lIns="45720" rIns="45720">
            <a:spAutoFit/>
          </a:bodyPr>
          <a:lstStyle/>
          <a:p>
            <a:pPr algn="ctr">
              <a:lnSpc>
                <a:spcPct val="115000"/>
              </a:lnSpc>
            </a:pPr>
            <a:r>
              <a:rPr sz="1500" b="1">
                <a:solidFill>
                  <a:srgbClr val="173649"/>
                </a:solidFill>
                <a:latin typeface="맑은 고딕"/>
                <a:ea typeface="맑은 고딕"/>
                <a:cs typeface="맑은 고딕"/>
              </a:rPr>
              <a:t>회원가입 (1단계 약관)</a:t>
            </a:r>
          </a:p>
        </p:txBody>
      </p:sp>
      <p:sp>
        <p:nvSpPr>
          <p:cNvPr id="13" name="TextBox 12"/>
          <p:cNvSpPr txBox="1"/>
          <p:nvPr/>
        </p:nvSpPr>
        <p:spPr>
          <a:xfrm>
            <a:off x="548640" y="5577840"/>
            <a:ext cx="3611880" cy="365760"/>
          </a:xfrm>
          <a:prstGeom prst="rect">
            <a:avLst/>
          </a:prstGeom>
          <a:noFill/>
        </p:spPr>
        <p:txBody>
          <a:bodyPr wrap="square" anchor="t" lIns="45720" rIns="45720">
            <a:spAutoFit/>
          </a:bodyPr>
          <a:lstStyle/>
          <a:p>
            <a:pPr algn="ctr">
              <a:lnSpc>
                <a:spcPct val="115000"/>
              </a:lnSpc>
            </a:pPr>
            <a:r>
              <a:rPr sz="1200" b="0">
                <a:solidFill>
                  <a:srgbClr val="60717B"/>
                </a:solidFill>
                <a:latin typeface="맑은 고딕"/>
                <a:ea typeface="맑은 고딕"/>
                <a:cs typeface="맑은 고딕"/>
              </a:rPr>
              <a:t>전체 동의 ↔ 개별 4개 연동</a:t>
            </a:r>
          </a:p>
        </p:txBody>
      </p:sp>
      <p:pic>
        <p:nvPicPr>
          <p:cNvPr id="14" name="Picture 13" descr="login_c.png"/>
          <p:cNvPicPr>
            <a:picLocks noChangeAspect="1"/>
          </p:cNvPicPr>
          <p:nvPr/>
        </p:nvPicPr>
        <p:blipFill>
          <a:blip r:embed="rId3"/>
          <a:stretch>
            <a:fillRect/>
          </a:stretch>
        </p:blipFill>
        <p:spPr>
          <a:xfrm>
            <a:off x="4617719" y="1554480"/>
            <a:ext cx="3001031" cy="3520440"/>
          </a:xfrm>
          <a:prstGeom prst="rect">
            <a:avLst/>
          </a:prstGeom>
          <a:ln w="12700">
            <a:solidFill>
              <a:srgbClr val="E0E4E8"/>
            </a:solidFill>
          </a:ln>
        </p:spPr>
      </p:pic>
      <p:sp>
        <p:nvSpPr>
          <p:cNvPr id="15" name="TextBox 14"/>
          <p:cNvSpPr txBox="1"/>
          <p:nvPr/>
        </p:nvSpPr>
        <p:spPr>
          <a:xfrm>
            <a:off x="4297679" y="5212080"/>
            <a:ext cx="3611880" cy="365760"/>
          </a:xfrm>
          <a:prstGeom prst="rect">
            <a:avLst/>
          </a:prstGeom>
          <a:noFill/>
        </p:spPr>
        <p:txBody>
          <a:bodyPr wrap="square" anchor="t" lIns="45720" rIns="45720">
            <a:spAutoFit/>
          </a:bodyPr>
          <a:lstStyle/>
          <a:p>
            <a:pPr algn="ctr">
              <a:lnSpc>
                <a:spcPct val="115000"/>
              </a:lnSpc>
            </a:pPr>
            <a:r>
              <a:rPr sz="1500" b="1">
                <a:solidFill>
                  <a:srgbClr val="173649"/>
                </a:solidFill>
                <a:latin typeface="맑은 고딕"/>
                <a:ea typeface="맑은 고딕"/>
                <a:cs typeface="맑은 고딕"/>
              </a:rPr>
              <a:t>로그인</a:t>
            </a:r>
          </a:p>
        </p:txBody>
      </p:sp>
      <p:sp>
        <p:nvSpPr>
          <p:cNvPr id="16" name="TextBox 15"/>
          <p:cNvSpPr txBox="1"/>
          <p:nvPr/>
        </p:nvSpPr>
        <p:spPr>
          <a:xfrm>
            <a:off x="4297679" y="5577840"/>
            <a:ext cx="3611880" cy="365760"/>
          </a:xfrm>
          <a:prstGeom prst="rect">
            <a:avLst/>
          </a:prstGeom>
          <a:noFill/>
        </p:spPr>
        <p:txBody>
          <a:bodyPr wrap="square" anchor="t" lIns="45720" rIns="45720">
            <a:spAutoFit/>
          </a:bodyPr>
          <a:lstStyle/>
          <a:p>
            <a:pPr algn="ctr">
              <a:lnSpc>
                <a:spcPct val="115000"/>
              </a:lnSpc>
            </a:pPr>
            <a:r>
              <a:rPr sz="1200" b="0">
                <a:solidFill>
                  <a:srgbClr val="60717B"/>
                </a:solidFill>
                <a:latin typeface="맑은 고딕"/>
                <a:ea typeface="맑은 고딕"/>
                <a:cs typeface="맑은 고딕"/>
              </a:rPr>
              <a:t>아이디 로그인 + 소셜 로그인 3종</a:t>
            </a:r>
          </a:p>
        </p:txBody>
      </p:sp>
      <p:pic>
        <p:nvPicPr>
          <p:cNvPr id="17" name="Picture 16" descr="qna_c.png"/>
          <p:cNvPicPr>
            <a:picLocks noChangeAspect="1"/>
          </p:cNvPicPr>
          <p:nvPr/>
        </p:nvPicPr>
        <p:blipFill>
          <a:blip r:embed="rId4"/>
          <a:stretch>
            <a:fillRect/>
          </a:stretch>
        </p:blipFill>
        <p:spPr>
          <a:xfrm>
            <a:off x="8046719" y="1965960"/>
            <a:ext cx="3611880" cy="1899351"/>
          </a:xfrm>
          <a:prstGeom prst="rect">
            <a:avLst/>
          </a:prstGeom>
          <a:ln w="12700">
            <a:solidFill>
              <a:srgbClr val="E0E4E8"/>
            </a:solidFill>
          </a:ln>
        </p:spPr>
      </p:pic>
      <p:sp>
        <p:nvSpPr>
          <p:cNvPr id="18" name="TextBox 17"/>
          <p:cNvSpPr txBox="1"/>
          <p:nvPr/>
        </p:nvSpPr>
        <p:spPr>
          <a:xfrm>
            <a:off x="8046719" y="5212080"/>
            <a:ext cx="3611880" cy="365760"/>
          </a:xfrm>
          <a:prstGeom prst="rect">
            <a:avLst/>
          </a:prstGeom>
          <a:noFill/>
        </p:spPr>
        <p:txBody>
          <a:bodyPr wrap="square" anchor="t" lIns="45720" rIns="45720">
            <a:spAutoFit/>
          </a:bodyPr>
          <a:lstStyle/>
          <a:p>
            <a:pPr algn="ctr">
              <a:lnSpc>
                <a:spcPct val="115000"/>
              </a:lnSpc>
            </a:pPr>
            <a:r>
              <a:rPr sz="1500" b="1">
                <a:solidFill>
                  <a:srgbClr val="173649"/>
                </a:solidFill>
                <a:latin typeface="맑은 고딕"/>
                <a:ea typeface="맑은 고딕"/>
                <a:cs typeface="맑은 고딕"/>
              </a:rPr>
              <a:t>Q&amp;A 게시판</a:t>
            </a:r>
          </a:p>
        </p:txBody>
      </p:sp>
      <p:sp>
        <p:nvSpPr>
          <p:cNvPr id="19" name="TextBox 18"/>
          <p:cNvSpPr txBox="1"/>
          <p:nvPr/>
        </p:nvSpPr>
        <p:spPr>
          <a:xfrm>
            <a:off x="8046719" y="5577840"/>
            <a:ext cx="3611880" cy="365760"/>
          </a:xfrm>
          <a:prstGeom prst="rect">
            <a:avLst/>
          </a:prstGeom>
          <a:noFill/>
        </p:spPr>
        <p:txBody>
          <a:bodyPr wrap="square" anchor="t" lIns="45720" rIns="45720">
            <a:spAutoFit/>
          </a:bodyPr>
          <a:lstStyle/>
          <a:p>
            <a:pPr algn="ctr">
              <a:lnSpc>
                <a:spcPct val="115000"/>
              </a:lnSpc>
            </a:pPr>
            <a:r>
              <a:rPr sz="1200" b="0">
                <a:solidFill>
                  <a:srgbClr val="60717B"/>
                </a:solidFill>
                <a:latin typeface="맑은 고딕"/>
                <a:ea typeface="맑은 고딕"/>
                <a:cs typeface="맑은 고딕"/>
              </a:rPr>
              <a:t>TiDB qna 테이블 목록</a:t>
            </a:r>
          </a:p>
        </p:txBody>
      </p:sp>
      <p:sp>
        <p:nvSpPr>
          <p:cNvPr id="20" name="Rectangle 19"/>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06  배포 · 트러블슈팅 · 성과</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CI/CD 배포 자동화</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홍길동</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17 / 20</a:t>
            </a:r>
          </a:p>
        </p:txBody>
      </p:sp>
      <p:sp>
        <p:nvSpPr>
          <p:cNvPr id="11" name="Rounded Rectangle 10"/>
          <p:cNvSpPr/>
          <p:nvPr/>
        </p:nvSpPr>
        <p:spPr>
          <a:xfrm>
            <a:off x="548640" y="2788920"/>
            <a:ext cx="1554480" cy="1097280"/>
          </a:xfrm>
          <a:prstGeom prst="roundRect">
            <a:avLst>
              <a:gd name="adj" fmla="val 8000"/>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788920"/>
            <a:ext cx="1554480" cy="1097280"/>
          </a:xfrm>
          <a:prstGeom prst="rect">
            <a:avLst/>
          </a:prstGeom>
          <a:noFill/>
        </p:spPr>
        <p:txBody>
          <a:bodyPr wrap="square" anchor="ctr" lIns="73152" rIns="73152" tIns="73152" bIns="73152">
            <a:spAutoFit/>
          </a:bodyPr>
          <a:lstStyle/>
          <a:p>
            <a:pPr algn="ctr">
              <a:lnSpc>
                <a:spcPct val="115000"/>
              </a:lnSpc>
            </a:pPr>
            <a:r>
              <a:rPr sz="1500" b="1">
                <a:solidFill>
                  <a:srgbClr val="FFFFFF"/>
                </a:solidFill>
                <a:latin typeface="맑은 고딕"/>
                <a:ea typeface="맑은 고딕"/>
                <a:cs typeface="맑은 고딕"/>
              </a:rPr>
              <a:t>git push</a:t>
            </a:r>
          </a:p>
          <a:p>
            <a:pPr algn="ctr">
              <a:lnSpc>
                <a:spcPct val="115000"/>
              </a:lnSpc>
            </a:pPr>
            <a:r>
              <a:rPr sz="1200" b="0">
                <a:solidFill>
                  <a:srgbClr val="DAEAF0"/>
                </a:solidFill>
                <a:latin typeface="맑은 고딕"/>
                <a:ea typeface="맑은 고딕"/>
                <a:cs typeface="맑은 고딕"/>
              </a:rPr>
              <a:t>main</a:t>
            </a:r>
          </a:p>
        </p:txBody>
      </p:sp>
      <p:cxnSp>
        <p:nvCxnSpPr>
          <p:cNvPr id="13" name="Connector 12"/>
          <p:cNvCxnSpPr/>
          <p:nvPr/>
        </p:nvCxnSpPr>
        <p:spPr>
          <a:xfrm flipV="1">
            <a:off x="2103120" y="2148840"/>
            <a:ext cx="411480" cy="960120"/>
          </a:xfrm>
          <a:prstGeom prst="line">
            <a:avLst/>
          </a:prstGeom>
          <a:ln w="22225">
            <a:solidFill>
              <a:srgbClr val="60717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03120" y="3566160"/>
            <a:ext cx="411480" cy="868680"/>
          </a:xfrm>
          <a:prstGeom prst="line">
            <a:avLst/>
          </a:prstGeom>
          <a:ln w="22225">
            <a:solidFill>
              <a:srgbClr val="6071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606040" y="1463040"/>
            <a:ext cx="3657600" cy="365760"/>
          </a:xfrm>
          <a:prstGeom prst="rect">
            <a:avLst/>
          </a:prstGeom>
          <a:noFill/>
        </p:spPr>
        <p:txBody>
          <a:bodyPr wrap="square" anchor="t" lIns="45720" rIns="45720">
            <a:spAutoFit/>
          </a:bodyPr>
          <a:lstStyle/>
          <a:p>
            <a:pPr algn="l">
              <a:lnSpc>
                <a:spcPct val="115000"/>
              </a:lnSpc>
            </a:pPr>
            <a:r>
              <a:rPr sz="1400" b="1">
                <a:solidFill>
                  <a:srgbClr val="086B9B"/>
                </a:solidFill>
                <a:latin typeface="맑은 고딕"/>
                <a:ea typeface="맑은 고딕"/>
                <a:cs typeface="맑은 고딕"/>
              </a:rPr>
              <a:t>Render</a:t>
            </a:r>
          </a:p>
        </p:txBody>
      </p:sp>
      <p:sp>
        <p:nvSpPr>
          <p:cNvPr id="16" name="Pentagon 15"/>
          <p:cNvSpPr/>
          <p:nvPr/>
        </p:nvSpPr>
        <p:spPr>
          <a:xfrm>
            <a:off x="2606040" y="1828800"/>
            <a:ext cx="1828800" cy="640080"/>
          </a:xfrm>
          <a:prstGeom prst="homePlate">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788920" y="1828800"/>
            <a:ext cx="1508760" cy="64008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자동 감지</a:t>
            </a:r>
          </a:p>
        </p:txBody>
      </p:sp>
      <p:sp>
        <p:nvSpPr>
          <p:cNvPr id="18" name="Chevron 17"/>
          <p:cNvSpPr/>
          <p:nvPr/>
        </p:nvSpPr>
        <p:spPr>
          <a:xfrm>
            <a:off x="4434840" y="1828800"/>
            <a:ext cx="1828800" cy="640080"/>
          </a:xfrm>
          <a:prstGeom prst="chevron">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17720" y="1828800"/>
            <a:ext cx="1508760" cy="64008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Dockerfile 빌드</a:t>
            </a:r>
          </a:p>
        </p:txBody>
      </p:sp>
      <p:sp>
        <p:nvSpPr>
          <p:cNvPr id="20" name="Chevron 19"/>
          <p:cNvSpPr/>
          <p:nvPr/>
        </p:nvSpPr>
        <p:spPr>
          <a:xfrm>
            <a:off x="6263640" y="1828800"/>
            <a:ext cx="1828800" cy="640080"/>
          </a:xfrm>
          <a:prstGeom prst="chevron">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46520" y="1828800"/>
            <a:ext cx="1508760" cy="640080"/>
          </a:xfrm>
          <a:prstGeom prst="rect">
            <a:avLst/>
          </a:prstGeom>
          <a:noFill/>
        </p:spPr>
        <p:txBody>
          <a:bodyPr wrap="square" anchor="ctr" lIns="45720" rIns="45720">
            <a:spAutoFit/>
          </a:bodyPr>
          <a:lstStyle/>
          <a:p>
            <a:pPr algn="ctr">
              <a:lnSpc>
                <a:spcPct val="115000"/>
              </a:lnSpc>
            </a:pPr>
            <a:r>
              <a:rPr sz="1200" b="1">
                <a:solidFill>
                  <a:srgbClr val="FFFFFF"/>
                </a:solidFill>
                <a:latin typeface="맑은 고딕"/>
                <a:ea typeface="맑은 고딕"/>
                <a:cs typeface="맑은 고딕"/>
              </a:rPr>
              <a:t>배포 완료</a:t>
            </a:r>
          </a:p>
        </p:txBody>
      </p:sp>
      <p:sp>
        <p:nvSpPr>
          <p:cNvPr id="22" name="TextBox 21"/>
          <p:cNvSpPr txBox="1"/>
          <p:nvPr/>
        </p:nvSpPr>
        <p:spPr>
          <a:xfrm>
            <a:off x="2606040" y="3703320"/>
            <a:ext cx="5486400" cy="365760"/>
          </a:xfrm>
          <a:prstGeom prst="rect">
            <a:avLst/>
          </a:prstGeom>
          <a:noFill/>
        </p:spPr>
        <p:txBody>
          <a:bodyPr wrap="square" anchor="t" lIns="45720" rIns="45720">
            <a:spAutoFit/>
          </a:bodyPr>
          <a:lstStyle/>
          <a:p>
            <a:pPr algn="l">
              <a:lnSpc>
                <a:spcPct val="115000"/>
              </a:lnSpc>
            </a:pPr>
            <a:r>
              <a:rPr sz="1400" b="1">
                <a:solidFill>
                  <a:srgbClr val="BD7148"/>
                </a:solidFill>
                <a:latin typeface="맑은 고딕"/>
                <a:ea typeface="맑은 고딕"/>
                <a:cs typeface="맑은 고딕"/>
              </a:rPr>
              <a:t>AWS EC2 (GitHub Actions)</a:t>
            </a:r>
          </a:p>
        </p:txBody>
      </p:sp>
      <p:sp>
        <p:nvSpPr>
          <p:cNvPr id="23" name="Pentagon 22"/>
          <p:cNvSpPr/>
          <p:nvPr/>
        </p:nvSpPr>
        <p:spPr>
          <a:xfrm>
            <a:off x="2606040" y="4069080"/>
            <a:ext cx="1508760" cy="640080"/>
          </a:xfrm>
          <a:prstGeom prst="homePlate">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788920"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빌드 · 테스트</a:t>
            </a:r>
          </a:p>
        </p:txBody>
      </p:sp>
      <p:sp>
        <p:nvSpPr>
          <p:cNvPr id="25" name="Chevron 24"/>
          <p:cNvSpPr/>
          <p:nvPr/>
        </p:nvSpPr>
        <p:spPr>
          <a:xfrm>
            <a:off x="4114800" y="4069080"/>
            <a:ext cx="1508760" cy="640080"/>
          </a:xfrm>
          <a:prstGeom prst="chevron">
            <a:avLst/>
          </a:prstGeom>
          <a:solidFill>
            <a:srgbClr val="BD7148"/>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297680"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Docker 검사</a:t>
            </a:r>
          </a:p>
        </p:txBody>
      </p:sp>
      <p:sp>
        <p:nvSpPr>
          <p:cNvPr id="27" name="Chevron 26"/>
          <p:cNvSpPr/>
          <p:nvPr/>
        </p:nvSpPr>
        <p:spPr>
          <a:xfrm>
            <a:off x="5623560" y="4069080"/>
            <a:ext cx="1508760" cy="640080"/>
          </a:xfrm>
          <a:prstGeom prst="chevron">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806440"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Secrets → env</a:t>
            </a:r>
          </a:p>
        </p:txBody>
      </p:sp>
      <p:sp>
        <p:nvSpPr>
          <p:cNvPr id="29" name="Chevron 28"/>
          <p:cNvSpPr/>
          <p:nvPr/>
        </p:nvSpPr>
        <p:spPr>
          <a:xfrm>
            <a:off x="7132319" y="4069080"/>
            <a:ext cx="1508760" cy="640080"/>
          </a:xfrm>
          <a:prstGeom prst="chevron">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315199"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SSH 접속</a:t>
            </a:r>
          </a:p>
        </p:txBody>
      </p:sp>
      <p:sp>
        <p:nvSpPr>
          <p:cNvPr id="31" name="Chevron 30"/>
          <p:cNvSpPr/>
          <p:nvPr/>
        </p:nvSpPr>
        <p:spPr>
          <a:xfrm>
            <a:off x="8641080" y="4069080"/>
            <a:ext cx="1508760" cy="640080"/>
          </a:xfrm>
          <a:prstGeom prst="chevron">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823959"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Docker 교체</a:t>
            </a:r>
          </a:p>
        </p:txBody>
      </p:sp>
      <p:sp>
        <p:nvSpPr>
          <p:cNvPr id="33" name="Chevron 32"/>
          <p:cNvSpPr/>
          <p:nvPr/>
        </p:nvSpPr>
        <p:spPr>
          <a:xfrm>
            <a:off x="10149840" y="4069080"/>
            <a:ext cx="1508760" cy="640080"/>
          </a:xfrm>
          <a:prstGeom prst="chevron">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332719" y="4069080"/>
            <a:ext cx="1188720" cy="640080"/>
          </a:xfrm>
          <a:prstGeom prst="rect">
            <a:avLst/>
          </a:prstGeom>
          <a:noFill/>
        </p:spPr>
        <p:txBody>
          <a:bodyPr wrap="square" anchor="ctr" lIns="45720" rIns="45720">
            <a:spAutoFit/>
          </a:bodyPr>
          <a:lstStyle/>
          <a:p>
            <a:pPr algn="ctr">
              <a:lnSpc>
                <a:spcPct val="115000"/>
              </a:lnSpc>
            </a:pPr>
            <a:r>
              <a:rPr sz="1100" b="1">
                <a:solidFill>
                  <a:srgbClr val="FFFFFF"/>
                </a:solidFill>
                <a:latin typeface="맑은 고딕"/>
                <a:ea typeface="맑은 고딕"/>
                <a:cs typeface="맑은 고딕"/>
              </a:rPr>
              <a:t>응답 확인</a:t>
            </a:r>
          </a:p>
        </p:txBody>
      </p:sp>
      <p:sp>
        <p:nvSpPr>
          <p:cNvPr id="35" name="TextBox 34"/>
          <p:cNvSpPr txBox="1"/>
          <p:nvPr/>
        </p:nvSpPr>
        <p:spPr>
          <a:xfrm>
            <a:off x="2606040" y="4800600"/>
            <a:ext cx="9144000" cy="365760"/>
          </a:xfrm>
          <a:prstGeom prst="rect">
            <a:avLst/>
          </a:prstGeom>
          <a:noFill/>
        </p:spPr>
        <p:txBody>
          <a:bodyPr wrap="square" anchor="t" lIns="45720" rIns="45720">
            <a:spAutoFit/>
          </a:bodyPr>
          <a:lstStyle/>
          <a:p>
            <a:pPr algn="l">
              <a:lnSpc>
                <a:spcPct val="115000"/>
              </a:lnSpc>
            </a:pPr>
            <a:r>
              <a:rPr sz="1050" b="0">
                <a:solidFill>
                  <a:srgbClr val="60717B"/>
                </a:solidFill>
                <a:latin typeface="맑은 고딕"/>
                <a:ea typeface="맑은 고딕"/>
                <a:cs typeface="맑은 고딕"/>
              </a:rPr>
              <a:t>build 작업 (GitHub 서버)                                     deploy 작업 (EC2에서 실행 · 실패 시 컨테이너 로그 출력)</a:t>
            </a:r>
          </a:p>
        </p:txBody>
      </p:sp>
      <p:sp>
        <p:nvSpPr>
          <p:cNvPr id="36" name="Rounded Rectangle 35"/>
          <p:cNvSpPr/>
          <p:nvPr/>
        </p:nvSpPr>
        <p:spPr>
          <a:xfrm>
            <a:off x="8366760" y="1463040"/>
            <a:ext cx="3291840" cy="2011680"/>
          </a:xfrm>
          <a:prstGeom prst="roundRect">
            <a:avLst>
              <a:gd name="adj" fmla="val 6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595360" y="1600200"/>
            <a:ext cx="2926080" cy="365760"/>
          </a:xfrm>
          <a:prstGeom prst="rect">
            <a:avLst/>
          </a:prstGeom>
          <a:noFill/>
        </p:spPr>
        <p:txBody>
          <a:bodyPr wrap="square" anchor="t" lIns="45720" rIns="45720">
            <a:spAutoFit/>
          </a:bodyPr>
          <a:lstStyle/>
          <a:p>
            <a:pPr algn="l">
              <a:lnSpc>
                <a:spcPct val="115000"/>
              </a:lnSpc>
            </a:pPr>
            <a:r>
              <a:rPr sz="1300" b="1">
                <a:solidFill>
                  <a:srgbClr val="173649"/>
                </a:solidFill>
                <a:latin typeface="맑은 고딕"/>
                <a:ea typeface="맑은 고딕"/>
                <a:cs typeface="맑은 고딕"/>
              </a:rPr>
              <a:t>포인트</a:t>
            </a:r>
          </a:p>
        </p:txBody>
      </p:sp>
      <p:sp>
        <p:nvSpPr>
          <p:cNvPr id="38" name="TextBox 37"/>
          <p:cNvSpPr txBox="1"/>
          <p:nvPr/>
        </p:nvSpPr>
        <p:spPr>
          <a:xfrm>
            <a:off x="8595360" y="1965960"/>
            <a:ext cx="2971800" cy="1463040"/>
          </a:xfrm>
          <a:prstGeom prst="rect">
            <a:avLst/>
          </a:prstGeom>
          <a:noFill/>
        </p:spPr>
        <p:txBody>
          <a:bodyPr wrap="square" anchor="t" lIns="45720" rIns="45720">
            <a:spAutoFit/>
          </a:bodyPr>
          <a:lstStyle/>
          <a:p>
            <a:pPr algn="l">
              <a:lnSpc>
                <a:spcPct val="135000"/>
              </a:lnSpc>
            </a:pPr>
            <a:r>
              <a:rPr sz="550" b="1">
                <a:solidFill>
                  <a:srgbClr val="086B9B"/>
                </a:solidFill>
                <a:latin typeface="맑은 고딕"/>
                <a:ea typeface="맑은 고딕"/>
                <a:cs typeface="맑은 고딕"/>
              </a:rPr>
              <a:t>●  </a:t>
            </a:r>
            <a:r>
              <a:rPr sz="1150" b="0">
                <a:solidFill>
                  <a:srgbClr val="213440"/>
                </a:solidFill>
                <a:latin typeface="맑은 고딕"/>
                <a:ea typeface="맑은 고딕"/>
                <a:cs typeface="맑은 고딕"/>
              </a:rPr>
              <a:t>앱 환경변수를 GitHub Secrets로 관리</a:t>
            </a:r>
          </a:p>
          <a:p>
            <a:pPr algn="l">
              <a:lnSpc>
                <a:spcPct val="135000"/>
              </a:lnSpc>
            </a:pPr>
            <a:r>
              <a:rPr sz="550" b="1">
                <a:solidFill>
                  <a:srgbClr val="086B9B"/>
                </a:solidFill>
                <a:latin typeface="맑은 고딕"/>
                <a:ea typeface="맑은 고딕"/>
                <a:cs typeface="맑은 고딕"/>
              </a:rPr>
              <a:t>●  </a:t>
            </a:r>
            <a:r>
              <a:rPr sz="1150" b="0">
                <a:solidFill>
                  <a:srgbClr val="213440"/>
                </a:solidFill>
                <a:latin typeface="맑은 고딕"/>
                <a:ea typeface="맑은 고딕"/>
                <a:cs typeface="맑은 고딕"/>
              </a:rPr>
              <a:t>컨테이너는 127.0.0.1:8080, nginx로만 접근</a:t>
            </a:r>
          </a:p>
          <a:p>
            <a:pPr algn="l">
              <a:lnSpc>
                <a:spcPct val="135000"/>
              </a:lnSpc>
            </a:pPr>
            <a:r>
              <a:rPr sz="550" b="1">
                <a:solidFill>
                  <a:srgbClr val="086B9B"/>
                </a:solidFill>
                <a:latin typeface="맑은 고딕"/>
                <a:ea typeface="맑은 고딕"/>
                <a:cs typeface="맑은 고딕"/>
              </a:rPr>
              <a:t>●  </a:t>
            </a:r>
            <a:r>
              <a:rPr sz="1150" b="0">
                <a:solidFill>
                  <a:srgbClr val="213440"/>
                </a:solidFill>
                <a:latin typeface="맑은 고딕"/>
                <a:ea typeface="맑은 고딕"/>
                <a:cs typeface="맑은 고딕"/>
              </a:rPr>
              <a:t>AI 데이터 커밋은 재배포 생략</a:t>
            </a:r>
          </a:p>
        </p:txBody>
      </p:sp>
      <p:sp>
        <p:nvSpPr>
          <p:cNvPr id="39" name="Rounded Rectangle 38"/>
          <p:cNvSpPr/>
          <p:nvPr/>
        </p:nvSpPr>
        <p:spPr>
          <a:xfrm>
            <a:off x="548640" y="5349240"/>
            <a:ext cx="11109960" cy="822960"/>
          </a:xfrm>
          <a:prstGeom prst="roundRect">
            <a:avLst>
              <a:gd name="adj" fmla="val 1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22960" y="5349240"/>
            <a:ext cx="10607040" cy="822960"/>
          </a:xfrm>
          <a:prstGeom prst="rect">
            <a:avLst/>
          </a:prstGeom>
          <a:noFill/>
        </p:spPr>
        <p:txBody>
          <a:bodyPr wrap="square" anchor="ctr" lIns="45720" rIns="45720">
            <a:spAutoFit/>
          </a:bodyPr>
          <a:lstStyle/>
          <a:p>
            <a:pPr algn="l">
              <a:lnSpc>
                <a:spcPct val="115000"/>
              </a:lnSpc>
            </a:pPr>
            <a:r>
              <a:rPr sz="1300" b="1">
                <a:solidFill>
                  <a:srgbClr val="086B9B"/>
                </a:solidFill>
                <a:latin typeface="맑은 고딕"/>
                <a:ea typeface="맑은 고딕"/>
                <a:cs typeface="맑은 고딕"/>
              </a:rPr>
              <a:t>결과  </a:t>
            </a:r>
            <a:r>
              <a:rPr sz="1400" b="1">
                <a:solidFill>
                  <a:srgbClr val="173649"/>
                </a:solidFill>
                <a:latin typeface="맑은 고딕"/>
                <a:ea typeface="맑은 고딕"/>
                <a:cs typeface="맑은 고딕"/>
              </a:rPr>
              <a:t>코드를 main에 올리기만 하면 테스트를 통과한 버전이 Render와 EC2 두 곳에 자동 배포됩니다.</a:t>
            </a:r>
          </a:p>
        </p:txBody>
      </p:sp>
      <p:sp>
        <p:nvSpPr>
          <p:cNvPr id="41" name="Rectangle 40"/>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push dir="l"/>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06  배포 · 트러블슈팅 · 성과</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트러블슈팅 — 문제를 이렇게 해결했습니다</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김서연</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18 / 20</a:t>
            </a:r>
          </a:p>
        </p:txBody>
      </p:sp>
      <p:graphicFrame>
        <p:nvGraphicFramePr>
          <p:cNvPr id="11" name="Table 10"/>
          <p:cNvGraphicFramePr>
            <a:graphicFrameLocks noGrp="1"/>
          </p:cNvGraphicFramePr>
          <p:nvPr/>
        </p:nvGraphicFramePr>
        <p:xfrm>
          <a:off x="548640" y="1554480"/>
          <a:ext cx="11109960" cy="4206240"/>
        </p:xfrm>
        <a:graphic>
          <a:graphicData uri="http://schemas.openxmlformats.org/drawingml/2006/table">
            <a:tbl>
              <a:tblPr firstRow="1" bandRow="1">
                <a:tableStyleId>{5C22544A-7EE6-4342-B048-85BDC9FD1C3A}</a:tableStyleId>
              </a:tblPr>
              <a:tblGrid>
                <a:gridCol w="2743200"/>
                <a:gridCol w="3017520"/>
                <a:gridCol w="3246120"/>
                <a:gridCol w="2103120"/>
              </a:tblGrid>
              <a:tr h="701040">
                <a:tc>
                  <a:txBody>
                    <a:bodyPr wrap="square"/>
                    <a:lstStyle/>
                    <a:p>
                      <a:r>
                        <a:rPr sz="1200" b="1">
                          <a:solidFill>
                            <a:srgbClr val="FFFFFF"/>
                          </a:solidFill>
                          <a:latin typeface="맑은 고딕"/>
                          <a:ea typeface="맑은 고딕"/>
                          <a:cs typeface="맑은 고딕"/>
                        </a:rPr>
                        <a:t>문제</a:t>
                      </a:r>
                    </a:p>
                  </a:txBody>
                  <a:tcPr marL="73152" marR="73152" marT="36576" marB="36576" anchor="ctr">
                    <a:solidFill>
                      <a:srgbClr val="173649"/>
                    </a:solidFill>
                  </a:tcPr>
                </a:tc>
                <a:tc>
                  <a:txBody>
                    <a:bodyPr wrap="square"/>
                    <a:lstStyle/>
                    <a:p>
                      <a:r>
                        <a:rPr sz="1200" b="1">
                          <a:solidFill>
                            <a:srgbClr val="FFFFFF"/>
                          </a:solidFill>
                          <a:latin typeface="맑은 고딕"/>
                          <a:ea typeface="맑은 고딕"/>
                          <a:cs typeface="맑은 고딕"/>
                        </a:rPr>
                        <a:t>원인</a:t>
                      </a:r>
                    </a:p>
                  </a:txBody>
                  <a:tcPr marL="73152" marR="73152" marT="36576" marB="36576" anchor="ctr">
                    <a:solidFill>
                      <a:srgbClr val="173649"/>
                    </a:solidFill>
                  </a:tcPr>
                </a:tc>
                <a:tc>
                  <a:txBody>
                    <a:bodyPr wrap="square"/>
                    <a:lstStyle/>
                    <a:p>
                      <a:r>
                        <a:rPr sz="1200" b="1">
                          <a:solidFill>
                            <a:srgbClr val="FFFFFF"/>
                          </a:solidFill>
                          <a:latin typeface="맑은 고딕"/>
                          <a:ea typeface="맑은 고딕"/>
                          <a:cs typeface="맑은 고딕"/>
                        </a:rPr>
                        <a:t>해결</a:t>
                      </a:r>
                    </a:p>
                  </a:txBody>
                  <a:tcPr marL="73152" marR="73152" marT="36576" marB="36576" anchor="ctr">
                    <a:solidFill>
                      <a:srgbClr val="173649"/>
                    </a:solidFill>
                  </a:tcPr>
                </a:tc>
                <a:tc>
                  <a:txBody>
                    <a:bodyPr wrap="square"/>
                    <a:lstStyle/>
                    <a:p>
                      <a:r>
                        <a:rPr sz="1200" b="1">
                          <a:solidFill>
                            <a:srgbClr val="FFFFFF"/>
                          </a:solidFill>
                          <a:latin typeface="맑은 고딕"/>
                          <a:ea typeface="맑은 고딕"/>
                          <a:cs typeface="맑은 고딕"/>
                        </a:rPr>
                        <a:t>결과</a:t>
                      </a:r>
                    </a:p>
                  </a:txBody>
                  <a:tcPr marL="73152" marR="73152" marT="36576" marB="36576" anchor="ctr">
                    <a:solidFill>
                      <a:srgbClr val="173649"/>
                    </a:solidFill>
                  </a:tcPr>
                </a:tc>
              </a:tr>
              <a:tr h="701040">
                <a:tc>
                  <a:txBody>
                    <a:bodyPr wrap="square"/>
                    <a:lstStyle/>
                    <a:p>
                      <a:r>
                        <a:rPr sz="1100" b="1">
                          <a:solidFill>
                            <a:srgbClr val="173649"/>
                          </a:solidFill>
                          <a:latin typeface="맑은 고딕"/>
                          <a:ea typeface="맑은 고딕"/>
                          <a:cs typeface="맑은 고딕"/>
                        </a:rPr>
                        <a:t>AI 재학습 중 크롤링이 27분 넘게 끝나지 않음</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API 응답 지연(건당 최대 14.6초) + 498건 순차 요청</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8건 병렬 요청, 재시도 대기 단축, 단계별 시간 제한</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크롤링 27초 · 전체 2분 30초</a:t>
                      </a:r>
                    </a:p>
                  </a:txBody>
                  <a:tcPr marL="73152" marR="73152" marT="36576" marB="36576" anchor="ctr">
                    <a:solidFill>
                      <a:srgbClr val="FFFFFF"/>
                    </a:solidFill>
                  </a:tcPr>
                </a:tc>
              </a:tr>
              <a:tr h="701040">
                <a:tc>
                  <a:txBody>
                    <a:bodyPr wrap="square"/>
                    <a:lstStyle/>
                    <a:p>
                      <a:r>
                        <a:rPr sz="1100" b="1">
                          <a:solidFill>
                            <a:srgbClr val="173649"/>
                          </a:solidFill>
                          <a:latin typeface="맑은 고딕"/>
                          <a:ea typeface="맑은 고딕"/>
                          <a:cs typeface="맑은 고딕"/>
                        </a:rPr>
                        <a:t>진행 표시가 '전처리 → 크롤링'으로 되돌아감</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GitHub 단계 정보가 순간적으로 어긋나게 조회됨</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가장 많이 진행된 단계를 기억해 뒤로 가지 않게 보정</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단계 순서 항상 일치</a:t>
                      </a:r>
                    </a:p>
                  </a:txBody>
                  <a:tcPr marL="73152" marR="73152" marT="36576" marB="36576" anchor="ctr">
                    <a:solidFill>
                      <a:srgbClr val="F3F0E9"/>
                    </a:solidFill>
                  </a:tcPr>
                </a:tc>
              </a:tr>
              <a:tr h="701040">
                <a:tc>
                  <a:txBody>
                    <a:bodyPr wrap="square"/>
                    <a:lstStyle/>
                    <a:p>
                      <a:r>
                        <a:rPr sz="1100" b="1">
                          <a:solidFill>
                            <a:srgbClr val="173649"/>
                          </a:solidFill>
                          <a:latin typeface="맑은 고딕"/>
                          <a:ea typeface="맑은 고딕"/>
                          <a:cs typeface="맑은 고딕"/>
                        </a:rPr>
                        <a:t>GitHub Actions 빌드(테스트) 실패</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CI 환경에 소셜 로그인 client-id가 없어 앱 시작 실패</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테스트에서만 더미 client-id 지정 (운영 설정 유지)</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CI 빌드 · 테스트 통과</a:t>
                      </a:r>
                    </a:p>
                  </a:txBody>
                  <a:tcPr marL="73152" marR="73152" marT="36576" marB="36576" anchor="ctr">
                    <a:solidFill>
                      <a:srgbClr val="FFFFFF"/>
                    </a:solidFill>
                  </a:tcPr>
                </a:tc>
              </a:tr>
              <a:tr h="701040">
                <a:tc>
                  <a:txBody>
                    <a:bodyPr wrap="square"/>
                    <a:lstStyle/>
                    <a:p>
                      <a:r>
                        <a:rPr sz="1100" b="1">
                          <a:solidFill>
                            <a:srgbClr val="173649"/>
                          </a:solidFill>
                          <a:latin typeface="맑은 고딕"/>
                          <a:ea typeface="맑은 고딕"/>
                          <a:cs typeface="맑은 고딕"/>
                        </a:rPr>
                        <a:t>EC2 자동 배포가 SSH 연결에서 실패</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인스턴스 재시작으로 퍼블릭 IP 변경, Secret에는 예전 IP</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EC2_HOST를 도메인으로 변경, IP 등록 시 경고 출력</a:t>
                      </a:r>
                    </a:p>
                  </a:txBody>
                  <a:tcPr marL="73152" marR="73152" marT="36576" marB="36576" anchor="ctr">
                    <a:solidFill>
                      <a:srgbClr val="F3F0E9"/>
                    </a:solidFill>
                  </a:tcPr>
                </a:tc>
                <a:tc>
                  <a:txBody>
                    <a:bodyPr wrap="square"/>
                    <a:lstStyle/>
                    <a:p>
                      <a:r>
                        <a:rPr sz="1100" b="0">
                          <a:solidFill>
                            <a:srgbClr val="213440"/>
                          </a:solidFill>
                          <a:latin typeface="맑은 고딕"/>
                          <a:ea typeface="맑은 고딕"/>
                          <a:cs typeface="맑은 고딕"/>
                        </a:rPr>
                        <a:t>IP가 바뀌어도 배포 유지</a:t>
                      </a:r>
                    </a:p>
                  </a:txBody>
                  <a:tcPr marL="73152" marR="73152" marT="36576" marB="36576" anchor="ctr">
                    <a:solidFill>
                      <a:srgbClr val="F3F0E9"/>
                    </a:solidFill>
                  </a:tcPr>
                </a:tc>
              </a:tr>
              <a:tr h="701040">
                <a:tc>
                  <a:txBody>
                    <a:bodyPr wrap="square"/>
                    <a:lstStyle/>
                    <a:p>
                      <a:r>
                        <a:rPr sz="1100" b="1">
                          <a:solidFill>
                            <a:srgbClr val="173649"/>
                          </a:solidFill>
                          <a:latin typeface="맑은 고딕"/>
                          <a:ea typeface="맑은 고딕"/>
                          <a:cs typeface="맑은 고딕"/>
                        </a:rPr>
                        <a:t>'매물 추천'이 현재 매물로 오해될 수 있음</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데이터는 거래가 끝난 실거래 기록</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페이지 · 문구를 '실거래 단지 추천'으로 전면 수정</a:t>
                      </a:r>
                    </a:p>
                  </a:txBody>
                  <a:tcPr marL="73152" marR="73152" marT="36576" marB="36576" anchor="ctr">
                    <a:solidFill>
                      <a:srgbClr val="FFFFFF"/>
                    </a:solidFill>
                  </a:tcPr>
                </a:tc>
                <a:tc>
                  <a:txBody>
                    <a:bodyPr wrap="square"/>
                    <a:lstStyle/>
                    <a:p>
                      <a:r>
                        <a:rPr sz="1100" b="0">
                          <a:solidFill>
                            <a:srgbClr val="213440"/>
                          </a:solidFill>
                          <a:latin typeface="맑은 고딕"/>
                          <a:ea typeface="맑은 고딕"/>
                          <a:cs typeface="맑은 고딕"/>
                        </a:rPr>
                        <a:t>데이터 의미를 정확히 전달</a:t>
                      </a:r>
                    </a:p>
                  </a:txBody>
                  <a:tcPr marL="73152" marR="73152" marT="36576" marB="36576" anchor="ctr">
                    <a:solidFill>
                      <a:srgbClr val="FFFFFF"/>
                    </a:solidFill>
                  </a:tcPr>
                </a:tc>
              </a:tr>
            </a:tbl>
          </a:graphicData>
        </a:graphic>
      </p:graphicFrame>
      <p:sp>
        <p:nvSpPr>
          <p:cNvPr id="12" name="TextBox 11"/>
          <p:cNvSpPr txBox="1"/>
          <p:nvPr/>
        </p:nvSpPr>
        <p:spPr>
          <a:xfrm>
            <a:off x="548640" y="5897880"/>
            <a:ext cx="11064240" cy="365760"/>
          </a:xfrm>
          <a:prstGeom prst="rect">
            <a:avLst/>
          </a:prstGeom>
          <a:noFill/>
        </p:spPr>
        <p:txBody>
          <a:bodyPr wrap="square" anchor="t" lIns="45720" rIns="45720">
            <a:spAutoFit/>
          </a:bodyPr>
          <a:lstStyle/>
          <a:p>
            <a:pPr algn="l">
              <a:lnSpc>
                <a:spcPct val="115000"/>
              </a:lnSpc>
            </a:pPr>
            <a:r>
              <a:rPr sz="1250" b="1">
                <a:solidFill>
                  <a:srgbClr val="086B9B"/>
                </a:solidFill>
                <a:latin typeface="맑은 고딕"/>
                <a:ea typeface="맑은 고딕"/>
                <a:cs typeface="맑은 고딕"/>
              </a:rPr>
              <a:t>→ 모든 문제와 해결 과정은 저장소 docs/ 폴더에 문서로 기록해 팀 전체가 공유했습니다.</a:t>
            </a:r>
          </a:p>
        </p:txBody>
      </p:sp>
      <p:sp>
        <p:nvSpPr>
          <p:cNvPr id="13" name="Rectangle 12"/>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A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CFA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347472"/>
            <a:ext cx="7315200" cy="320040"/>
          </a:xfrm>
          <a:prstGeom prst="rect">
            <a:avLst/>
          </a:prstGeom>
          <a:noFill/>
        </p:spPr>
        <p:txBody>
          <a:bodyPr wrap="square" anchor="t" lIns="45720" rIns="45720">
            <a:spAutoFit/>
          </a:bodyPr>
          <a:lstStyle/>
          <a:p>
            <a:pPr algn="l">
              <a:lnSpc>
                <a:spcPct val="115000"/>
              </a:lnSpc>
            </a:pPr>
            <a:r>
              <a:rPr sz="1300" b="1">
                <a:solidFill>
                  <a:srgbClr val="BD7148"/>
                </a:solidFill>
                <a:latin typeface="맑은 고딕"/>
                <a:ea typeface="맑은 고딕"/>
                <a:cs typeface="맑은 고딕"/>
              </a:rPr>
              <a:t>06  배포 · 트러블슈팅 · 성과</a:t>
            </a:r>
          </a:p>
        </p:txBody>
      </p:sp>
      <p:sp>
        <p:nvSpPr>
          <p:cNvPr id="5" name="TextBox 4"/>
          <p:cNvSpPr txBox="1"/>
          <p:nvPr/>
        </p:nvSpPr>
        <p:spPr>
          <a:xfrm>
            <a:off x="548640" y="621792"/>
            <a:ext cx="9326880" cy="640080"/>
          </a:xfrm>
          <a:prstGeom prst="rect">
            <a:avLst/>
          </a:prstGeom>
          <a:noFill/>
        </p:spPr>
        <p:txBody>
          <a:bodyPr wrap="square" anchor="t" lIns="45720" rIns="45720">
            <a:spAutoFit/>
          </a:bodyPr>
          <a:lstStyle/>
          <a:p>
            <a:pPr algn="l">
              <a:lnSpc>
                <a:spcPct val="115000"/>
              </a:lnSpc>
            </a:pPr>
            <a:r>
              <a:rPr sz="2800" b="1">
                <a:solidFill>
                  <a:srgbClr val="173649"/>
                </a:solidFill>
                <a:latin typeface="맑은 고딕"/>
                <a:ea typeface="맑은 고딕"/>
                <a:cs typeface="맑은 고딕"/>
              </a:rPr>
              <a:t>프로젝트 성과와 향후 계획</a:t>
            </a:r>
          </a:p>
        </p:txBody>
      </p:sp>
      <p:sp>
        <p:nvSpPr>
          <p:cNvPr id="6" name="Rounded Rectangle 5"/>
          <p:cNvSpPr/>
          <p:nvPr/>
        </p:nvSpPr>
        <p:spPr>
          <a:xfrm>
            <a:off x="10012680" y="384048"/>
            <a:ext cx="1645920" cy="384048"/>
          </a:xfrm>
          <a:prstGeom prst="roundRect">
            <a:avLst>
              <a:gd name="adj" fmla="val 50000"/>
            </a:avLst>
          </a:prstGeom>
          <a:solidFill>
            <a:srgbClr val="E8F3F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12680" y="384048"/>
            <a:ext cx="1645920" cy="384048"/>
          </a:xfrm>
          <a:prstGeom prst="rect">
            <a:avLst/>
          </a:prstGeom>
          <a:noFill/>
        </p:spPr>
        <p:txBody>
          <a:bodyPr wrap="square" anchor="ctr" lIns="73152" rIns="73152" tIns="73152" bIns="73152">
            <a:spAutoFit/>
          </a:bodyPr>
          <a:lstStyle/>
          <a:p>
            <a:pPr algn="ctr">
              <a:lnSpc>
                <a:spcPct val="115000"/>
              </a:lnSpc>
            </a:pPr>
            <a:r>
              <a:rPr sz="1100" b="0">
                <a:solidFill>
                  <a:srgbClr val="60717B"/>
                </a:solidFill>
                <a:latin typeface="맑은 고딕"/>
                <a:ea typeface="맑은 고딕"/>
                <a:cs typeface="맑은 고딕"/>
              </a:rPr>
              <a:t>발표 </a:t>
            </a:r>
            <a:r>
              <a:rPr sz="1200" b="1">
                <a:solidFill>
                  <a:srgbClr val="086B9B"/>
                </a:solidFill>
                <a:latin typeface="맑은 고딕"/>
                <a:ea typeface="맑은 고딕"/>
                <a:cs typeface="맑은 고딕"/>
              </a:rPr>
              <a:t>길길동</a:t>
            </a:r>
          </a:p>
        </p:txBody>
      </p:sp>
      <p:sp>
        <p:nvSpPr>
          <p:cNvPr id="8" name="Rectangle 7"/>
          <p:cNvSpPr/>
          <p:nvPr/>
        </p:nvSpPr>
        <p:spPr>
          <a:xfrm>
            <a:off x="548640" y="6400800"/>
            <a:ext cx="11109960" cy="9144"/>
          </a:xfrm>
          <a:prstGeom prst="rect">
            <a:avLst/>
          </a:prstGeom>
          <a:solidFill>
            <a:srgbClr val="DDD8C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lnSpc>
                <a:spcPct val="115000"/>
              </a:lnSpc>
            </a:pPr>
            <a:r>
              <a:rPr sz="900" b="0">
                <a:solidFill>
                  <a:srgbClr val="60717B"/>
                </a:solidFill>
                <a:latin typeface="맑은 고딕"/>
                <a:ea typeface="맑은 고딕"/>
                <a:cs typeface="맑은 고딕"/>
              </a:rPr>
              <a:t>HOMEPICK  |  빅데이터 분석 &amp; 자동화 시스템 구축 과정 최종 발표</a:t>
            </a:r>
          </a:p>
        </p:txBody>
      </p:sp>
      <p:sp>
        <p:nvSpPr>
          <p:cNvPr id="10" name="TextBox 9"/>
          <p:cNvSpPr txBox="1"/>
          <p:nvPr/>
        </p:nvSpPr>
        <p:spPr>
          <a:xfrm>
            <a:off x="10744200" y="6446520"/>
            <a:ext cx="914400" cy="274320"/>
          </a:xfrm>
          <a:prstGeom prst="rect">
            <a:avLst/>
          </a:prstGeom>
          <a:noFill/>
        </p:spPr>
        <p:txBody>
          <a:bodyPr wrap="square" anchor="t" lIns="45720" rIns="45720">
            <a:spAutoFit/>
          </a:bodyPr>
          <a:lstStyle/>
          <a:p>
            <a:pPr algn="r">
              <a:lnSpc>
                <a:spcPct val="115000"/>
              </a:lnSpc>
            </a:pPr>
            <a:r>
              <a:rPr sz="900" b="0">
                <a:solidFill>
                  <a:srgbClr val="60717B"/>
                </a:solidFill>
                <a:latin typeface="맑은 고딕"/>
                <a:ea typeface="맑은 고딕"/>
                <a:cs typeface="맑은 고딕"/>
              </a:rPr>
              <a:t>19 / 20</a:t>
            </a:r>
          </a:p>
        </p:txBody>
      </p:sp>
      <p:sp>
        <p:nvSpPr>
          <p:cNvPr id="11" name="TextBox 10"/>
          <p:cNvSpPr txBox="1"/>
          <p:nvPr/>
        </p:nvSpPr>
        <p:spPr>
          <a:xfrm>
            <a:off x="548640" y="1554480"/>
            <a:ext cx="5486400" cy="365760"/>
          </a:xfrm>
          <a:prstGeom prst="rect">
            <a:avLst/>
          </a:prstGeom>
          <a:noFill/>
        </p:spPr>
        <p:txBody>
          <a:bodyPr wrap="square" anchor="t" lIns="45720" rIns="45720">
            <a:spAutoFit/>
          </a:bodyPr>
          <a:lstStyle/>
          <a:p>
            <a:pPr algn="l">
              <a:lnSpc>
                <a:spcPct val="115000"/>
              </a:lnSpc>
            </a:pPr>
            <a:r>
              <a:rPr sz="1500" b="1">
                <a:solidFill>
                  <a:srgbClr val="173649"/>
                </a:solidFill>
                <a:latin typeface="맑은 고딕"/>
                <a:ea typeface="맑은 고딕"/>
                <a:cs typeface="맑은 고딕"/>
              </a:rPr>
              <a:t>성과</a:t>
            </a:r>
          </a:p>
        </p:txBody>
      </p:sp>
      <p:sp>
        <p:nvSpPr>
          <p:cNvPr id="12" name="Rounded Rectangle 11"/>
          <p:cNvSpPr/>
          <p:nvPr/>
        </p:nvSpPr>
        <p:spPr>
          <a:xfrm>
            <a:off x="548640" y="1965960"/>
            <a:ext cx="2651760" cy="141732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2103120"/>
            <a:ext cx="2651760" cy="685800"/>
          </a:xfrm>
          <a:prstGeom prst="rect">
            <a:avLst/>
          </a:prstGeom>
          <a:noFill/>
        </p:spPr>
        <p:txBody>
          <a:bodyPr wrap="square" anchor="t" lIns="45720" rIns="45720">
            <a:spAutoFit/>
          </a:bodyPr>
          <a:lstStyle/>
          <a:p>
            <a:pPr algn="ctr">
              <a:lnSpc>
                <a:spcPct val="115000"/>
              </a:lnSpc>
            </a:pPr>
            <a:r>
              <a:rPr sz="3400" b="1">
                <a:solidFill>
                  <a:srgbClr val="086B9B"/>
                </a:solidFill>
                <a:latin typeface="맑은 고딕"/>
                <a:ea typeface="맑은 고딕"/>
                <a:cs typeface="맑은 고딕"/>
              </a:rPr>
              <a:t>12.9</a:t>
            </a:r>
            <a:r>
              <a:rPr sz="1500" b="1">
                <a:solidFill>
                  <a:srgbClr val="086B9B"/>
                </a:solidFill>
                <a:latin typeface="맑은 고딕"/>
                <a:ea typeface="맑은 고딕"/>
                <a:cs typeface="맑은 고딕"/>
              </a:rPr>
              <a:t> 만 건</a:t>
            </a:r>
          </a:p>
        </p:txBody>
      </p:sp>
      <p:sp>
        <p:nvSpPr>
          <p:cNvPr id="14" name="TextBox 13"/>
          <p:cNvSpPr txBox="1"/>
          <p:nvPr/>
        </p:nvSpPr>
        <p:spPr>
          <a:xfrm>
            <a:off x="548640" y="2788920"/>
            <a:ext cx="2651760" cy="365760"/>
          </a:xfrm>
          <a:prstGeom prst="rect">
            <a:avLst/>
          </a:prstGeom>
          <a:noFill/>
        </p:spPr>
        <p:txBody>
          <a:bodyPr wrap="square" anchor="t" lIns="45720" rIns="45720">
            <a:spAutoFit/>
          </a:bodyPr>
          <a:lstStyle/>
          <a:p>
            <a:pPr algn="ctr">
              <a:lnSpc>
                <a:spcPct val="115000"/>
              </a:lnSpc>
            </a:pPr>
            <a:r>
              <a:rPr sz="1200" b="0">
                <a:solidFill>
                  <a:srgbClr val="60717B"/>
                </a:solidFill>
                <a:latin typeface="맑은 고딕"/>
                <a:ea typeface="맑은 고딕"/>
                <a:cs typeface="맑은 고딕"/>
              </a:rPr>
              <a:t>수도권 실거래 학습</a:t>
            </a:r>
          </a:p>
        </p:txBody>
      </p:sp>
      <p:sp>
        <p:nvSpPr>
          <p:cNvPr id="15" name="Rounded Rectangle 14"/>
          <p:cNvSpPr/>
          <p:nvPr/>
        </p:nvSpPr>
        <p:spPr>
          <a:xfrm>
            <a:off x="3337560" y="1965960"/>
            <a:ext cx="2651760" cy="141732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337560" y="2103120"/>
            <a:ext cx="2651760" cy="685800"/>
          </a:xfrm>
          <a:prstGeom prst="rect">
            <a:avLst/>
          </a:prstGeom>
          <a:noFill/>
        </p:spPr>
        <p:txBody>
          <a:bodyPr wrap="square" anchor="t" lIns="45720" rIns="45720">
            <a:spAutoFit/>
          </a:bodyPr>
          <a:lstStyle/>
          <a:p>
            <a:pPr algn="ctr">
              <a:lnSpc>
                <a:spcPct val="115000"/>
              </a:lnSpc>
            </a:pPr>
            <a:r>
              <a:rPr sz="3400" b="1">
                <a:solidFill>
                  <a:srgbClr val="086B9B"/>
                </a:solidFill>
                <a:latin typeface="맑은 고딕"/>
                <a:ea typeface="맑은 고딕"/>
                <a:cs typeface="맑은 고딕"/>
              </a:rPr>
              <a:t>0.938</a:t>
            </a:r>
            <a:r>
              <a:rPr sz="1500" b="1">
                <a:solidFill>
                  <a:srgbClr val="086B9B"/>
                </a:solidFill>
                <a:latin typeface="맑은 고딕"/>
                <a:ea typeface="맑은 고딕"/>
                <a:cs typeface="맑은 고딕"/>
              </a:rPr>
              <a:t> R²</a:t>
            </a:r>
          </a:p>
        </p:txBody>
      </p:sp>
      <p:sp>
        <p:nvSpPr>
          <p:cNvPr id="17" name="TextBox 16"/>
          <p:cNvSpPr txBox="1"/>
          <p:nvPr/>
        </p:nvSpPr>
        <p:spPr>
          <a:xfrm>
            <a:off x="3337560" y="2788920"/>
            <a:ext cx="2651760" cy="365760"/>
          </a:xfrm>
          <a:prstGeom prst="rect">
            <a:avLst/>
          </a:prstGeom>
          <a:noFill/>
        </p:spPr>
        <p:txBody>
          <a:bodyPr wrap="square" anchor="t" lIns="45720" rIns="45720">
            <a:spAutoFit/>
          </a:bodyPr>
          <a:lstStyle/>
          <a:p>
            <a:pPr algn="ctr">
              <a:lnSpc>
                <a:spcPct val="115000"/>
              </a:lnSpc>
            </a:pPr>
            <a:r>
              <a:rPr sz="1200" b="0">
                <a:solidFill>
                  <a:srgbClr val="60717B"/>
                </a:solidFill>
                <a:latin typeface="맑은 고딕"/>
                <a:ea typeface="맑은 고딕"/>
                <a:cs typeface="맑은 고딕"/>
              </a:rPr>
              <a:t>AI 적정가 예측력</a:t>
            </a:r>
          </a:p>
        </p:txBody>
      </p:sp>
      <p:sp>
        <p:nvSpPr>
          <p:cNvPr id="18" name="Rounded Rectangle 17"/>
          <p:cNvSpPr/>
          <p:nvPr/>
        </p:nvSpPr>
        <p:spPr>
          <a:xfrm>
            <a:off x="548640" y="3566160"/>
            <a:ext cx="2651760" cy="141732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 y="3703320"/>
            <a:ext cx="2651760" cy="685800"/>
          </a:xfrm>
          <a:prstGeom prst="rect">
            <a:avLst/>
          </a:prstGeom>
          <a:noFill/>
        </p:spPr>
        <p:txBody>
          <a:bodyPr wrap="square" anchor="t" lIns="45720" rIns="45720">
            <a:spAutoFit/>
          </a:bodyPr>
          <a:lstStyle/>
          <a:p>
            <a:pPr algn="ctr">
              <a:lnSpc>
                <a:spcPct val="115000"/>
              </a:lnSpc>
            </a:pPr>
            <a:r>
              <a:rPr sz="3400" b="1">
                <a:solidFill>
                  <a:srgbClr val="BD7148"/>
                </a:solidFill>
                <a:latin typeface="맑은 고딕"/>
                <a:ea typeface="맑은 고딕"/>
                <a:cs typeface="맑은 고딕"/>
              </a:rPr>
              <a:t>98</a:t>
            </a:r>
            <a:r>
              <a:rPr sz="1500" b="1">
                <a:solidFill>
                  <a:srgbClr val="BD7148"/>
                </a:solidFill>
                <a:latin typeface="맑은 고딕"/>
                <a:ea typeface="맑은 고딕"/>
                <a:cs typeface="맑은 고딕"/>
              </a:rPr>
              <a:t> % 단축</a:t>
            </a:r>
          </a:p>
        </p:txBody>
      </p:sp>
      <p:sp>
        <p:nvSpPr>
          <p:cNvPr id="20" name="TextBox 19"/>
          <p:cNvSpPr txBox="1"/>
          <p:nvPr/>
        </p:nvSpPr>
        <p:spPr>
          <a:xfrm>
            <a:off x="548640" y="4389120"/>
            <a:ext cx="2651760" cy="365760"/>
          </a:xfrm>
          <a:prstGeom prst="rect">
            <a:avLst/>
          </a:prstGeom>
          <a:noFill/>
        </p:spPr>
        <p:txBody>
          <a:bodyPr wrap="square" anchor="t" lIns="45720" rIns="45720">
            <a:spAutoFit/>
          </a:bodyPr>
          <a:lstStyle/>
          <a:p>
            <a:pPr algn="ctr">
              <a:lnSpc>
                <a:spcPct val="115000"/>
              </a:lnSpc>
            </a:pPr>
            <a:r>
              <a:rPr sz="1200" b="0">
                <a:solidFill>
                  <a:srgbClr val="60717B"/>
                </a:solidFill>
                <a:latin typeface="맑은 고딕"/>
                <a:ea typeface="맑은 고딕"/>
                <a:cs typeface="맑은 고딕"/>
              </a:rPr>
              <a:t>크롤링 시간 (28분+ → 27초)</a:t>
            </a:r>
          </a:p>
        </p:txBody>
      </p:sp>
      <p:sp>
        <p:nvSpPr>
          <p:cNvPr id="21" name="Rounded Rectangle 20"/>
          <p:cNvSpPr/>
          <p:nvPr/>
        </p:nvSpPr>
        <p:spPr>
          <a:xfrm>
            <a:off x="3337560" y="3566160"/>
            <a:ext cx="2651760" cy="1417320"/>
          </a:xfrm>
          <a:prstGeom prst="roundRect">
            <a:avLst>
              <a:gd name="adj" fmla="val 8000"/>
            </a:avLst>
          </a:prstGeom>
          <a:solidFill>
            <a:srgbClr val="F3F0E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337560" y="3703320"/>
            <a:ext cx="2651760" cy="685800"/>
          </a:xfrm>
          <a:prstGeom prst="rect">
            <a:avLst/>
          </a:prstGeom>
          <a:noFill/>
        </p:spPr>
        <p:txBody>
          <a:bodyPr wrap="square" anchor="t" lIns="45720" rIns="45720">
            <a:spAutoFit/>
          </a:bodyPr>
          <a:lstStyle/>
          <a:p>
            <a:pPr algn="ctr">
              <a:lnSpc>
                <a:spcPct val="115000"/>
              </a:lnSpc>
            </a:pPr>
            <a:r>
              <a:rPr sz="3400" b="1">
                <a:solidFill>
                  <a:srgbClr val="086B9B"/>
                </a:solidFill>
                <a:latin typeface="맑은 고딕"/>
                <a:ea typeface="맑은 고딕"/>
                <a:cs typeface="맑은 고딕"/>
              </a:rPr>
              <a:t>2</a:t>
            </a:r>
            <a:r>
              <a:rPr sz="1500" b="1">
                <a:solidFill>
                  <a:srgbClr val="086B9B"/>
                </a:solidFill>
                <a:latin typeface="맑은 고딕"/>
                <a:ea typeface="맑은 고딕"/>
                <a:cs typeface="맑은 고딕"/>
              </a:rPr>
              <a:t> 곳</a:t>
            </a:r>
          </a:p>
        </p:txBody>
      </p:sp>
      <p:sp>
        <p:nvSpPr>
          <p:cNvPr id="23" name="TextBox 22"/>
          <p:cNvSpPr txBox="1"/>
          <p:nvPr/>
        </p:nvSpPr>
        <p:spPr>
          <a:xfrm>
            <a:off x="3337560" y="4389120"/>
            <a:ext cx="2651760" cy="365760"/>
          </a:xfrm>
          <a:prstGeom prst="rect">
            <a:avLst/>
          </a:prstGeom>
          <a:noFill/>
        </p:spPr>
        <p:txBody>
          <a:bodyPr wrap="square" anchor="t" lIns="45720" rIns="45720">
            <a:spAutoFit/>
          </a:bodyPr>
          <a:lstStyle/>
          <a:p>
            <a:pPr algn="ctr">
              <a:lnSpc>
                <a:spcPct val="115000"/>
              </a:lnSpc>
            </a:pPr>
            <a:r>
              <a:rPr sz="1200" b="0">
                <a:solidFill>
                  <a:srgbClr val="60717B"/>
                </a:solidFill>
                <a:latin typeface="맑은 고딕"/>
                <a:ea typeface="맑은 고딕"/>
                <a:cs typeface="맑은 고딕"/>
              </a:rPr>
              <a:t>자동 배포 (Render · EC2)</a:t>
            </a:r>
          </a:p>
        </p:txBody>
      </p:sp>
      <p:sp>
        <p:nvSpPr>
          <p:cNvPr id="24" name="TextBox 23"/>
          <p:cNvSpPr txBox="1"/>
          <p:nvPr/>
        </p:nvSpPr>
        <p:spPr>
          <a:xfrm>
            <a:off x="548640" y="5257800"/>
            <a:ext cx="5486400" cy="914400"/>
          </a:xfrm>
          <a:prstGeom prst="rect">
            <a:avLst/>
          </a:prstGeom>
          <a:noFill/>
        </p:spPr>
        <p:txBody>
          <a:bodyPr wrap="square" anchor="t" lIns="45720" rIns="45720">
            <a:spAutoFit/>
          </a:bodyPr>
          <a:lstStyle/>
          <a:p>
            <a:pPr algn="l">
              <a:lnSpc>
                <a:spcPct val="135000"/>
              </a:lnSpc>
            </a:pPr>
            <a:r>
              <a:rPr sz="1300" b="1">
                <a:solidFill>
                  <a:srgbClr val="173649"/>
                </a:solidFill>
                <a:latin typeface="맑은 고딕"/>
                <a:ea typeface="맑은 고딕"/>
                <a:cs typeface="맑은 고딕"/>
              </a:rPr>
              <a:t>수집 → 분석 → 서비스 → 시각화 → 자동화를</a:t>
            </a:r>
          </a:p>
          <a:p>
            <a:pPr algn="l">
              <a:lnSpc>
                <a:spcPct val="135000"/>
              </a:lnSpc>
            </a:pPr>
            <a:r>
              <a:rPr sz="1300" b="1">
                <a:solidFill>
                  <a:srgbClr val="173649"/>
                </a:solidFill>
                <a:latin typeface="맑은 고딕"/>
                <a:ea typeface="맑은 고딕"/>
                <a:cs typeface="맑은 고딕"/>
              </a:rPr>
              <a:t>하나의 파이프라인으로 연결해 실제 운영 중</a:t>
            </a:r>
          </a:p>
        </p:txBody>
      </p:sp>
      <p:sp>
        <p:nvSpPr>
          <p:cNvPr id="25" name="Rounded Rectangle 24"/>
          <p:cNvSpPr/>
          <p:nvPr/>
        </p:nvSpPr>
        <p:spPr>
          <a:xfrm>
            <a:off x="6355080" y="1554480"/>
            <a:ext cx="5303520" cy="4617720"/>
          </a:xfrm>
          <a:prstGeom prst="roundRect">
            <a:avLst>
              <a:gd name="adj" fmla="val 5000"/>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675120" y="1783080"/>
            <a:ext cx="4754880" cy="365760"/>
          </a:xfrm>
          <a:prstGeom prst="rect">
            <a:avLst/>
          </a:prstGeom>
          <a:noFill/>
        </p:spPr>
        <p:txBody>
          <a:bodyPr wrap="square" anchor="t" lIns="45720" rIns="45720">
            <a:spAutoFit/>
          </a:bodyPr>
          <a:lstStyle/>
          <a:p>
            <a:pPr algn="l">
              <a:lnSpc>
                <a:spcPct val="115000"/>
              </a:lnSpc>
            </a:pPr>
            <a:r>
              <a:rPr sz="1600" b="1">
                <a:solidFill>
                  <a:srgbClr val="F5C59F"/>
                </a:solidFill>
                <a:latin typeface="맑은 고딕"/>
                <a:ea typeface="맑은 고딕"/>
                <a:cs typeface="맑은 고딕"/>
              </a:rPr>
              <a:t>향후 계획</a:t>
            </a:r>
          </a:p>
        </p:txBody>
      </p:sp>
      <p:sp>
        <p:nvSpPr>
          <p:cNvPr id="27" name="TextBox 26"/>
          <p:cNvSpPr txBox="1"/>
          <p:nvPr/>
        </p:nvSpPr>
        <p:spPr>
          <a:xfrm>
            <a:off x="6675120" y="2286000"/>
            <a:ext cx="4754880" cy="3749039"/>
          </a:xfrm>
          <a:prstGeom prst="rect">
            <a:avLst/>
          </a:prstGeom>
          <a:noFill/>
        </p:spPr>
        <p:txBody>
          <a:bodyPr wrap="square" anchor="t" lIns="45720" rIns="45720">
            <a:spAutoFit/>
          </a:bodyPr>
          <a:lstStyle/>
          <a:p>
            <a:pPr algn="l">
              <a:lnSpc>
                <a:spcPct val="160000"/>
              </a:lnSpc>
            </a:pPr>
            <a:r>
              <a:rPr sz="750" b="1">
                <a:solidFill>
                  <a:srgbClr val="F5C59F"/>
                </a:solidFill>
                <a:latin typeface="맑은 고딕"/>
                <a:ea typeface="맑은 고딕"/>
                <a:cs typeface="맑은 고딕"/>
              </a:rPr>
              <a:t>●  </a:t>
            </a:r>
            <a:r>
              <a:rPr sz="1350" b="0">
                <a:solidFill>
                  <a:srgbClr val="FFFFFF"/>
                </a:solidFill>
                <a:latin typeface="맑은 고딕"/>
                <a:ea typeface="맑은 고딕"/>
                <a:cs typeface="맑은 고딕"/>
              </a:rPr>
              <a:t>전월세 실거래 · 전국 단위로 데이터 확장</a:t>
            </a:r>
          </a:p>
          <a:p>
            <a:pPr algn="l">
              <a:lnSpc>
                <a:spcPct val="160000"/>
              </a:lnSpc>
            </a:pPr>
            <a:r>
              <a:rPr sz="750" b="1">
                <a:solidFill>
                  <a:srgbClr val="F5C59F"/>
                </a:solidFill>
                <a:latin typeface="맑은 고딕"/>
                <a:ea typeface="맑은 고딕"/>
                <a:cs typeface="맑은 고딕"/>
              </a:rPr>
              <a:t>●  </a:t>
            </a:r>
            <a:r>
              <a:rPr sz="1350" b="0">
                <a:solidFill>
                  <a:srgbClr val="FFFFFF"/>
                </a:solidFill>
                <a:latin typeface="맑은 고딕"/>
                <a:ea typeface="맑은 고딕"/>
                <a:cs typeface="맑은 고딕"/>
              </a:rPr>
              <a:t>시계열 예측 모델로 향후 가격 추이 예측</a:t>
            </a:r>
          </a:p>
          <a:p>
            <a:pPr algn="l">
              <a:lnSpc>
                <a:spcPct val="160000"/>
              </a:lnSpc>
            </a:pPr>
            <a:r>
              <a:rPr sz="750" b="1">
                <a:solidFill>
                  <a:srgbClr val="F5C59F"/>
                </a:solidFill>
                <a:latin typeface="맑은 고딕"/>
                <a:ea typeface="맑은 고딕"/>
                <a:cs typeface="맑은 고딕"/>
              </a:rPr>
              <a:t>●  </a:t>
            </a:r>
            <a:r>
              <a:rPr sz="1350" b="0">
                <a:solidFill>
                  <a:srgbClr val="FFFFFF"/>
                </a:solidFill>
                <a:latin typeface="맑은 고딕"/>
                <a:ea typeface="맑은 고딕"/>
                <a:cs typeface="맑은 고딕"/>
              </a:rPr>
              <a:t>XGBoost 등 모델 비교로 예측 정확도 개선</a:t>
            </a:r>
          </a:p>
          <a:p>
            <a:pPr algn="l">
              <a:lnSpc>
                <a:spcPct val="160000"/>
              </a:lnSpc>
            </a:pPr>
            <a:r>
              <a:rPr sz="750" b="1">
                <a:solidFill>
                  <a:srgbClr val="F5C59F"/>
                </a:solidFill>
                <a:latin typeface="맑은 고딕"/>
                <a:ea typeface="맑은 고딕"/>
                <a:cs typeface="맑은 고딕"/>
              </a:rPr>
              <a:t>●  </a:t>
            </a:r>
            <a:r>
              <a:rPr sz="1350" b="0">
                <a:solidFill>
                  <a:srgbClr val="FFFFFF"/>
                </a:solidFill>
                <a:latin typeface="맑은 고딕"/>
                <a:ea typeface="맑은 고딕"/>
                <a:cs typeface="맑은 고딕"/>
              </a:rPr>
              <a:t>스케줄러로 매일 자동 재학습</a:t>
            </a:r>
          </a:p>
          <a:p>
            <a:pPr algn="l">
              <a:lnSpc>
                <a:spcPct val="160000"/>
              </a:lnSpc>
            </a:pPr>
            <a:r>
              <a:rPr sz="750" b="1">
                <a:solidFill>
                  <a:srgbClr val="F5C59F"/>
                </a:solidFill>
                <a:latin typeface="맑은 고딕"/>
                <a:ea typeface="맑은 고딕"/>
                <a:cs typeface="맑은 고딕"/>
              </a:rPr>
              <a:t>●  </a:t>
            </a:r>
            <a:r>
              <a:rPr sz="1350" b="0">
                <a:solidFill>
                  <a:srgbClr val="FFFFFF"/>
                </a:solidFill>
                <a:latin typeface="맑은 고딕"/>
                <a:ea typeface="맑은 고딕"/>
                <a:cs typeface="맑은 고딕"/>
              </a:rPr>
              <a:t>지도 기반 단지 조회 · 관심 단지 알림</a:t>
            </a:r>
          </a:p>
          <a:p>
            <a:pPr algn="l">
              <a:lnSpc>
                <a:spcPct val="160000"/>
              </a:lnSpc>
            </a:pPr>
            <a:r>
              <a:rPr sz="750" b="1">
                <a:solidFill>
                  <a:srgbClr val="F5C59F"/>
                </a:solidFill>
                <a:latin typeface="맑은 고딕"/>
                <a:ea typeface="맑은 고딕"/>
                <a:cs typeface="맑은 고딕"/>
              </a:rPr>
              <a:t>●  </a:t>
            </a:r>
            <a:r>
              <a:rPr sz="1350" b="0">
                <a:solidFill>
                  <a:srgbClr val="FFFFFF"/>
                </a:solidFill>
                <a:latin typeface="맑은 고딕"/>
                <a:ea typeface="맑은 고딕"/>
                <a:cs typeface="맑은 고딕"/>
              </a:rPr>
              <a:t>Q&amp;A 글쓰기 · 마이페이지 등 미구현 메뉴 완성</a:t>
            </a:r>
          </a:p>
        </p:txBody>
      </p:sp>
      <p:sp>
        <p:nvSpPr>
          <p:cNvPr id="28" name="Rectangle 27"/>
          <p:cNvSpPr/>
          <p:nvPr/>
        </p:nvSpPr>
        <p:spPr>
          <a:xfrm>
            <a:off x="164592" y="0"/>
            <a:ext cx="64008" cy="6400800"/>
          </a:xfrm>
          <a:prstGeom prst="rect">
            <a:avLst/>
          </a:prstGeom>
          <a:solidFill>
            <a:srgbClr val="DDEA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push dir="l"/>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364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73649"/>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0"/>
            <a:ext cx="12191695" cy="1188720"/>
          </a:xfrm>
          <a:prstGeom prst="rect">
            <a:avLst/>
          </a:prstGeom>
          <a:solidFill>
            <a:srgbClr val="086B9B"/>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0" y="1463040"/>
            <a:ext cx="12191695" cy="1097280"/>
          </a:xfrm>
          <a:prstGeom prst="rect">
            <a:avLst/>
          </a:prstGeom>
          <a:noFill/>
        </p:spPr>
        <p:txBody>
          <a:bodyPr wrap="square" anchor="t" lIns="45720" rIns="45720">
            <a:spAutoFit/>
          </a:bodyPr>
          <a:lstStyle/>
          <a:p>
            <a:pPr algn="ctr">
              <a:lnSpc>
                <a:spcPct val="115000"/>
              </a:lnSpc>
            </a:pPr>
            <a:r>
              <a:rPr sz="6000" b="1">
                <a:solidFill>
                  <a:srgbClr val="FFFFFF"/>
                </a:solidFill>
                <a:latin typeface="맑은 고딕"/>
                <a:ea typeface="맑은 고딕"/>
                <a:cs typeface="맑은 고딕"/>
              </a:rPr>
              <a:t>감사합니다</a:t>
            </a:r>
          </a:p>
        </p:txBody>
      </p:sp>
      <p:sp>
        <p:nvSpPr>
          <p:cNvPr id="5" name="TextBox 4"/>
          <p:cNvSpPr txBox="1"/>
          <p:nvPr/>
        </p:nvSpPr>
        <p:spPr>
          <a:xfrm>
            <a:off x="0" y="2651760"/>
            <a:ext cx="12191695" cy="548640"/>
          </a:xfrm>
          <a:prstGeom prst="rect">
            <a:avLst/>
          </a:prstGeom>
          <a:noFill/>
        </p:spPr>
        <p:txBody>
          <a:bodyPr wrap="square" anchor="t" lIns="45720" rIns="45720">
            <a:spAutoFit/>
          </a:bodyPr>
          <a:lstStyle/>
          <a:p>
            <a:pPr algn="ctr">
              <a:lnSpc>
                <a:spcPct val="115000"/>
              </a:lnSpc>
            </a:pPr>
            <a:r>
              <a:rPr sz="2800" b="1">
                <a:solidFill>
                  <a:srgbClr val="F5C59F"/>
                </a:solidFill>
                <a:latin typeface="맑은 고딕"/>
                <a:ea typeface="맑은 고딕"/>
                <a:cs typeface="맑은 고딕"/>
              </a:rPr>
              <a:t>Q &amp; A</a:t>
            </a:r>
          </a:p>
        </p:txBody>
      </p:sp>
      <p:sp>
        <p:nvSpPr>
          <p:cNvPr id="6" name="TextBox 5"/>
          <p:cNvSpPr txBox="1"/>
          <p:nvPr/>
        </p:nvSpPr>
        <p:spPr>
          <a:xfrm>
            <a:off x="0" y="3566160"/>
            <a:ext cx="12191695" cy="457200"/>
          </a:xfrm>
          <a:prstGeom prst="rect">
            <a:avLst/>
          </a:prstGeom>
          <a:noFill/>
        </p:spPr>
        <p:txBody>
          <a:bodyPr wrap="square" anchor="t" lIns="45720" rIns="45720">
            <a:spAutoFit/>
          </a:bodyPr>
          <a:lstStyle/>
          <a:p>
            <a:pPr algn="ctr">
              <a:lnSpc>
                <a:spcPct val="115000"/>
              </a:lnSpc>
            </a:pPr>
            <a:r>
              <a:rPr sz="1600" b="0">
                <a:solidFill>
                  <a:srgbClr val="DAEAF0"/>
                </a:solidFill>
                <a:latin typeface="맑은 고딕"/>
                <a:ea typeface="맑은 고딕"/>
                <a:cs typeface="맑은 고딕"/>
              </a:rPr>
              <a:t>HOMEPICK  —  빅데이터 분석 &amp; 자동화 시스템 구축 과정 최종 프로젝트</a:t>
            </a:r>
          </a:p>
        </p:txBody>
      </p:sp>
      <p:sp>
        <p:nvSpPr>
          <p:cNvPr id="7" name="TextBox 6"/>
          <p:cNvSpPr txBox="1"/>
          <p:nvPr/>
        </p:nvSpPr>
        <p:spPr>
          <a:xfrm>
            <a:off x="0" y="4160520"/>
            <a:ext cx="12191695" cy="457200"/>
          </a:xfrm>
          <a:prstGeom prst="rect">
            <a:avLst/>
          </a:prstGeom>
          <a:noFill/>
        </p:spPr>
        <p:txBody>
          <a:bodyPr wrap="square" anchor="t" lIns="45720" rIns="45720">
            <a:spAutoFit/>
          </a:bodyPr>
          <a:lstStyle/>
          <a:p>
            <a:pPr algn="ctr">
              <a:lnSpc>
                <a:spcPct val="115000"/>
              </a:lnSpc>
            </a:pPr>
            <a:r>
              <a:rPr sz="1700" b="1">
                <a:solidFill>
                  <a:srgbClr val="FFFFFF"/>
                </a:solidFill>
                <a:latin typeface="맑은 고딕"/>
                <a:ea typeface="맑은 고딕"/>
                <a:cs typeface="맑은 고딕"/>
              </a:rPr>
              <a:t>길길동 </a:t>
            </a:r>
            <a:r>
              <a:rPr sz="1300" b="0">
                <a:solidFill>
                  <a:srgbClr val="DAEAF0"/>
                </a:solidFill>
                <a:latin typeface="맑은 고딕"/>
                <a:ea typeface="맑은 고딕"/>
                <a:cs typeface="맑은 고딕"/>
              </a:rPr>
              <a:t>(조장)</a:t>
            </a:r>
            <a:r>
              <a:rPr sz="1700" b="1">
                <a:solidFill>
                  <a:srgbClr val="FFFFFF"/>
                </a:solidFill>
                <a:latin typeface="맑은 고딕"/>
                <a:ea typeface="맑은 고딕"/>
                <a:cs typeface="맑은 고딕"/>
              </a:rPr>
              <a:t>   ·   박미금   ·   김서연   ·   홍길동</a:t>
            </a:r>
          </a:p>
        </p:txBody>
      </p:sp>
      <p:sp>
        <p:nvSpPr>
          <p:cNvPr id="8" name="TextBox 7"/>
          <p:cNvSpPr txBox="1"/>
          <p:nvPr/>
        </p:nvSpPr>
        <p:spPr>
          <a:xfrm>
            <a:off x="0" y="5669280"/>
            <a:ext cx="12191695" cy="1188720"/>
          </a:xfrm>
          <a:prstGeom prst="rect">
            <a:avLst/>
          </a:prstGeom>
          <a:noFill/>
        </p:spPr>
        <p:txBody>
          <a:bodyPr wrap="square" anchor="ctr" lIns="45720" rIns="45720">
            <a:spAutoFit/>
          </a:bodyPr>
          <a:lstStyle/>
          <a:p>
            <a:pPr algn="ctr">
              <a:lnSpc>
                <a:spcPct val="140000"/>
              </a:lnSpc>
            </a:pPr>
            <a:r>
              <a:rPr sz="1500" b="1">
                <a:solidFill>
                  <a:srgbClr val="FFFFFF"/>
                </a:solidFill>
                <a:latin typeface="맑은 고딕"/>
                <a:ea typeface="맑은 고딕"/>
                <a:cs typeface="맑은 고딕"/>
              </a:rPr>
              <a:t>https://homepick.onrender.com   ·   https://homepickkr.duckdns.org</a:t>
            </a:r>
          </a:p>
          <a:p>
            <a:pPr algn="ctr">
              <a:lnSpc>
                <a:spcPct val="140000"/>
              </a:lnSpc>
            </a:pPr>
            <a:r>
              <a:rPr sz="1500" b="1">
                <a:solidFill>
                  <a:srgbClr val="FFFFFF"/>
                </a:solidFill>
                <a:latin typeface="맑은 고딕"/>
                <a:ea typeface="맑은 고딕"/>
                <a:cs typeface="맑은 고딕"/>
              </a:rPr>
              <a:t>github.com/fsclass-n/homepick_lo</a:t>
            </a:r>
          </a:p>
        </p:txBody>
      </p:sp>
      <p:cxnSp>
        <p:nvCxnSpPr>
          <p:cNvPr id="9" name="Connector 8"/>
          <p:cNvCxnSpPr/>
          <p:nvPr/>
        </p:nvCxnSpPr>
        <p:spPr>
          <a:xfrm>
            <a:off x="10661904" y="1371600"/>
            <a:ext cx="694944" cy="0"/>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0817352"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009376" y="1207008"/>
            <a:ext cx="192024" cy="164592"/>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35640"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192256" y="1380744"/>
            <a:ext cx="0" cy="100584"/>
          </a:xfrm>
          <a:prstGeom prst="line">
            <a:avLst/>
          </a:prstGeom>
          <a:ln w="10160">
            <a:solidFill>
              <a:srgbClr val="DDD8C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48640" y="1426464"/>
            <a:ext cx="9674352" cy="0"/>
          </a:xfrm>
          <a:prstGeom prst="line">
            <a:avLst/>
          </a:prstGeom>
          <a:ln w="8255">
            <a:solidFill>
              <a:srgbClr val="DDD8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